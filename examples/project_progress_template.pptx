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decorative_bar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.cover_title"/>
          <p:cNvSpPr txBox="1"/>
          <p:nvPr/>
        </p:nvSpPr>
        <p:spPr>
          <a:xfrm>
            <a:off x="713232" y="2148840"/>
            <a:ext cx="7772400" cy="6858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xxx项目进展报告</a:t>
            </a:r>
          </a:p>
        </p:txBody>
      </p:sp>
      <p:sp>
        <p:nvSpPr>
          <p:cNvPr id="6" name="text.cover_period"/>
          <p:cNvSpPr txBox="1"/>
          <p:nvPr/>
        </p:nvSpPr>
        <p:spPr>
          <a:xfrm>
            <a:off x="749808" y="3063240"/>
            <a:ext cx="5669280" cy="34747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600" b="0">
                <a:solidFill>
                  <a:srgbClr val="DCEBFF"/>
                </a:solidFill>
                <a:latin typeface="Arial"/>
              </a:rPr>
              <a:t>报告周期：2025-12-14至2025-12-25</a:t>
            </a:r>
          </a:p>
        </p:txBody>
      </p:sp>
      <p:sp>
        <p:nvSpPr>
          <p:cNvPr id="7" name="text.cover_report_date"/>
          <p:cNvSpPr txBox="1"/>
          <p:nvPr/>
        </p:nvSpPr>
        <p:spPr>
          <a:xfrm>
            <a:off x="749808" y="3566160"/>
            <a:ext cx="3657600" cy="32918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300" b="0">
                <a:solidFill>
                  <a:srgbClr val="BBD7FF"/>
                </a:solidFill>
                <a:latin typeface="Arial"/>
              </a:rPr>
              <a:t>报告日期：2025-12-25</a:t>
            </a:r>
          </a:p>
        </p:txBody>
      </p:sp>
      <p:sp>
        <p:nvSpPr>
          <p:cNvPr id="8" name="static.cover_label"/>
          <p:cNvSpPr txBox="1"/>
          <p:nvPr/>
        </p:nvSpPr>
        <p:spPr>
          <a:xfrm>
            <a:off x="8686800" y="658368"/>
            <a:ext cx="2286000" cy="292608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  <a:latin typeface="Arial"/>
              </a:rPr>
              <a:t>PROJECT PROGRESS</a:t>
            </a:r>
          </a:p>
        </p:txBody>
      </p:sp>
      <p:sp>
        <p:nvSpPr>
          <p:cNvPr id="9" name="static.circle"/>
          <p:cNvSpPr/>
          <p:nvPr/>
        </p:nvSpPr>
        <p:spPr>
          <a:xfrm>
            <a:off x="9235440" y="2057400"/>
            <a:ext cx="1051560" cy="1051560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ic.circle"/>
          <p:cNvSpPr/>
          <p:nvPr/>
        </p:nvSpPr>
        <p:spPr>
          <a:xfrm>
            <a:off x="10058400" y="2606040"/>
            <a:ext cx="1691640" cy="1691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ic.circle"/>
          <p:cNvSpPr/>
          <p:nvPr/>
        </p:nvSpPr>
        <p:spPr>
          <a:xfrm>
            <a:off x="8458200" y="3291840"/>
            <a:ext cx="685800" cy="6858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信息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项目信息</a:t>
            </a:r>
          </a:p>
        </p:txBody>
      </p:sp>
      <p:sp>
        <p:nvSpPr>
          <p:cNvPr id="5" name="static.subtitle.项目信息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基础项目信息由 JSON 写入，模板字段和样式保持固定。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.project_info"/>
          <p:cNvGraphicFramePr>
            <a:graphicFrameLocks noGrp="1"/>
          </p:cNvGraphicFramePr>
          <p:nvPr/>
        </p:nvGraphicFramePr>
        <p:xfrm>
          <a:off x="749808" y="1389888"/>
          <a:ext cx="10698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字段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内容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项目名称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项目编号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客户名称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项目经理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计划开始时间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计划结束时间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报告日期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仪表盘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项目仪表盘</a:t>
            </a:r>
          </a:p>
        </p:txBody>
      </p:sp>
      <p:sp>
        <p:nvSpPr>
          <p:cNvPr id="5" name="static.subtitle.项目仪表盘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关键状态汇总。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.project_dashboard"/>
          <p:cNvGraphicFramePr>
            <a:graphicFrameLocks noGrp="1"/>
          </p:cNvGraphicFramePr>
          <p:nvPr/>
        </p:nvGraphicFramePr>
        <p:xfrm>
          <a:off x="749808" y="1389888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指标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项目状态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项目进度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进度状态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技术状态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资源状态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经营状态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整体进展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项目整体进展</a:t>
            </a:r>
          </a:p>
        </p:txBody>
      </p:sp>
      <p:sp>
        <p:nvSpPr>
          <p:cNvPr id="5" name="static.subtitle.项目整体进展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本页保留模板中的摘要文本样式和进展表样式。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.overall_progress_summary"/>
          <p:cNvSpPr txBox="1"/>
          <p:nvPr/>
        </p:nvSpPr>
        <p:spPr>
          <a:xfrm>
            <a:off x="749808" y="1325880"/>
            <a:ext cx="10698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none" anchor="ctr" lIns="137160" rIns="13716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项目整体进展摘要。</a:t>
            </a:r>
          </a:p>
        </p:txBody>
      </p:sp>
      <p:graphicFrame>
        <p:nvGraphicFramePr>
          <p:cNvPr id="9" name="table.overall_progress"/>
          <p:cNvGraphicFramePr>
            <a:graphicFrameLocks noGrp="1"/>
          </p:cNvGraphicFramePr>
          <p:nvPr/>
        </p:nvGraphicFramePr>
        <p:xfrm>
          <a:off x="749808" y="224028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进展项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完成情况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说明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交付计划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项目交付计划</a:t>
            </a:r>
          </a:p>
        </p:txBody>
      </p:sp>
      <p:sp>
        <p:nvSpPr>
          <p:cNvPr id="5" name="static.subtitle.项目交付计划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交付计划表预留 6 条计划行。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.delivery_plan"/>
          <p:cNvGraphicFramePr>
            <a:graphicFrameLocks noGrp="1"/>
          </p:cNvGraphicFramePr>
          <p:nvPr/>
        </p:nvGraphicFramePr>
        <p:xfrm>
          <a:off x="566928" y="132588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阶段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计划开始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计划结束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交付物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任务详情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任务详情</a:t>
            </a:r>
          </a:p>
        </p:txBody>
      </p:sp>
      <p:sp>
        <p:nvSpPr>
          <p:cNvPr id="5" name="static.subtitle.任务详情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阶段任务责任关系。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.task_details"/>
          <p:cNvGraphicFramePr>
            <a:graphicFrameLocks noGrp="1"/>
          </p:cNvGraphicFramePr>
          <p:nvPr/>
        </p:nvGraphicFramePr>
        <p:xfrm>
          <a:off x="566928" y="1234440"/>
          <a:ext cx="1106424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阶段名称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任务名称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任务状态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责任人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TOP 问题及风险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TOP 问题及风险</a:t>
            </a:r>
          </a:p>
        </p:txBody>
      </p:sp>
      <p:sp>
        <p:nvSpPr>
          <p:cNvPr id="5" name="static.subtitle.TOP 问题及风险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高优先级问题与风险跟踪。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.top_issues_risks"/>
          <p:cNvGraphicFramePr>
            <a:graphicFrameLocks noGrp="1"/>
          </p:cNvGraphicFramePr>
          <p:nvPr/>
        </p:nvGraphicFramePr>
        <p:xfrm>
          <a:off x="566928" y="1234440"/>
          <a:ext cx="11064240" cy="493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类型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等级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责任人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应对措施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当前进展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当前进展</a:t>
            </a:r>
          </a:p>
        </p:txBody>
      </p:sp>
      <p:sp>
        <p:nvSpPr>
          <p:cNvPr id="5" name="static.subtitle.当前进展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本期完成、下期计划和当前阻塞。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.current_progress_summary"/>
          <p:cNvSpPr txBox="1"/>
          <p:nvPr/>
        </p:nvSpPr>
        <p:spPr>
          <a:xfrm>
            <a:off x="749808" y="1234440"/>
            <a:ext cx="10698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none" anchor="ctr" lIns="137160" rIns="13716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当前进展摘要。</a:t>
            </a:r>
          </a:p>
        </p:txBody>
      </p:sp>
      <p:graphicFrame>
        <p:nvGraphicFramePr>
          <p:cNvPr id="9" name="table.current_progress"/>
          <p:cNvGraphicFramePr>
            <a:graphicFrameLocks noGrp="1"/>
          </p:cNvGraphicFramePr>
          <p:nvPr/>
        </p:nvGraphicFramePr>
        <p:xfrm>
          <a:off x="749808" y="224028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类别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事项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待填充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