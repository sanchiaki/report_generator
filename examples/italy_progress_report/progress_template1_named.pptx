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678" r:id="rId5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CC"/>
    <a:srgbClr val="44546A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88" y="33"/>
      </p:cViewPr>
      <p:guideLst>
        <p:guide orient="horz" pos="16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原有的表格布局显得呆板，现在我们将其优化为两个并排的卡片。左侧卡片放置项目基本信息，右侧卡片放置管理信息，结构更清晰。卡片标题使用蓝色背景，突出了信息层级，整体视觉效果更现代。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仪表盘页面的优化重点是数据可视化。我们用三列卡片布局取代了原始表格，每个指标都有独立的展示区域。通过使用不同颜色的标签（绿色代表健康，黄色代表需关注），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可以一目了然地了解各项指标的状态，信息传达效率更高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对于“项目整体进展”页面，我们采用了左右分栏的布局。左侧是对整体情况的高度概括，右侧则分点详细阐述各个模块的进展。这种布局使得信息层次分明，观众可以先建立整体认知，再深入了解细节。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页面的优化重点是将时间轴和任务表格进行分离和美化。上半部分的时间轴设计得更具视觉引导性，让观众一眼就能看清项目所处的阶段。下半部分的表格也进行了重新设计，增加了行间距和表头背景色，使其更易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在“TOP问题及风险”页面，我们通过颜色来强化优先级的视觉提示。P1级别的问题用红色背景突出，P2用橙色，让观众可以迅速抓住重点。同时，优化了表格的样式，使其更加规整和专业。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“下期计划”页面采用了带序号的卡片式布局。每个计划项都是一个独立的模块，清晰地展示了计划的核心内容。这种设计避免了大段文字的沉闷感，让计划看起来更有条理和可执行性。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最后是结束页。我们将“Thank you”设计为页面的视觉中心，使用简洁优雅的字体和较大的字号，营造出专业而不失亲和力的结束氛围。下方的“Q&amp;A”也清晰地提示了接下来的环节。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9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1691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65" y="1402064"/>
            <a:ext cx="3919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微软雅黑" panose="020B0503020204020204" pitchFamily="34" charset="-122"/>
              </a:rPr>
              <a:t>Thank you.</a:t>
            </a:r>
            <a:endParaRPr lang="en-US" sz="480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C5B3004-400C-43A5-AC96-1EF96FAF338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2F81BE-ADF2-46EA-A947-332EC6F994A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8" Type="http://schemas.openxmlformats.org/officeDocument/2006/relationships/notesSlide" Target="../notesSlides/notesSlide3.xml"/><Relationship Id="rId47" Type="http://schemas.openxmlformats.org/officeDocument/2006/relationships/slideLayout" Target="../slideLayouts/slideLayout12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cover_title"/>
          <p:cNvSpPr>
            <a:spLocks noGrp="1"/>
          </p:cNvSpPr>
          <p:nvPr>
            <p:ph type="ctrTitle"/>
          </p:nvPr>
        </p:nvSpPr>
        <p:spPr>
          <a:xfrm>
            <a:off x="952265" y="1446177"/>
            <a:ext cx="9262745" cy="690245"/>
          </a:xfrm>
        </p:spPr>
        <p:txBody>
          <a:bodyPr>
            <a:noAutofit/>
          </a:bodyPr>
          <a:lstStyle/>
          <a:p>
            <a:r>
              <a:rPr lang="en-US" altLang="zh-CN" sz="4800" b="1" spc="16" dirty="0">
                <a:cs typeface="等线" panose="02010600030101010101" charset="-122"/>
                <a:sym typeface="+mn-ea"/>
              </a:rPr>
              <a:t>xx</a:t>
            </a:r>
            <a:r>
              <a:rPr lang="zh-CN" altLang="en-US" sz="4800" b="1" spc="16" dirty="0">
                <a:cs typeface="等线" panose="02010600030101010101" charset="-122"/>
                <a:sym typeface="+mn-ea"/>
              </a:rPr>
              <a:t>进度报告</a:t>
            </a:r>
            <a:endParaRPr lang="zh-CN" altLang="en-US" sz="4800" b="1" spc="16" dirty="0">
              <a:cs typeface="等线" panose="02010600030101010101" charset="-122"/>
              <a:sym typeface="+mn-ea"/>
            </a:endParaRPr>
          </a:p>
        </p:txBody>
      </p:sp>
      <p:sp>
        <p:nvSpPr>
          <p:cNvPr id="6" name="text.cover_period"/>
          <p:cNvSpPr>
            <a:spLocks noGrp="1"/>
          </p:cNvSpPr>
          <p:nvPr>
            <p:ph type="body" sz="quarter" idx="10"/>
          </p:nvPr>
        </p:nvSpPr>
        <p:spPr>
          <a:xfrm>
            <a:off x="952265" y="3503642"/>
            <a:ext cx="5034488" cy="381173"/>
          </a:xfrm>
        </p:spPr>
        <p:txBody>
          <a:bodyPr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报告周期：</a:t>
            </a:r>
            <a:r>
              <a:rPr lang="en-US" altLang="zh-CN" sz="2000" b="1" dirty="0"/>
              <a:t>xxxx.xx.xx – xxxx.xx.xx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2539518"/>
            <a:ext cx="5207000" cy="340511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"/>
          <p:cNvSpPr/>
          <p:nvPr/>
        </p:nvSpPr>
        <p:spPr>
          <a:xfrm>
            <a:off x="717319" y="1402845"/>
            <a:ext cx="989100" cy="779104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.project_info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项目信息概览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819" y="2697351"/>
            <a:ext cx="304800" cy="265899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52319" y="2599721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项目基本信息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913943" y="3771410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80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13943" y="4513451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68809" y="3963433"/>
            <a:ext cx="1270000" cy="421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项目编码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.project_name"/>
          <p:cNvSpPr/>
          <p:nvPr/>
        </p:nvSpPr>
        <p:spPr>
          <a:xfrm>
            <a:off x="2138892" y="3113218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809" y="4532604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客户名称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project_code"/>
          <p:cNvSpPr/>
          <p:nvPr/>
        </p:nvSpPr>
        <p:spPr>
          <a:xfrm>
            <a:off x="2289796" y="3897841"/>
            <a:ext cx="3365500" cy="545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84207" y="2544951"/>
            <a:ext cx="5207000" cy="340360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8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8819" y="2697351"/>
            <a:ext cx="304800" cy="265899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13319" y="2589267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6881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计划开始时间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68819" y="3963433"/>
            <a:ext cx="1270000" cy="4605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结束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68819" y="4501914"/>
            <a:ext cx="12700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报告日期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12"/>
          <p:cNvCxnSpPr/>
          <p:nvPr/>
        </p:nvCxnSpPr>
        <p:spPr>
          <a:xfrm>
            <a:off x="913943" y="5168539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5"/>
          <p:cNvSpPr/>
          <p:nvPr/>
        </p:nvSpPr>
        <p:spPr>
          <a:xfrm>
            <a:off x="868809" y="5248970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PD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.customer_name"/>
          <p:cNvSpPr/>
          <p:nvPr/>
        </p:nvSpPr>
        <p:spPr>
          <a:xfrm>
            <a:off x="2138629" y="4510131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7"/>
          <p:cNvSpPr/>
          <p:nvPr/>
        </p:nvSpPr>
        <p:spPr>
          <a:xfrm>
            <a:off x="968397" y="1569729"/>
            <a:ext cx="856096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endParaRPr lang="en-US" sz="1600" b="1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概述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"/>
          <p:cNvSpPr/>
          <p:nvPr/>
        </p:nvSpPr>
        <p:spPr>
          <a:xfrm>
            <a:off x="1706418" y="1412974"/>
            <a:ext cx="9696723" cy="75124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.project_manager"/>
          <p:cNvSpPr/>
          <p:nvPr/>
        </p:nvSpPr>
        <p:spPr>
          <a:xfrm>
            <a:off x="2138472" y="5297530"/>
            <a:ext cx="1561558" cy="521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[xx]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.planned_start_date"/>
          <p:cNvSpPr/>
          <p:nvPr/>
        </p:nvSpPr>
        <p:spPr>
          <a:xfrm>
            <a:off x="8328197" y="3159513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9"/>
          <p:cNvCxnSpPr/>
          <p:nvPr/>
        </p:nvCxnSpPr>
        <p:spPr>
          <a:xfrm>
            <a:off x="6368819" y="3768864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Connector 12"/>
          <p:cNvCxnSpPr/>
          <p:nvPr/>
        </p:nvCxnSpPr>
        <p:spPr>
          <a:xfrm>
            <a:off x="6368819" y="4510905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Connector 12"/>
          <p:cNvCxnSpPr/>
          <p:nvPr/>
        </p:nvCxnSpPr>
        <p:spPr>
          <a:xfrm>
            <a:off x="6368819" y="5165993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text.planned_end_date"/>
          <p:cNvSpPr/>
          <p:nvPr/>
        </p:nvSpPr>
        <p:spPr>
          <a:xfrm>
            <a:off x="8328197" y="3837168"/>
            <a:ext cx="2866638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.report_date"/>
          <p:cNvSpPr/>
          <p:nvPr/>
        </p:nvSpPr>
        <p:spPr>
          <a:xfrm>
            <a:off x="8328197" y="4496762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.project_overview_summary"/>
          <p:cNvSpPr/>
          <p:nvPr/>
        </p:nvSpPr>
        <p:spPr>
          <a:xfrm>
            <a:off x="1706245" y="1483360"/>
            <a:ext cx="954468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79682" y="1520368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17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71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项目状态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14946">
            <a:off x="971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.project_status_value"/>
          <p:cNvSpPr/>
          <p:nvPr>
            <p:custDataLst>
              <p:tags r:id="rId5"/>
            </p:custDataLst>
          </p:nvPr>
        </p:nvSpPr>
        <p:spPr>
          <a:xfrm>
            <a:off x="971319" y="24167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6"/>
            </p:custDataLst>
          </p:nvPr>
        </p:nvGrpSpPr>
        <p:grpSpPr>
          <a:xfrm>
            <a:off x="2926406" y="2480343"/>
            <a:ext cx="1029413" cy="355600"/>
            <a:chOff x="2926406" y="2454829"/>
            <a:chExt cx="1029413" cy="355600"/>
          </a:xfrm>
        </p:grpSpPr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17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17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971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04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2"/>
            </p:custDataLst>
          </p:nvPr>
        </p:nvCxnSpPr>
        <p:spPr>
          <a:xfrm rot="-14946">
            <a:off x="971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2939819" y="4829729"/>
            <a:ext cx="1016000" cy="330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.technical_status_badge"/>
          <p:cNvSpPr/>
          <p:nvPr>
            <p:custDataLst>
              <p:tags r:id="rId14"/>
            </p:custDataLst>
          </p:nvPr>
        </p:nvSpPr>
        <p:spPr>
          <a:xfrm>
            <a:off x="2939819" y="482972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状态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4400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4400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4654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进度状态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18"/>
            </p:custDataLst>
          </p:nvPr>
        </p:nvCxnSpPr>
        <p:spPr>
          <a:xfrm rot="-14946">
            <a:off x="4654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>
            <p:custDataLst>
              <p:tags r:id="rId19"/>
            </p:custDataLst>
          </p:nvPr>
        </p:nvSpPr>
        <p:spPr>
          <a:xfrm>
            <a:off x="4400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4400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1"/>
            </p:custDataLst>
          </p:nvPr>
        </p:nvSpPr>
        <p:spPr>
          <a:xfrm>
            <a:off x="4654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05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资源状态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8"/>
          <p:cNvCxnSpPr/>
          <p:nvPr>
            <p:custDataLst>
              <p:tags r:id="rId22"/>
            </p:custDataLst>
          </p:nvPr>
        </p:nvCxnSpPr>
        <p:spPr>
          <a:xfrm rot="-14946">
            <a:off x="4654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text.progress_status_value"/>
          <p:cNvSpPr/>
          <p:nvPr>
            <p:custDataLst>
              <p:tags r:id="rId23"/>
            </p:custDataLst>
          </p:nvPr>
        </p:nvSpPr>
        <p:spPr>
          <a:xfrm>
            <a:off x="4784326" y="23659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24"/>
            </p:custDataLst>
          </p:nvPr>
        </p:nvSpPr>
        <p:spPr>
          <a:xfrm>
            <a:off x="8083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5"/>
            </p:custDataLst>
          </p:nvPr>
        </p:nvSpPr>
        <p:spPr>
          <a:xfrm>
            <a:off x="8083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26"/>
            </p:custDataLst>
          </p:nvPr>
        </p:nvSpPr>
        <p:spPr>
          <a:xfrm>
            <a:off x="8337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>
            <p:custDataLst>
              <p:tags r:id="rId27"/>
            </p:custDataLst>
          </p:nvPr>
        </p:nvCxnSpPr>
        <p:spPr>
          <a:xfrm rot="-14946">
            <a:off x="8337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text.project_progress_value"/>
          <p:cNvSpPr/>
          <p:nvPr>
            <p:custDataLst>
              <p:tags r:id="rId28"/>
            </p:custDataLst>
          </p:nvPr>
        </p:nvSpPr>
        <p:spPr>
          <a:xfrm>
            <a:off x="8337318" y="2416729"/>
            <a:ext cx="2231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累积完成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24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>
            <p:custDataLst>
              <p:tags r:id="rId29"/>
            </p:custDataLst>
          </p:nvPr>
        </p:nvGrpSpPr>
        <p:grpSpPr>
          <a:xfrm>
            <a:off x="10510870" y="2481468"/>
            <a:ext cx="1016000" cy="353350"/>
            <a:chOff x="10510870" y="2520808"/>
            <a:chExt cx="1016000" cy="353350"/>
          </a:xfrm>
        </p:grpSpPr>
        <p:sp>
          <p:nvSpPr>
            <p:cNvPr id="37" name="AutoShape 37"/>
            <p:cNvSpPr/>
            <p:nvPr>
              <p:custDataLst>
                <p:tags r:id="rId30"/>
              </p:custDataLst>
            </p:nvPr>
          </p:nvSpPr>
          <p:spPr>
            <a:xfrm>
              <a:off x="10528348" y="2543958"/>
              <a:ext cx="946333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38"/>
            <p:cNvSpPr/>
            <p:nvPr>
              <p:custDataLst>
                <p:tags r:id="rId31"/>
              </p:custDataLst>
            </p:nvPr>
          </p:nvSpPr>
          <p:spPr>
            <a:xfrm>
              <a:off x="10510870" y="2520808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进度</a:t>
              </a:r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AutoShape 39"/>
          <p:cNvSpPr/>
          <p:nvPr>
            <p:custDataLst>
              <p:tags r:id="rId32"/>
            </p:custDataLst>
          </p:nvPr>
        </p:nvSpPr>
        <p:spPr>
          <a:xfrm>
            <a:off x="8083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0"/>
          <p:cNvSpPr/>
          <p:nvPr>
            <p:custDataLst>
              <p:tags r:id="rId33"/>
            </p:custDataLst>
          </p:nvPr>
        </p:nvSpPr>
        <p:spPr>
          <a:xfrm>
            <a:off x="8083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34"/>
            </p:custDataLst>
          </p:nvPr>
        </p:nvSpPr>
        <p:spPr>
          <a:xfrm>
            <a:off x="8337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经营状态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2"/>
          <p:cNvCxnSpPr/>
          <p:nvPr>
            <p:custDataLst>
              <p:tags r:id="rId35"/>
            </p:custDataLst>
          </p:nvPr>
        </p:nvCxnSpPr>
        <p:spPr>
          <a:xfrm rot="-14946">
            <a:off x="8337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text.business_status_value"/>
          <p:cNvSpPr/>
          <p:nvPr>
            <p:custDataLst>
              <p:tags r:id="rId36"/>
            </p:custDataLst>
          </p:nvPr>
        </p:nvSpPr>
        <p:spPr>
          <a:xfrm>
            <a:off x="8362719" y="48043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预算使用率 </a:t>
            </a:r>
            <a:r>
              <a:rPr lang="en-US" altLang="zh-CN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/>
          <p:cNvGrpSpPr/>
          <p:nvPr>
            <p:custDataLst>
              <p:tags r:id="rId37"/>
            </p:custDataLst>
          </p:nvPr>
        </p:nvGrpSpPr>
        <p:grpSpPr>
          <a:xfrm>
            <a:off x="10481429" y="4829729"/>
            <a:ext cx="1016000" cy="330200"/>
            <a:chOff x="10481429" y="4829729"/>
            <a:chExt cx="1016000" cy="330200"/>
          </a:xfrm>
        </p:grpSpPr>
        <p:sp>
          <p:nvSpPr>
            <p:cNvPr id="44" name="AutoShape 44"/>
            <p:cNvSpPr/>
            <p:nvPr>
              <p:custDataLst>
                <p:tags r:id="rId38"/>
              </p:custDataLst>
            </p:nvPr>
          </p:nvSpPr>
          <p:spPr>
            <a:xfrm>
              <a:off x="10481429" y="48297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AutoShape 45"/>
            <p:cNvSpPr/>
            <p:nvPr>
              <p:custDataLst>
                <p:tags r:id="rId39"/>
              </p:custDataLst>
            </p:nvPr>
          </p:nvSpPr>
          <p:spPr>
            <a:xfrm>
              <a:off x="10481429" y="48297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需要关注</a:t>
              </a:r>
              <a:endPara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text.dashboard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仪表盘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technical_status_value"/>
          <p:cNvSpPr/>
          <p:nvPr>
            <p:custDataLst>
              <p:tags r:id="rId40"/>
            </p:custDataLst>
          </p:nvPr>
        </p:nvSpPr>
        <p:spPr>
          <a:xfrm>
            <a:off x="971319" y="4892097"/>
            <a:ext cx="191954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技术满足度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3"/>
          <p:cNvSpPr/>
          <p:nvPr>
            <p:custDataLst>
              <p:tags r:id="rId41"/>
            </p:custDataLst>
          </p:nvPr>
        </p:nvSpPr>
        <p:spPr>
          <a:xfrm>
            <a:off x="6622819" y="4815897"/>
            <a:ext cx="1016000" cy="330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.resource_status_badge"/>
          <p:cNvSpPr/>
          <p:nvPr>
            <p:custDataLst>
              <p:tags r:id="rId42"/>
            </p:custDataLst>
          </p:nvPr>
        </p:nvSpPr>
        <p:spPr>
          <a:xfrm>
            <a:off x="6622819" y="4815897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shape.progress_status_badge"/>
          <p:cNvSpPr/>
          <p:nvPr/>
        </p:nvSpPr>
        <p:spPr>
          <a:xfrm>
            <a:off x="6459223" y="247387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状态正常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>
            <p:custDataLst>
              <p:tags r:id="rId43"/>
            </p:custDataLst>
          </p:nvPr>
        </p:nvGrpSpPr>
        <p:grpSpPr>
          <a:xfrm>
            <a:off x="6446323" y="2480343"/>
            <a:ext cx="1029413" cy="355600"/>
            <a:chOff x="2926406" y="2454829"/>
            <a:chExt cx="1029413" cy="355600"/>
          </a:xfrm>
        </p:grpSpPr>
        <p:sp>
          <p:nvSpPr>
            <p:cNvPr id="55" name="AutoShape 9"/>
            <p:cNvSpPr/>
            <p:nvPr>
              <p:custDataLst>
                <p:tags r:id="rId44"/>
              </p:custDataLst>
            </p:nvPr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10"/>
            <p:cNvSpPr/>
            <p:nvPr>
              <p:custDataLst>
                <p:tags r:id="rId45"/>
              </p:custDataLst>
            </p:nvPr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.resource_status_value"/>
          <p:cNvSpPr/>
          <p:nvPr>
            <p:custDataLst>
              <p:tags r:id="rId46"/>
            </p:custDataLst>
          </p:nvPr>
        </p:nvSpPr>
        <p:spPr>
          <a:xfrm>
            <a:off x="4628919" y="4726997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资源到位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595120"/>
            <a:ext cx="76200" cy="406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1319" y="1489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项目整体概况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971329" y="203327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text.overall_progress_summary"/>
          <p:cNvSpPr/>
          <p:nvPr/>
        </p:nvSpPr>
        <p:spPr>
          <a:xfrm>
            <a:off x="971319" y="221742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71319" y="4516120"/>
            <a:ext cx="4318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.key_conclusion"/>
          <p:cNvSpPr/>
          <p:nvPr/>
        </p:nvSpPr>
        <p:spPr>
          <a:xfrm>
            <a:off x="1098319" y="468122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关键结论：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b="0" i="0" u="none" strike="noStrik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1709420"/>
            <a:ext cx="4826000" cy="241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508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89992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本期关键进展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.key_progress"/>
          <p:cNvSpPr/>
          <p:nvPr/>
        </p:nvSpPr>
        <p:spPr>
          <a:xfrm>
            <a:off x="6350000" y="240792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51612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55789" y="456045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风险及问题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管理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.risk_issue_summary"/>
          <p:cNvSpPr/>
          <p:nvPr/>
        </p:nvSpPr>
        <p:spPr>
          <a:xfrm>
            <a:off x="6255788" y="4887653"/>
            <a:ext cx="44777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本期成功关闭 </a:t>
            </a:r>
            <a:r>
              <a:rPr lang="en-US" altLang="zh-CN" sz="12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 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</a:t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问题或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风险，</a:t>
            </a:r>
            <a:r>
              <a:rPr lang="zh-CN" alt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现有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altLang="zh-CN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</a:t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问题或风险在处理中。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overall_progres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.delivery_plan"/>
          <p:cNvGraphicFramePr>
            <a:graphicFrameLocks noGrp="1"/>
          </p:cNvGraphicFramePr>
          <p:nvPr/>
        </p:nvGraphicFramePr>
        <p:xfrm>
          <a:off x="655554" y="2577148"/>
          <a:ext cx="10795000" cy="37439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3836"/>
                <a:gridCol w="1634837"/>
                <a:gridCol w="2111432"/>
                <a:gridCol w="1473895"/>
                <a:gridCol w="1397000"/>
                <a:gridCol w="1397000"/>
                <a:gridCol w="1397000"/>
              </a:tblGrid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任务状态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计划完成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实际完成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责任人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发货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现场收货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defRPr/>
                      </a:pP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.delivery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交付计划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"/>
          <p:cNvSpPr/>
          <p:nvPr/>
        </p:nvSpPr>
        <p:spPr>
          <a:xfrm>
            <a:off x="717319" y="940225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ilestone.delivery"/>
          <p:cNvSpPr/>
          <p:nvPr/>
        </p:nvSpPr>
        <p:spPr>
          <a:xfrm>
            <a:off x="655554" y="1152469"/>
            <a:ext cx="10763017" cy="1116443"/>
          </a:xfrm>
          <a:prstGeom prst="roundRect">
            <a:avLst>
              <a:gd name="adj" fmla="val 3590"/>
            </a:avLst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ysClr val="window" lastClr="FFFFFF">
                    <a:alpha val="0"/>
                  </a:sysClr>
                </a:gs>
                <a:gs pos="10000">
                  <a:sysClr val="window" lastClr="FFFFFF">
                    <a:alpha val="0"/>
                  </a:sysClr>
                </a:gs>
                <a:gs pos="0">
                  <a:sysClr val="windowText" lastClr="000000">
                    <a:lumMod val="50000"/>
                    <a:lumOff val="50000"/>
                    <a:alpha val="50000"/>
                  </a:sysClr>
                </a:gs>
                <a:gs pos="100000">
                  <a:sysClr val="windowText" lastClr="000000">
                    <a:lumMod val="50000"/>
                    <a:lumOff val="50000"/>
                    <a:alpha val="50000"/>
                  </a:sysClr>
                </a:gs>
              </a:gsLst>
              <a:lin ang="540000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.top_issues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TOP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问题与风险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op_issues.cards"/>
          <p:cNvSpPr/>
          <p:nvPr/>
        </p:nvSpPr>
        <p:spPr>
          <a:xfrm>
            <a:off x="701102" y="1179536"/>
            <a:ext cx="10668000" cy="1578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top issues anchor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881093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20" y="1881093"/>
            <a:ext cx="147204" cy="35559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.next_plan_item"/>
          <p:cNvSpPr/>
          <p:nvPr/>
        </p:nvSpPr>
        <p:spPr>
          <a:xfrm>
            <a:off x="1334770" y="2331720"/>
            <a:ext cx="9610725" cy="2945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1. 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2.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xxx</a:t>
            </a:r>
            <a:endParaRPr lang="en-US" altLang="zh-CN" sz="1100" b="1" i="0" u="none" strike="noStrike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next_plan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下期计划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thank_you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333333"/>
                </a:solidFill>
                <a:latin typeface="Noto Sans SC Light"/>
                <a:ea typeface="Noto Sans SC Light"/>
                <a:cs typeface="Noto Sans SC Light"/>
                <a:sym typeface="Noto Sans SC Light"/>
              </a:rPr>
              <a:t>Thank you.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419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1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2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7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8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39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0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1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2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3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4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5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ags/tag46.xml><?xml version="1.0" encoding="utf-8"?>
<p:tagLst xmlns:p="http://schemas.openxmlformats.org/presentationml/2006/main">
  <p:tag name="KSO_WM_DIAGRAM_VIRTUALLY_FRAME" val="{&quot;height&quot;:340.5796062992125,&quot;left&quot;:53.51826771653543,&quot;top&quot;:119.71401574803149,&quot;width&quot;:854.109291338582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WPS 演示</Application>
  <PresentationFormat>宽屏</PresentationFormat>
  <Paragraphs>254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</vt:lpstr>
      <vt:lpstr>等线</vt:lpstr>
      <vt:lpstr>汉仪中等线KW</vt:lpstr>
      <vt:lpstr>Noto Sans SC</vt:lpstr>
      <vt:lpstr>Thonburi</vt:lpstr>
      <vt:lpstr>Noto Sans SC Light</vt:lpstr>
      <vt:lpstr>宋体</vt:lpstr>
      <vt:lpstr>Arial Unicode MS</vt:lpstr>
      <vt:lpstr>等线 Light</vt:lpstr>
      <vt:lpstr>Noto Sans SC</vt:lpstr>
      <vt:lpstr>Noto Sans SC Light</vt:lpstr>
      <vt:lpstr>微软雅黑</vt:lpstr>
      <vt:lpstr>等线</vt:lpstr>
      <vt:lpstr>汉仪书宋二KW</vt:lpstr>
      <vt:lpstr>苹方-简</vt:lpstr>
      <vt:lpstr>Office 主题​​</vt:lpstr>
      <vt:lpstr>默认主题</vt:lpstr>
      <vt:lpstr>1_Office 主题​​</vt:lpstr>
      <vt:lpstr>xx进度报告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Zengqingquan (Levie)</dc:creator>
  <cp:lastModifiedBy>4pb</cp:lastModifiedBy>
  <cp:revision>170</cp:revision>
  <dcterms:created xsi:type="dcterms:W3CDTF">2026-06-11T17:26:19Z</dcterms:created>
  <dcterms:modified xsi:type="dcterms:W3CDTF">2026-06-11T17:26:19Z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{"Label":"1","ContentProducer":"001191110102MACQD9K64010000","ProduceID":"7648955276263459768","ReservedCode1":"","ContentPropagator":"","PropagateID":"","ReservedCode2":""}</vt:lpwstr>
  </property>
  <property fmtid="{D5CDD505-2E9C-101B-9397-08002B2CF9AE}" pid="3" name="KSOProductBuildVer">
    <vt:lpwstr>2052-12.1.26016.26016</vt:lpwstr>
  </property>
  <property fmtid="{D5CDD505-2E9C-101B-9397-08002B2CF9AE}" pid="4" name="ICV">
    <vt:lpwstr>B165E6AAC88E2D8B1FEE2A6A9196E763_42</vt:lpwstr>
  </property>
</Properties>
</file>