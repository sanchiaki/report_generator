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  <p:sldMasterId id="2157483700" r:id="rId3"/>
  </p:sldMasterIdLst>
  <p:notesMasterIdLst>
    <p:notesMasterId r:id="rId12"/>
  </p:notesMasterIdLst>
  <p:sldIdLst>
    <p:sldId id="678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52CC"/>
    <a:srgbClr val="44546A"/>
    <a:srgbClr val="1F0E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288" y="3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原有的表格布局显得呆板，现在我们将其优化为两个并排的卡片。左侧卡片放置项目基本信息，右侧卡片放置管理信息，结构更清晰。卡片标题使用蓝色背景，突出了信息层级，整体视觉效果更现代。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仪表盘页面的优化重点是数据可视化。我们用三列卡片布局取代了原始表格，每个指标都有独立的展示区域。通过使用不同颜色的标签（绿色代表健康，黄色代表需关注），</a:t>
            </a:r>
            <a:r>
              <a:rPr lang="en-US" sz="1400" b="0" i="0" u="none" strike="noStrike" dirty="0" err="1">
                <a:solidFill>
                  <a:srgbClr val="000000"/>
                </a:solidFill>
              </a:rPr>
              <a:t>可以一目了然地了解各项指标的状态，信息传达效率更高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对于“项目整体进展”页面，我们采用了左右分栏的布局。左侧是对整体情况的高度概括，右侧则分点详细阐述各个模块的进展。这种布局使得信息层次分明，观众可以先建立整体认知，再深入了解细节。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页面的优化重点是将时间轴和任务表格进行分离和美化。上半部分的时间轴设计得更具视觉引导性，让观众一眼就能看清项目所处的阶段。下半部分的表格也进行了重新设计，增加了行间距和表头背景色，使其更易读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在“TOP问题及风险”页面，我们通过颜色来强化优先级的视觉提示。P1级别的问题用红色背景突出，P2用橙色，让观众可以迅速抓住重点。同时，优化了表格的样式，使其更加规整和专业。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“下期计划”页面采用了带序号的卡片式布局。每个计划项都是一个独立的模块，清晰地展示了计划的核心内容。这种设计避免了大段文字的沉闷感，让计划看起来更有条理和可执行性。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最后是结束页。我们将“Thank you”设计为页面的视觉中心，使用简洁优雅的字体和较大的字号，营造出专业而不失亲和力的结束氛围。下方的“Q&amp;A”也清晰地提示了接下来的环节。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7393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89810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04834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2048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08035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7095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29526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13129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37592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25501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7980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Text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66633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35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1715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621" y="1501989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80604020202020204" pitchFamily="34" charset="0"/>
              </a:defRPr>
            </a:lvl1pPr>
            <a:lvl2pPr marL="525780" indent="-170815">
              <a:buFont typeface="Arial" panose="02080604020202020204" pitchFamily="34" charset="0"/>
              <a:buChar char="•"/>
              <a:tabLst>
                <a:tab pos="1207770" algn="ctr"/>
              </a:tabLst>
              <a:defRPr sz="1300" baseline="0"/>
            </a:lvl2pPr>
            <a:lvl3pPr marL="525780" indent="-170815">
              <a:buFont typeface="Arial" panose="02080604020202020204" pitchFamily="34" charset="0"/>
              <a:buChar char="•"/>
              <a:tabLst>
                <a:tab pos="1207770" algn="ctr"/>
              </a:tabLst>
              <a:defRPr sz="1300" baseline="0"/>
            </a:lvl3pPr>
            <a:lvl4pPr marL="525780" indent="-170815">
              <a:buFont typeface="Arial" panose="02080604020202020204" pitchFamily="34" charset="0"/>
              <a:buChar char="•"/>
              <a:tabLst>
                <a:tab pos="1207770" algn="ctr"/>
              </a:tabLst>
              <a:defRPr sz="1300" baseline="0"/>
            </a:lvl4pPr>
            <a:lvl5pPr marL="525780" indent="-170815">
              <a:buFont typeface="Arial" panose="02080604020202020204" pitchFamily="34" charset="0"/>
              <a:buChar char="•"/>
              <a:tabLst>
                <a:tab pos="1207770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4670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0"/>
            <a:ext cx="12201691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1080" y="2130562"/>
            <a:ext cx="700777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668" y="907092"/>
            <a:ext cx="6557418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8921" y="1949372"/>
            <a:ext cx="6533460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49294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65" y="1402064"/>
            <a:ext cx="39196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微软雅黑" panose="020B0503020204020204" pitchFamily="34" charset="-122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2236857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7.xml"/><Relationship Id="rId1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C5B3004-400C-43A5-AC96-1EF96FAF3383}" type="datetimeFigureOut">
              <a:rPr lang="zh-CN" altLang="en-US" smtClean="0"/>
              <a:pPr/>
              <a:t>2026/6/10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D2F81BE-ADF2-46EA-A947-332EC6F994A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37156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57483701" r:id="rId1"/>
    <p:sldLayoutId id="2157483702" r:id="rId2"/>
    <p:sldLayoutId id="2157483703" r:id="rId3"/>
    <p:sldLayoutId id="2157483704" r:id="rId4"/>
    <p:sldLayoutId id="2157483705" r:id="rId5"/>
    <p:sldLayoutId id="2157483706" r:id="rId6"/>
    <p:sldLayoutId id="2157483707" r:id="rId7"/>
    <p:sldLayoutId id="2157483708" r:id="rId8"/>
    <p:sldLayoutId id="2157483709" r:id="rId9"/>
    <p:sldLayoutId id="2157483710" r:id="rId10"/>
    <p:sldLayoutId id="2157483711" r:id="rId11"/>
    <p:sldLayoutId id="2157483712" r:id="rId12"/>
    <p:sldLayoutId id="2157483713" r:id="rId13"/>
    <p:sldLayoutId id="2157483714" r:id="rId14"/>
    <p:sldLayoutId id="215748371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cover_title"/>
          <p:cNvSpPr>
            <a:spLocks noGrp="1"/>
          </p:cNvSpPr>
          <p:nvPr>
            <p:ph type="ctrTitle"/>
          </p:nvPr>
        </p:nvSpPr>
        <p:spPr>
          <a:xfrm>
            <a:off x="952265" y="1446177"/>
            <a:ext cx="9262745" cy="690245"/>
          </a:xfrm>
        </p:spPr>
        <p:txBody>
          <a:bodyPr>
            <a:noAutofit/>
          </a:bodyPr>
          <a:lstStyle/>
          <a:p>
            <a:r>
              <a:rPr lang="en-US" altLang="zh-CN" sz="4800" b="1" spc="16" dirty="0">
                <a:cs typeface="等线" panose="02010600030101010101" charset="-122"/>
                <a:sym typeface="+mn-ea"/>
              </a:rPr>
              <a:t>xx</a:t>
            </a:r>
            <a:r>
              <a:rPr lang="zh-CN" altLang="en-US" sz="4800" b="1" spc="16" dirty="0">
                <a:cs typeface="等线" panose="02010600030101010101" charset="-122"/>
                <a:sym typeface="+mn-ea"/>
              </a:rPr>
              <a:t>进度报告</a:t>
            </a:r>
          </a:p>
        </p:txBody>
      </p:sp>
      <p:sp>
        <p:nvSpPr>
          <p:cNvPr id="6" name="text.cover_period"/>
          <p:cNvSpPr>
            <a:spLocks noGrp="1"/>
          </p:cNvSpPr>
          <p:nvPr>
            <p:ph type="body" sz="quarter" idx="10"/>
          </p:nvPr>
        </p:nvSpPr>
        <p:spPr>
          <a:xfrm>
            <a:off x="952265" y="3503642"/>
            <a:ext cx="5034488" cy="381173"/>
          </a:xfrm>
        </p:spPr>
        <p:txBody>
          <a:bodyPr lIns="0" tIns="0" rIns="0" bIns="0">
            <a:noAutofit/>
          </a:bodyPr>
          <a:lstStyle/>
          <a:p>
            <a:pPr marL="0" indent="0">
              <a:buNone/>
            </a:pPr>
            <a:r>
              <a:rPr lang="zh-CN" altLang="en-US" sz="2000" b="1" dirty="0"/>
              <a:t>报告周期：</a:t>
            </a:r>
            <a:r>
              <a:rPr lang="en-US" altLang="zh-CN" sz="2000" b="1" dirty="0"/>
              <a:t>xxxx.xx.xx – xxxx.xx.xx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2539518"/>
            <a:ext cx="5207000" cy="3405114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AutoShape 5">
            <a:extLst>
              <a:ext uri="{FF2B5EF4-FFF2-40B4-BE49-F238E27FC236}">
                <a16:creationId xmlns:a16="http://schemas.microsoft.com/office/drawing/2014/main" id="{5B242649-18F9-4966-A261-29F5F6606005}"/>
              </a:ext>
            </a:extLst>
          </p:cNvPr>
          <p:cNvSpPr/>
          <p:nvPr/>
        </p:nvSpPr>
        <p:spPr>
          <a:xfrm>
            <a:off x="717319" y="1402845"/>
            <a:ext cx="989100" cy="779104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text.project_info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项目信息概览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7819" y="2697351"/>
            <a:ext cx="304800" cy="265899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52319" y="2599721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项目基本信息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Connector 9"/>
          <p:cNvCxnSpPr>
            <a:cxnSpLocks/>
          </p:cNvCxnSpPr>
          <p:nvPr/>
        </p:nvCxnSpPr>
        <p:spPr>
          <a:xfrm>
            <a:off x="913943" y="3771410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6880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.project_overview_summary"/>
          <p:cNvSpPr/>
          <p:nvPr/>
        </p:nvSpPr>
        <p:spPr>
          <a:xfrm>
            <a:off x="2362430" y="3159513"/>
            <a:ext cx="33655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Connector 12"/>
          <p:cNvCxnSpPr>
            <a:cxnSpLocks/>
          </p:cNvCxnSpPr>
          <p:nvPr/>
        </p:nvCxnSpPr>
        <p:spPr>
          <a:xfrm>
            <a:off x="913943" y="4513451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868809" y="3963433"/>
            <a:ext cx="1270000" cy="42100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项目编码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.project_name"/>
          <p:cNvSpPr/>
          <p:nvPr/>
        </p:nvSpPr>
        <p:spPr>
          <a:xfrm>
            <a:off x="2362412" y="3841563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68809" y="4532604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客户名称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project_code"/>
          <p:cNvSpPr/>
          <p:nvPr/>
        </p:nvSpPr>
        <p:spPr>
          <a:xfrm>
            <a:off x="2356471" y="4540461"/>
            <a:ext cx="3365500" cy="54549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184207" y="2544951"/>
            <a:ext cx="5207000" cy="340360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178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68819" y="2697351"/>
            <a:ext cx="304800" cy="265899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813319" y="2589267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36881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计划开始时间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68819" y="3963433"/>
            <a:ext cx="1270000" cy="46051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计划</a:t>
            </a: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结束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6368819" y="4501914"/>
            <a:ext cx="12700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报告日期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9" name="Connector 12">
            <a:extLst>
              <a:ext uri="{FF2B5EF4-FFF2-40B4-BE49-F238E27FC236}">
                <a16:creationId xmlns:a16="http://schemas.microsoft.com/office/drawing/2014/main" id="{475DD880-5164-4E97-A926-5186886CA707}"/>
              </a:ext>
            </a:extLst>
          </p:cNvPr>
          <p:cNvCxnSpPr>
            <a:cxnSpLocks/>
          </p:cNvCxnSpPr>
          <p:nvPr/>
        </p:nvCxnSpPr>
        <p:spPr>
          <a:xfrm>
            <a:off x="913943" y="5168539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15">
            <a:extLst>
              <a:ext uri="{FF2B5EF4-FFF2-40B4-BE49-F238E27FC236}">
                <a16:creationId xmlns:a16="http://schemas.microsoft.com/office/drawing/2014/main" id="{41517B5A-A666-4952-8520-69792DB234C5}"/>
              </a:ext>
            </a:extLst>
          </p:cNvPr>
          <p:cNvSpPr/>
          <p:nvPr/>
        </p:nvSpPr>
        <p:spPr>
          <a:xfrm>
            <a:off x="868809" y="5248970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项目</a:t>
            </a:r>
            <a:r>
              <a:rPr lang="en-US" altLang="zh-CN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PD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text.customer_name">
            <a:extLst>
              <a:ext uri="{FF2B5EF4-FFF2-40B4-BE49-F238E27FC236}">
                <a16:creationId xmlns:a16="http://schemas.microsoft.com/office/drawing/2014/main" id="{97CBACC2-5868-45C6-B2B2-2260090FB17E}"/>
              </a:ext>
            </a:extLst>
          </p:cNvPr>
          <p:cNvSpPr/>
          <p:nvPr/>
        </p:nvSpPr>
        <p:spPr>
          <a:xfrm>
            <a:off x="2348814" y="5197201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AutoShape 7">
            <a:extLst>
              <a:ext uri="{FF2B5EF4-FFF2-40B4-BE49-F238E27FC236}">
                <a16:creationId xmlns:a16="http://schemas.microsoft.com/office/drawing/2014/main" id="{22009973-3726-478C-A932-A1FCA6D04E44}"/>
              </a:ext>
            </a:extLst>
          </p:cNvPr>
          <p:cNvSpPr/>
          <p:nvPr/>
        </p:nvSpPr>
        <p:spPr>
          <a:xfrm>
            <a:off x="968397" y="1569729"/>
            <a:ext cx="856096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概述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">
            <a:extLst>
              <a:ext uri="{FF2B5EF4-FFF2-40B4-BE49-F238E27FC236}">
                <a16:creationId xmlns:a16="http://schemas.microsoft.com/office/drawing/2014/main" id="{EE6D0313-DDEF-4535-BB5C-EE47199F0D5C}"/>
              </a:ext>
            </a:extLst>
          </p:cNvPr>
          <p:cNvSpPr/>
          <p:nvPr/>
        </p:nvSpPr>
        <p:spPr>
          <a:xfrm>
            <a:off x="1706418" y="1412974"/>
            <a:ext cx="9696723" cy="75124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text.project_manager">
            <a:extLst>
              <a:ext uri="{FF2B5EF4-FFF2-40B4-BE49-F238E27FC236}">
                <a16:creationId xmlns:a16="http://schemas.microsoft.com/office/drawing/2014/main" id="{AE3EA21B-40DE-4C7C-B435-9E1EDFDC6890}"/>
              </a:ext>
            </a:extLst>
          </p:cNvPr>
          <p:cNvSpPr/>
          <p:nvPr/>
        </p:nvSpPr>
        <p:spPr>
          <a:xfrm>
            <a:off x="1957497" y="1507215"/>
            <a:ext cx="1561558" cy="52137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[xx]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text.planned_start_date">
            <a:extLst>
              <a:ext uri="{FF2B5EF4-FFF2-40B4-BE49-F238E27FC236}">
                <a16:creationId xmlns:a16="http://schemas.microsoft.com/office/drawing/2014/main" id="{9D0517A7-BC0D-42FA-9444-CE6E37E8C07B}"/>
              </a:ext>
            </a:extLst>
          </p:cNvPr>
          <p:cNvSpPr/>
          <p:nvPr/>
        </p:nvSpPr>
        <p:spPr>
          <a:xfrm>
            <a:off x="8328197" y="3159513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" name="Connector 9">
            <a:extLst>
              <a:ext uri="{FF2B5EF4-FFF2-40B4-BE49-F238E27FC236}">
                <a16:creationId xmlns:a16="http://schemas.microsoft.com/office/drawing/2014/main" id="{BB59E68C-3618-4669-912F-E67E3E7F8C59}"/>
              </a:ext>
            </a:extLst>
          </p:cNvPr>
          <p:cNvCxnSpPr>
            <a:cxnSpLocks/>
          </p:cNvCxnSpPr>
          <p:nvPr/>
        </p:nvCxnSpPr>
        <p:spPr>
          <a:xfrm>
            <a:off x="6368819" y="3768864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5" name="Connector 12">
            <a:extLst>
              <a:ext uri="{FF2B5EF4-FFF2-40B4-BE49-F238E27FC236}">
                <a16:creationId xmlns:a16="http://schemas.microsoft.com/office/drawing/2014/main" id="{F6DE8F45-3E88-44D2-8FB0-605FCCA0E511}"/>
              </a:ext>
            </a:extLst>
          </p:cNvPr>
          <p:cNvCxnSpPr>
            <a:cxnSpLocks/>
          </p:cNvCxnSpPr>
          <p:nvPr/>
        </p:nvCxnSpPr>
        <p:spPr>
          <a:xfrm>
            <a:off x="6368819" y="4510905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6" name="Connector 12">
            <a:extLst>
              <a:ext uri="{FF2B5EF4-FFF2-40B4-BE49-F238E27FC236}">
                <a16:creationId xmlns:a16="http://schemas.microsoft.com/office/drawing/2014/main" id="{81CB12E1-9FAE-4121-8C2A-1A4CEBBA2506}"/>
              </a:ext>
            </a:extLst>
          </p:cNvPr>
          <p:cNvCxnSpPr>
            <a:cxnSpLocks/>
          </p:cNvCxnSpPr>
          <p:nvPr/>
        </p:nvCxnSpPr>
        <p:spPr>
          <a:xfrm>
            <a:off x="6368819" y="5165993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8" name="text.planned_end_date">
            <a:extLst>
              <a:ext uri="{FF2B5EF4-FFF2-40B4-BE49-F238E27FC236}">
                <a16:creationId xmlns:a16="http://schemas.microsoft.com/office/drawing/2014/main" id="{96275EB1-43E7-4178-8278-7EDB6FEADCA8}"/>
              </a:ext>
            </a:extLst>
          </p:cNvPr>
          <p:cNvSpPr/>
          <p:nvPr/>
        </p:nvSpPr>
        <p:spPr>
          <a:xfrm>
            <a:off x="8328197" y="3837168"/>
            <a:ext cx="2866638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.report_date">
            <a:extLst>
              <a:ext uri="{FF2B5EF4-FFF2-40B4-BE49-F238E27FC236}">
                <a16:creationId xmlns:a16="http://schemas.microsoft.com/office/drawing/2014/main" id="{1149CFAC-BA12-4F9E-AF73-D20A05C20E18}"/>
              </a:ext>
            </a:extLst>
          </p:cNvPr>
          <p:cNvSpPr/>
          <p:nvPr/>
        </p:nvSpPr>
        <p:spPr>
          <a:xfrm>
            <a:off x="8328197" y="4496762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679682" y="1520368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971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01 项目状态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" name="Connector 7"/>
          <p:cNvCxnSpPr/>
          <p:nvPr/>
        </p:nvCxnSpPr>
        <p:spPr>
          <a:xfrm rot="-14946">
            <a:off x="971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text.project_status_value"/>
          <p:cNvSpPr/>
          <p:nvPr/>
        </p:nvSpPr>
        <p:spPr>
          <a:xfrm>
            <a:off x="971319" y="24167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92D88D1C-24F0-4833-883B-80460BD8B1B4}"/>
              </a:ext>
            </a:extLst>
          </p:cNvPr>
          <p:cNvGrpSpPr/>
          <p:nvPr/>
        </p:nvGrpSpPr>
        <p:grpSpPr>
          <a:xfrm>
            <a:off x="2926406" y="2480343"/>
            <a:ext cx="1029413" cy="355600"/>
            <a:chOff x="2926406" y="2454829"/>
            <a:chExt cx="1029413" cy="355600"/>
          </a:xfrm>
        </p:grpSpPr>
        <p:sp>
          <p:nvSpPr>
            <p:cNvPr id="9" name="AutoShape 9"/>
            <p:cNvSpPr/>
            <p:nvPr/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AutoShape 10"/>
            <p:cNvSpPr/>
            <p:nvPr/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AutoShape 11"/>
          <p:cNvSpPr/>
          <p:nvPr/>
        </p:nvSpPr>
        <p:spPr>
          <a:xfrm>
            <a:off x="717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717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971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04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Connector 14"/>
          <p:cNvCxnSpPr/>
          <p:nvPr/>
        </p:nvCxnSpPr>
        <p:spPr>
          <a:xfrm rot="-14946">
            <a:off x="971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2939819" y="4829729"/>
            <a:ext cx="1016000" cy="330200"/>
          </a:xfrm>
          <a:prstGeom prst="roundRect">
            <a:avLst>
              <a:gd name="adj" fmla="val 0"/>
            </a:avLst>
          </a:prstGeom>
          <a:solidFill>
            <a:srgbClr val="28A74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shape.technical_status_badge"/>
          <p:cNvSpPr/>
          <p:nvPr/>
        </p:nvSpPr>
        <p:spPr>
          <a:xfrm>
            <a:off x="2939819" y="482972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状态</a:t>
            </a:r>
            <a:r>
              <a:rPr lang="en-US" altLang="zh-CN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4400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4400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4654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02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进度状态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Connector 21"/>
          <p:cNvCxnSpPr/>
          <p:nvPr/>
        </p:nvCxnSpPr>
        <p:spPr>
          <a:xfrm rot="-14946">
            <a:off x="4654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4400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4400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4654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05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资源状态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Connector 28"/>
          <p:cNvCxnSpPr/>
          <p:nvPr/>
        </p:nvCxnSpPr>
        <p:spPr>
          <a:xfrm rot="-14946">
            <a:off x="4654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text.progress_status_value"/>
          <p:cNvSpPr/>
          <p:nvPr/>
        </p:nvSpPr>
        <p:spPr>
          <a:xfrm>
            <a:off x="4784326" y="23659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083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8083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8337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03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项目进度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Connector 35"/>
          <p:cNvCxnSpPr/>
          <p:nvPr/>
        </p:nvCxnSpPr>
        <p:spPr>
          <a:xfrm rot="-14946">
            <a:off x="8337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text.project_progress_value"/>
          <p:cNvSpPr/>
          <p:nvPr/>
        </p:nvSpPr>
        <p:spPr>
          <a:xfrm>
            <a:off x="8337318" y="2416729"/>
            <a:ext cx="2231885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累积完成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altLang="zh-CN" sz="2400" b="1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6BFD8B92-D7AA-4063-9EA6-B44E78DC4414}"/>
              </a:ext>
            </a:extLst>
          </p:cNvPr>
          <p:cNvGrpSpPr/>
          <p:nvPr/>
        </p:nvGrpSpPr>
        <p:grpSpPr>
          <a:xfrm>
            <a:off x="10510870" y="2481468"/>
            <a:ext cx="1016000" cy="353350"/>
            <a:chOff x="10510870" y="2520808"/>
            <a:chExt cx="1016000" cy="353350"/>
          </a:xfrm>
        </p:grpSpPr>
        <p:sp>
          <p:nvSpPr>
            <p:cNvPr id="37" name="AutoShape 37"/>
            <p:cNvSpPr/>
            <p:nvPr/>
          </p:nvSpPr>
          <p:spPr>
            <a:xfrm>
              <a:off x="10528348" y="2543958"/>
              <a:ext cx="946333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0510870" y="2520808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进度</a:t>
              </a:r>
              <a:r>
                <a: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9" name="AutoShape 39"/>
          <p:cNvSpPr/>
          <p:nvPr/>
        </p:nvSpPr>
        <p:spPr>
          <a:xfrm>
            <a:off x="8083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8083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337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06 </a:t>
            </a:r>
            <a:r>
              <a:rPr lang="zh-CN" altLang="en-US" sz="160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经营状态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Connector 42"/>
          <p:cNvCxnSpPr/>
          <p:nvPr/>
        </p:nvCxnSpPr>
        <p:spPr>
          <a:xfrm rot="-14946">
            <a:off x="8337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text.business_status_value"/>
          <p:cNvSpPr/>
          <p:nvPr/>
        </p:nvSpPr>
        <p:spPr>
          <a:xfrm>
            <a:off x="8362719" y="48043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预算使用率 </a:t>
            </a:r>
            <a:r>
              <a:rPr lang="en-US" altLang="zh-CN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73AE374D-D40F-40DA-AB22-814A3C811946}"/>
              </a:ext>
            </a:extLst>
          </p:cNvPr>
          <p:cNvGrpSpPr/>
          <p:nvPr/>
        </p:nvGrpSpPr>
        <p:grpSpPr>
          <a:xfrm>
            <a:off x="10481429" y="4829729"/>
            <a:ext cx="1016000" cy="330200"/>
            <a:chOff x="10481429" y="4829729"/>
            <a:chExt cx="1016000" cy="330200"/>
          </a:xfrm>
        </p:grpSpPr>
        <p:sp>
          <p:nvSpPr>
            <p:cNvPr id="44" name="AutoShape 44"/>
            <p:cNvSpPr/>
            <p:nvPr/>
          </p:nvSpPr>
          <p:spPr>
            <a:xfrm>
              <a:off x="10481429" y="48297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FFC107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AutoShape 45"/>
            <p:cNvSpPr/>
            <p:nvPr/>
          </p:nvSpPr>
          <p:spPr>
            <a:xfrm>
              <a:off x="10481429" y="48297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需要关注</a:t>
              </a:r>
              <a:endParaRPr 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6" name="text.dashboard_title">
            <a:extLst>
              <a:ext uri="{FF2B5EF4-FFF2-40B4-BE49-F238E27FC236}">
                <a16:creationId xmlns:a16="http://schemas.microsoft.com/office/drawing/2014/main" id="{B537450D-8D3C-4F0F-BD71-89DF053850BD}"/>
              </a:ext>
            </a:extLst>
          </p:cNvPr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仪表盘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AutoShape 3">
            <a:extLst>
              <a:ext uri="{FF2B5EF4-FFF2-40B4-BE49-F238E27FC236}">
                <a16:creationId xmlns:a16="http://schemas.microsoft.com/office/drawing/2014/main" id="{F58E4053-AEE7-41CA-878E-EA3AEF1D9DD9}"/>
              </a:ext>
            </a:extLst>
          </p:cNvPr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technical_status_value"/>
          <p:cNvSpPr/>
          <p:nvPr/>
        </p:nvSpPr>
        <p:spPr>
          <a:xfrm>
            <a:off x="971319" y="4892097"/>
            <a:ext cx="1919547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技术满足度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AutoShape 23">
            <a:extLst>
              <a:ext uri="{FF2B5EF4-FFF2-40B4-BE49-F238E27FC236}">
                <a16:creationId xmlns:a16="http://schemas.microsoft.com/office/drawing/2014/main" id="{C09128E5-EE5B-4604-8145-1935E694A316}"/>
              </a:ext>
            </a:extLst>
          </p:cNvPr>
          <p:cNvSpPr/>
          <p:nvPr/>
        </p:nvSpPr>
        <p:spPr>
          <a:xfrm>
            <a:off x="6622819" y="4815897"/>
            <a:ext cx="1016000" cy="330200"/>
          </a:xfrm>
          <a:prstGeom prst="roundRect">
            <a:avLst>
              <a:gd name="adj" fmla="val 0"/>
            </a:avLst>
          </a:prstGeom>
          <a:solidFill>
            <a:srgbClr val="FFC10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shape.resource_status_badge">
            <a:extLst>
              <a:ext uri="{FF2B5EF4-FFF2-40B4-BE49-F238E27FC236}">
                <a16:creationId xmlns:a16="http://schemas.microsoft.com/office/drawing/2014/main" id="{43A6A115-3E0F-4E7F-AB73-BA6917C45CBA}"/>
              </a:ext>
            </a:extLst>
          </p:cNvPr>
          <p:cNvSpPr/>
          <p:nvPr/>
        </p:nvSpPr>
        <p:spPr>
          <a:xfrm>
            <a:off x="6622819" y="4815897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需要关注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shape.progress_status_badge">
            <a:extLst>
              <a:ext uri="{FF2B5EF4-FFF2-40B4-BE49-F238E27FC236}">
                <a16:creationId xmlns:a16="http://schemas.microsoft.com/office/drawing/2014/main" id="{6B3EF87F-F276-44EB-BAD1-37054693076B}"/>
              </a:ext>
            </a:extLst>
          </p:cNvPr>
          <p:cNvSpPr/>
          <p:nvPr/>
        </p:nvSpPr>
        <p:spPr>
          <a:xfrm>
            <a:off x="6459223" y="247387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状态正常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E8AB95B9-E431-41DA-980B-87112902B146}"/>
              </a:ext>
            </a:extLst>
          </p:cNvPr>
          <p:cNvGrpSpPr/>
          <p:nvPr/>
        </p:nvGrpSpPr>
        <p:grpSpPr>
          <a:xfrm>
            <a:off x="6446323" y="2480343"/>
            <a:ext cx="1029413" cy="355600"/>
            <a:chOff x="2926406" y="2454829"/>
            <a:chExt cx="1029413" cy="355600"/>
          </a:xfrm>
        </p:grpSpPr>
        <p:sp>
          <p:nvSpPr>
            <p:cNvPr id="55" name="AutoShape 9">
              <a:extLst>
                <a:ext uri="{FF2B5EF4-FFF2-40B4-BE49-F238E27FC236}">
                  <a16:creationId xmlns:a16="http://schemas.microsoft.com/office/drawing/2014/main" id="{8DF699AD-26DE-4874-8D78-5829E1D0D9D1}"/>
                </a:ext>
              </a:extLst>
            </p:cNvPr>
            <p:cNvSpPr/>
            <p:nvPr/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AutoShape 10">
              <a:extLst>
                <a:ext uri="{FF2B5EF4-FFF2-40B4-BE49-F238E27FC236}">
                  <a16:creationId xmlns:a16="http://schemas.microsoft.com/office/drawing/2014/main" id="{D0509D4C-E1B6-438A-B477-083EE83EDC7A}"/>
                </a:ext>
              </a:extLst>
            </p:cNvPr>
            <p:cNvSpPr/>
            <p:nvPr/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" name="text.resource_status_value"/>
          <p:cNvSpPr/>
          <p:nvPr/>
        </p:nvSpPr>
        <p:spPr>
          <a:xfrm>
            <a:off x="4628919" y="4726997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资源到位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595120"/>
            <a:ext cx="76200" cy="40640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71319" y="14897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项目整体概况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Connector 6"/>
          <p:cNvCxnSpPr/>
          <p:nvPr/>
        </p:nvCxnSpPr>
        <p:spPr>
          <a:xfrm rot="-10110">
            <a:off x="971329" y="203327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" name="text.overall_progress_summary"/>
          <p:cNvSpPr/>
          <p:nvPr/>
        </p:nvSpPr>
        <p:spPr>
          <a:xfrm>
            <a:off x="971319" y="2484120"/>
            <a:ext cx="4318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971319" y="4516120"/>
            <a:ext cx="4318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.key_conclusion"/>
          <p:cNvSpPr/>
          <p:nvPr/>
        </p:nvSpPr>
        <p:spPr>
          <a:xfrm>
            <a:off x="1098319" y="468122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关键结论：</a:t>
            </a:r>
            <a:r>
              <a:rPr lang="en-US" altLang="zh-CN" sz="12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endParaRPr lang="en-US" b="0" i="0" u="none" strike="noStrike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096000" y="1709420"/>
            <a:ext cx="4826000" cy="241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50800" cap="flat" cmpd="sng">
            <a:solidFill>
              <a:srgbClr val="0052C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89992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本期关键进展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.key_progress"/>
          <p:cNvSpPr/>
          <p:nvPr/>
        </p:nvSpPr>
        <p:spPr>
          <a:xfrm>
            <a:off x="6350000" y="2407920"/>
            <a:ext cx="43180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Noto Sans SC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096000" y="4516120"/>
            <a:ext cx="4826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55789" y="4560455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风险及问题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管理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.risk_issue_summary"/>
          <p:cNvSpPr/>
          <p:nvPr/>
        </p:nvSpPr>
        <p:spPr>
          <a:xfrm>
            <a:off x="6255788" y="4887653"/>
            <a:ext cx="4477789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本期成功关闭 </a:t>
            </a:r>
            <a:r>
              <a:rPr lang="en-US" altLang="zh-CN" sz="1200" b="0" i="0" u="none" strike="noStrike" dirty="0"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 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个</a:t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问题或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风险，</a:t>
            </a:r>
            <a:r>
              <a:rPr lang="zh-CN" altLang="en-US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现有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altLang="zh-CN" sz="12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altLang="zh-CN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个</a:t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问题或风险在处理中。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overall_progress_title">
            <a:extLst>
              <a:ext uri="{FF2B5EF4-FFF2-40B4-BE49-F238E27FC236}">
                <a16:creationId xmlns:a16="http://schemas.microsoft.com/office/drawing/2014/main" id="{91C5E60D-E388-42AE-AF96-21195E0717FB}"/>
              </a:ext>
            </a:extLst>
          </p:cNvPr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整体进展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>
            <a:extLst>
              <a:ext uri="{FF2B5EF4-FFF2-40B4-BE49-F238E27FC236}">
                <a16:creationId xmlns:a16="http://schemas.microsoft.com/office/drawing/2014/main" id="{7E6A677F-EC09-4783-86FB-3168955A939E}"/>
              </a:ext>
            </a:extLst>
          </p:cNvPr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.delivery_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641145"/>
              </p:ext>
            </p:extLst>
          </p:nvPr>
        </p:nvGraphicFramePr>
        <p:xfrm>
          <a:off x="655554" y="2577148"/>
          <a:ext cx="10795000" cy="374396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83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48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1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阶段名称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名称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产品线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任务状态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计划完成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时间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实际完成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时间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责任人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发货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现场收货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5253238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设备安装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246782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质量检查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3738107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系统调测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691906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配置检查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177001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培训</a:t>
                      </a:r>
                      <a:r>
                        <a:rPr lang="en-US" altLang="zh-CN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&amp;</a:t>
                      </a: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移交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zh-CN" altLang="en-US" sz="9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537344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zh-CN" altLang="en-US" sz="9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624590"/>
                  </a:ext>
                </a:extLst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147420"/>
                  </a:ext>
                </a:extLst>
              </a:tr>
            </a:tbl>
          </a:graphicData>
        </a:graphic>
      </p:graphicFrame>
      <p:sp>
        <p:nvSpPr>
          <p:cNvPr id="17" name="text.delivery_plan_title">
            <a:extLst>
              <a:ext uri="{FF2B5EF4-FFF2-40B4-BE49-F238E27FC236}">
                <a16:creationId xmlns:a16="http://schemas.microsoft.com/office/drawing/2014/main" id="{7FB107B8-4260-4704-B353-41F789B5A1E8}"/>
              </a:ext>
            </a:extLst>
          </p:cNvPr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交付计划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3">
            <a:extLst>
              <a:ext uri="{FF2B5EF4-FFF2-40B4-BE49-F238E27FC236}">
                <a16:creationId xmlns:a16="http://schemas.microsoft.com/office/drawing/2014/main" id="{F3BA4692-E2DA-435A-AE2C-90BEC5460C28}"/>
              </a:ext>
            </a:extLst>
          </p:cNvPr>
          <p:cNvSpPr/>
          <p:nvPr/>
        </p:nvSpPr>
        <p:spPr>
          <a:xfrm>
            <a:off x="717319" y="940225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milestone.delivery"/>
          <p:cNvSpPr/>
          <p:nvPr/>
        </p:nvSpPr>
        <p:spPr>
          <a:xfrm>
            <a:off x="655554" y="1152469"/>
            <a:ext cx="10763017" cy="1116443"/>
          </a:xfrm>
          <a:prstGeom prst="roundRect">
            <a:avLst>
              <a:gd name="adj" fmla="val 3590"/>
            </a:avLst>
          </a:prstGeom>
          <a:solidFill>
            <a:schemeClr val="accent4">
              <a:lumMod val="20000"/>
              <a:lumOff val="80000"/>
            </a:schemeClr>
          </a:solidFill>
          <a:ln w="3175" cap="flat" cmpd="sng" algn="ctr">
            <a:gradFill flip="none" rotWithShape="1">
              <a:gsLst>
                <a:gs pos="50000">
                  <a:srgbClr val="FFFFFF">
                    <a:alpha val="10000"/>
                  </a:srgbClr>
                </a:gs>
                <a:gs pos="90000">
                  <a:sysClr val="window" lastClr="FFFFFF">
                    <a:alpha val="0"/>
                  </a:sysClr>
                </a:gs>
                <a:gs pos="10000">
                  <a:sysClr val="window" lastClr="FFFFFF">
                    <a:alpha val="0"/>
                  </a:sysClr>
                </a:gs>
                <a:gs pos="0">
                  <a:sysClr val="windowText" lastClr="000000">
                    <a:lumMod val="50000"/>
                    <a:lumOff val="50000"/>
                    <a:alpha val="50000"/>
                  </a:sysClr>
                </a:gs>
                <a:gs pos="100000">
                  <a:sysClr val="windowText" lastClr="000000">
                    <a:lumMod val="50000"/>
                    <a:lumOff val="50000"/>
                    <a:alpha val="50000"/>
                  </a:sysClr>
                </a:gs>
              </a:gsLst>
              <a:lin ang="5400000" scaled="0"/>
              <a:tileRect/>
            </a:gra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.top_issues_title">
            <a:extLst>
              <a:ext uri="{FF2B5EF4-FFF2-40B4-BE49-F238E27FC236}">
                <a16:creationId xmlns:a16="http://schemas.microsoft.com/office/drawing/2014/main" id="{B2A4F3A7-3D29-4BDB-A52E-E40C4BEA109A}"/>
              </a:ext>
            </a:extLst>
          </p:cNvPr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TOP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问题与风险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>
            <a:extLst>
              <a:ext uri="{FF2B5EF4-FFF2-40B4-BE49-F238E27FC236}">
                <a16:creationId xmlns:a16="http://schemas.microsoft.com/office/drawing/2014/main" id="{96704883-E55B-4E9B-96B0-A5C2CD1AE112}"/>
              </a:ext>
            </a:extLst>
          </p:cNvPr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op_issues.cards"/>
          <p:cNvSpPr/>
          <p:nvPr/>
        </p:nvSpPr>
        <p:spPr>
          <a:xfrm>
            <a:off x="701102" y="1179536"/>
            <a:ext cx="10668000" cy="157862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top issues anchor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881093"/>
            <a:ext cx="10668000" cy="3556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12700" cap="flat" cmpd="sng">
            <a:solidFill>
              <a:srgbClr val="0052CC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20" y="1881093"/>
            <a:ext cx="147204" cy="35559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.next_plan_item_1"/>
          <p:cNvSpPr/>
          <p:nvPr/>
        </p:nvSpPr>
        <p:spPr>
          <a:xfrm>
            <a:off x="1334539" y="2331534"/>
            <a:ext cx="9610552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1. </a:t>
            </a:r>
            <a:r>
              <a:rPr lang="en-US" altLang="zh-CN" sz="1800" b="1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xxx</a:t>
            </a: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next_plan_title">
            <a:extLst>
              <a:ext uri="{FF2B5EF4-FFF2-40B4-BE49-F238E27FC236}">
                <a16:creationId xmlns:a16="http://schemas.microsoft.com/office/drawing/2014/main" id="{C7725FE3-97F9-47D8-B2C2-24A44643B7BF}"/>
              </a:ext>
            </a:extLst>
          </p:cNvPr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下期计划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AutoShape 3">
            <a:extLst>
              <a:ext uri="{FF2B5EF4-FFF2-40B4-BE49-F238E27FC236}">
                <a16:creationId xmlns:a16="http://schemas.microsoft.com/office/drawing/2014/main" id="{10AB9B96-01D5-4A78-8AF0-68F0504A3E4C}"/>
              </a:ext>
            </a:extLst>
          </p:cNvPr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.next_plan_item_2">
            <a:extLst>
              <a:ext uri="{FF2B5EF4-FFF2-40B4-BE49-F238E27FC236}">
                <a16:creationId xmlns:a16="http://schemas.microsoft.com/office/drawing/2014/main" id="{C9ED0DEB-92D5-4212-A051-56429C1C935E}"/>
              </a:ext>
            </a:extLst>
          </p:cNvPr>
          <p:cNvSpPr/>
          <p:nvPr/>
        </p:nvSpPr>
        <p:spPr>
          <a:xfrm>
            <a:off x="1334539" y="3289975"/>
            <a:ext cx="9610552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</a:t>
            </a:r>
            <a:r>
              <a:rPr lang="en-US" sz="1800" b="1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. </a:t>
            </a:r>
            <a:r>
              <a:rPr lang="en-US" altLang="zh-CN" sz="1800" b="1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xxx</a:t>
            </a: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thank_you"/>
          <p:cNvSpPr/>
          <p:nvPr/>
        </p:nvSpPr>
        <p:spPr>
          <a:xfrm>
            <a:off x="0" y="2667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0" i="0" u="none" strike="noStrike">
                <a:solidFill>
                  <a:srgbClr val="333333"/>
                </a:solidFill>
                <a:latin typeface="Noto Sans SC Light"/>
                <a:ea typeface="Noto Sans SC Light"/>
                <a:cs typeface="Noto Sans SC Light"/>
                <a:sym typeface="Noto Sans SC Light"/>
              </a:rPr>
              <a:t>Thank you.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715000" y="4191000"/>
            <a:ext cx="762000" cy="50800"/>
          </a:xfrm>
          <a:prstGeom prst="roundRect">
            <a:avLst>
              <a:gd name="adj" fmla="val 0"/>
            </a:avLst>
          </a:prstGeom>
          <a:solidFill>
            <a:srgbClr val="33333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0" y="6667500"/>
            <a:ext cx="12192000" cy="190500"/>
          </a:xfrm>
          <a:prstGeom prst="roundRect">
            <a:avLst>
              <a:gd name="adj" fmla="val 0"/>
            </a:avLst>
          </a:prstGeom>
          <a:solidFill>
            <a:srgbClr val="333333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553</Words>
  <Application>Microsoft Office PowerPoint</Application>
  <PresentationFormat>宽屏</PresentationFormat>
  <Paragraphs>170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Noto Sans SC</vt:lpstr>
      <vt:lpstr>Noto Sans SC Light</vt:lpstr>
      <vt:lpstr>等线 Light</vt:lpstr>
      <vt:lpstr>微软雅黑</vt:lpstr>
      <vt:lpstr>Arial</vt:lpstr>
      <vt:lpstr>Office 主题​​</vt:lpstr>
      <vt:lpstr>默认主题</vt:lpstr>
      <vt:lpstr>1_Office 主题​​</vt:lpstr>
      <vt:lpstr>xx进度报告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Zengqingquan (Levie)</dc:creator>
  <cp:lastModifiedBy>Zengqingquan (Levie)</cp:lastModifiedBy>
  <cp:revision>165</cp:revision>
  <dcterms:modified xsi:type="dcterms:W3CDTF">2026-06-10T09:46:35Z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{"Label":"1","ContentProducer":"001191110102MACQD9K64010000","ProduceID":"7648955276263459768","ReservedCode1":"","ContentPropagator":"","PropagateID":"","ReservedCode2":""}</vt:lpwstr>
  </property>
</Properties>
</file>