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678" r:id="rId5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9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6" d="100"/>
          <a:sy n="86" d="100"/>
        </p:scale>
        <p:origin x="288" y="33"/>
      </p:cViewPr>
      <p:guideLst>
        <p:guide orient="horz" pos="16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  <a:endParaRPr lang="en-US" sz="4800" dirty="0">
              <a:solidFill>
                <a:schemeClr val="tx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slideLayout" Target="../slideLayouts/slideLayout12.xml"/><Relationship Id="rId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智能制造中台项目进度报告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/>
            </a:r>
            <a:endParaRPr lang="zh-CN" altLang="en-US" sz="4800" b="1" spc="16" dirty="0">
              <a:cs typeface="等线" panose="02010600030101010101" charset="-122"/>
              <a:sym typeface="+mn-ea"/>
            </a:endParaRP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报告周期：2026.06.01 – 2026.06.10</a:t>
            </a:r>
            <a:r>
              <a:rPr lang="en-US" altLang="zh-CN" sz="2000" b="1" dirty="0"/>
              <a:t/>
            </a:r>
            <a:endParaRPr lang="en-US" altLang="zh-CN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/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138892" y="3113218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智能制造中台项目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289796" y="389784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PRJ-2026-0610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/>
          <p:cNvCxnSpPr/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/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/>
          <p:cNvSpPr/>
          <p:nvPr/>
        </p:nvSpPr>
        <p:spPr>
          <a:xfrm>
            <a:off x="2138629" y="451013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星河科技集团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/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endParaRPr lang="en-US" sz="1600" b="1" i="0" u="none" strike="noStrike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/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/>
          <p:cNvSpPr/>
          <p:nvPr/>
        </p:nvSpPr>
        <p:spPr>
          <a:xfrm>
            <a:off x="2138472" y="5297530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张明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/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2026-04-01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/>
          <p:cNvCxnSpPr/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/>
          <p:cNvCxnSpPr/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/>
          <p:cNvCxnSpPr/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/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2026-08-31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/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2026-06-10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1706245" y="1483360"/>
            <a:ext cx="9544685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当前处于调测阶段，核心链路已完成联调，验收准备按计划推进。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>
            <p:custDataLst>
              <p:tags r:id="rId4"/>
            </p:custDataLst>
          </p:nvPr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>
            <p:custDataLst>
              <p:tags r:id="rId5"/>
            </p:custDataLst>
          </p:nvPr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正常推进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>
              <p:custDataLst>
                <p:tags r:id="rId7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>
              <p:custDataLst>
                <p:tags r:id="rId8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>
            <p:custDataLst>
              <p:tags r:id="rId12"/>
            </p:custDataLst>
          </p:nvPr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>
            <p:custDataLst>
              <p:tags r:id="rId14"/>
            </p:custDataLst>
          </p:nvPr>
        </p:nvSpPr>
        <p:spPr>
          <a:xfrm>
            <a:off x="2939819" y="4829729"/>
            <a:ext cx="1016000" cy="330200"/>
          </a:xfrm>
          <a:prstGeom prst="rect">
            <a:avLst/>
          </a:prstGeom>
          <a:solidFill>
            <a:srgbClr val="E7F6EF"/>
          </a:solidFill>
          <a:ln w="12700" cap="flat" cmpd="sng">
            <a:solidFill>
              <a:srgbClr val="1EAA73"/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t>状态正常</a:t>
            </a:r>
          </a:p>
        </p:txBody>
      </p:sp>
      <p:sp>
        <p:nvSpPr>
          <p:cNvPr id="18" name="AutoShape 18"/>
          <p:cNvSpPr/>
          <p:nvPr>
            <p:custDataLst>
              <p:tags r:id="rId15"/>
            </p:custDataLst>
          </p:nvPr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6"/>
            </p:custDataLst>
          </p:nvPr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>
            <p:custDataLst>
              <p:tags r:id="rId17"/>
            </p:custDataLst>
          </p:nvPr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>
            <p:custDataLst>
              <p:tags r:id="rId18"/>
            </p:custDataLst>
          </p:nvPr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>
            <p:custDataLst>
              <p:tags r:id="rId19"/>
            </p:custDataLst>
          </p:nvPr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21"/>
            </p:custDataLst>
          </p:nvPr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>
            <p:custDataLst>
              <p:tags r:id="rId22"/>
            </p:custDataLst>
          </p:nvPr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>
            <p:custDataLst>
              <p:tags r:id="rId23"/>
            </p:custDataLst>
          </p:nvPr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按计划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24"/>
            </p:custDataLst>
          </p:nvPr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>
            <p:custDataLst>
              <p:tags r:id="rId27"/>
            </p:custDataLst>
          </p:nvPr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>
            <p:custDataLst>
              <p:tags r:id="rId28"/>
            </p:custDataLst>
          </p:nvPr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 68%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>
            <p:custDataLst>
              <p:tags r:id="rId29"/>
            </p:custDataLst>
          </p:nvPr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>
              <p:custDataLst>
                <p:tags r:id="rId30"/>
              </p:custDataLst>
            </p:nvPr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>
              <p:custDataLst>
                <p:tags r:id="rId31"/>
              </p:custDataLst>
            </p:nvPr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>
            <p:custDataLst>
              <p:tags r:id="rId32"/>
            </p:custDataLst>
          </p:nvPr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>
            <p:custDataLst>
              <p:tags r:id="rId33"/>
            </p:custDataLst>
          </p:nvPr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>
            <p:custDataLst>
              <p:tags r:id="rId34"/>
            </p:custDataLst>
          </p:nvPr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>
            <p:custDataLst>
              <p:tags r:id="rId35"/>
            </p:custDataLst>
          </p:nvPr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>
            <p:custDataLst>
              <p:tags r:id="rId36"/>
            </p:custDataLst>
          </p:nvPr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61%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/>
          <p:cNvGrpSpPr/>
          <p:nvPr>
            <p:custDataLst>
              <p:tags r:id="rId37"/>
            </p:custDataLst>
          </p:nvPr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>
              <p:custDataLst>
                <p:tags r:id="rId38"/>
              </p:custDataLst>
            </p:nvPr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>
              <p:custDataLst>
                <p:tags r:id="rId39"/>
              </p:custDataLst>
            </p:nvPr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>
            <p:custDataLst>
              <p:tags r:id="rId40"/>
            </p:custDataLst>
          </p:nvPr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技术满足度92%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/>
          <p:cNvSpPr/>
          <p:nvPr>
            <p:custDataLst>
              <p:tags r:id="rId41"/>
            </p:custDataLst>
          </p:nvPr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/>
          <p:cNvSpPr/>
          <p:nvPr>
            <p:custDataLst>
              <p:tags r:id="rId42"/>
            </p:custDataLst>
          </p:nvPr>
        </p:nvSpPr>
        <p:spPr>
          <a:xfrm>
            <a:off x="6622819" y="4815897"/>
            <a:ext cx="1016000" cy="330200"/>
          </a:xfrm>
          <a:prstGeom prst="rect">
            <a:avLst/>
          </a:prstGeom>
          <a:solidFill>
            <a:srgbClr val="FFF5D6"/>
          </a:solidFill>
          <a:ln w="12700" cap="flat" cmpd="sng">
            <a:solidFill>
              <a:srgbClr val="D99A00"/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t>需要关注</a:t>
            </a:r>
          </a:p>
        </p:txBody>
      </p:sp>
      <p:sp>
        <p:nvSpPr>
          <p:cNvPr id="52" name="shape.progress_status_badge"/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solidFill>
            <a:srgbClr val="E7F6EF"/>
          </a:solidFill>
          <a:ln w="12700" cap="flat" cmpd="sng">
            <a:solidFill>
              <a:srgbClr val="1EAA73"/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t>状态正常</a:t>
            </a:r>
          </a:p>
        </p:txBody>
      </p:sp>
      <p:grpSp>
        <p:nvGrpSpPr>
          <p:cNvPr id="54" name="组合 53"/>
          <p:cNvGrpSpPr/>
          <p:nvPr>
            <p:custDataLst>
              <p:tags r:id="rId43"/>
            </p:custDataLst>
          </p:nvPr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/>
            <p:cNvSpPr/>
            <p:nvPr>
              <p:custDataLst>
                <p:tags r:id="rId44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/>
            <p:cNvSpPr/>
            <p:nvPr>
              <p:custDataLst>
                <p:tags r:id="rId45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>
            <p:custDataLst>
              <p:tags r:id="rId46"/>
            </p:custDataLst>
          </p:nvPr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资源到位88%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2174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项目整体进展符合计划，核心功能联调完成，现场调测和验收材料准备同步推进。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关键结论：本期完成核心链路调测，主要风险处于可控范围。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完成设备接入、订单同步、数据看板三条主链路调测；完成客户验收脚本初版评审。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4 个问题或风险，现有 3 个问题或风险在处理中。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/>
        </p:nvGraphicFramePr>
        <p:xfrm>
          <a:off x="655554" y="2577148"/>
          <a:ext cx="10795000" cy="344938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/>
                <a:gridCol w="1634837"/>
                <a:gridCol w="2111432"/>
                <a:gridCol w="1473895"/>
                <a:gridCol w="1397000"/>
                <a:gridCol w="1397000"/>
                <a:gridCol w="1397000"/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任务名称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实际完成时间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发货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平台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2026/04/10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2026/04/09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李强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现场收货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平台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2026/04/12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2026/04/12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王琳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蓝图设计确认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交付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D99A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延期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2026/04/18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2026/04/21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赵强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交付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2026/05/12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2026/05/12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李强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交付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666666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暂停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2026/05/18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-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王琳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平台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2026/06/18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-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张明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平台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2026/06/20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-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赵强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培训移交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交付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99999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取消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2026/06/28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-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李强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平台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2026/07/05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/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-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张明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t/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t/>
                      </a: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t/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.delivery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/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ilestone.delivery"/>
          <p:cNvSpPr/>
          <p:nvPr/>
        </p:nvSpPr>
        <p:spPr>
          <a:xfrm>
            <a:off x="655554" y="1152469"/>
            <a:ext cx="10763017" cy="1116443"/>
          </a:xfrm>
          <a:prstGeom prst="roundRect">
            <a:avLst>
              <a:gd name="adj" fmla="val 3590"/>
            </a:avLst>
          </a:prstGeom>
          <a:solidFill>
            <a:schemeClr val="accent4">
              <a:lumMod val="20000"/>
              <a:lumOff val="80000"/>
            </a:schemeClr>
          </a:solidFill>
          <a:ln w="3175" cap="flat" cmpd="sng" algn="ctr">
            <a:gradFill flip="none" rotWithShape="1">
              <a:gsLst>
                <a:gs pos="50000">
                  <a:srgbClr val="FFFFFF">
                    <a:alpha val="10000"/>
                  </a:srgbClr>
                </a:gs>
                <a:gs pos="90000">
                  <a:sysClr val="window" lastClr="FFFFFF">
                    <a:alpha val="0"/>
                  </a:sysClr>
                </a:gs>
                <a:gs pos="10000">
                  <a:sysClr val="window" lastClr="FFFFFF">
                    <a:alpha val="0"/>
                  </a:sysClr>
                </a:gs>
                <a:gs pos="0">
                  <a:sysClr val="windowText" lastClr="000000">
                    <a:lumMod val="50000"/>
                    <a:lumOff val="50000"/>
                    <a:alpha val="50000"/>
                  </a:sysClr>
                </a:gs>
                <a:gs pos="100000">
                  <a:sysClr val="windowText" lastClr="000000">
                    <a:lumMod val="50000"/>
                    <a:lumOff val="50000"/>
                    <a:alpha val="50000"/>
                  </a:sysClr>
                </a:gs>
              </a:gsLst>
              <a:lin ang="5400000" scaled="0"/>
              <a:tileRect/>
            </a:gra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milestone.delivery.line"/>
          <p:cNvCxnSpPr/>
          <p:nvPr/>
        </p:nvCxnSpPr>
        <p:spPr>
          <a:xfrm>
            <a:off x="1067034" y="1710690"/>
            <a:ext cx="9940057" cy="0"/>
          </a:xfrm>
          <a:prstGeom prst="line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ilestone.delivery.item_1.date"/>
          <p:cNvSpPr txBox="1"/>
          <p:nvPr/>
        </p:nvSpPr>
        <p:spPr>
          <a:xfrm>
            <a:off x="357030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04-10</a:t>
            </a:r>
          </a:p>
        </p:txBody>
      </p:sp>
      <p:sp>
        <p:nvSpPr>
          <p:cNvPr id="22" name="milestone.delivery.item_1.node"/>
          <p:cNvSpPr/>
          <p:nvPr/>
        </p:nvSpPr>
        <p:spPr>
          <a:xfrm>
            <a:off x="966450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ilestone.delivery.item_1.label"/>
          <p:cNvSpPr txBox="1"/>
          <p:nvPr/>
        </p:nvSpPr>
        <p:spPr>
          <a:xfrm>
            <a:off x="357030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发货</a:t>
            </a:r>
          </a:p>
        </p:txBody>
      </p:sp>
      <p:sp>
        <p:nvSpPr>
          <p:cNvPr id="24" name="milestone.delivery.item_2.date"/>
          <p:cNvSpPr txBox="1"/>
          <p:nvPr/>
        </p:nvSpPr>
        <p:spPr>
          <a:xfrm>
            <a:off x="2013706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04-12</a:t>
            </a:r>
          </a:p>
        </p:txBody>
      </p:sp>
      <p:sp>
        <p:nvSpPr>
          <p:cNvPr id="25" name="milestone.delivery.item_2.node"/>
          <p:cNvSpPr/>
          <p:nvPr/>
        </p:nvSpPr>
        <p:spPr>
          <a:xfrm>
            <a:off x="2623126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ilestone.delivery.item_2.label"/>
          <p:cNvSpPr txBox="1"/>
          <p:nvPr/>
        </p:nvSpPr>
        <p:spPr>
          <a:xfrm>
            <a:off x="2013706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收货</a:t>
            </a:r>
          </a:p>
        </p:txBody>
      </p:sp>
      <p:sp>
        <p:nvSpPr>
          <p:cNvPr id="27" name="milestone.delivery.item_3.date"/>
          <p:cNvSpPr txBox="1"/>
          <p:nvPr/>
        </p:nvSpPr>
        <p:spPr>
          <a:xfrm>
            <a:off x="3670382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04-20</a:t>
            </a:r>
          </a:p>
        </p:txBody>
      </p:sp>
      <p:sp>
        <p:nvSpPr>
          <p:cNvPr id="28" name="milestone.delivery.item_3.node"/>
          <p:cNvSpPr/>
          <p:nvPr/>
        </p:nvSpPr>
        <p:spPr>
          <a:xfrm>
            <a:off x="4279802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ilestone.delivery.item_3.label"/>
          <p:cNvSpPr txBox="1"/>
          <p:nvPr/>
        </p:nvSpPr>
        <p:spPr>
          <a:xfrm>
            <a:off x="3670382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设计</a:t>
            </a:r>
          </a:p>
        </p:txBody>
      </p:sp>
      <p:sp>
        <p:nvSpPr>
          <p:cNvPr id="30" name="milestone.delivery.item_4.date"/>
          <p:cNvSpPr txBox="1"/>
          <p:nvPr/>
        </p:nvSpPr>
        <p:spPr>
          <a:xfrm>
            <a:off x="5327058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05-12</a:t>
            </a:r>
          </a:p>
        </p:txBody>
      </p:sp>
      <p:sp>
        <p:nvSpPr>
          <p:cNvPr id="31" name="milestone.delivery.item_4.node"/>
          <p:cNvSpPr/>
          <p:nvPr/>
        </p:nvSpPr>
        <p:spPr>
          <a:xfrm>
            <a:off x="5936478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ilestone.delivery.item_4.label"/>
          <p:cNvSpPr txBox="1"/>
          <p:nvPr/>
        </p:nvSpPr>
        <p:spPr>
          <a:xfrm>
            <a:off x="5327058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安装</a:t>
            </a:r>
          </a:p>
        </p:txBody>
      </p:sp>
      <p:sp>
        <p:nvSpPr>
          <p:cNvPr id="33" name="milestone.delivery.item_5.date"/>
          <p:cNvSpPr txBox="1"/>
          <p:nvPr/>
        </p:nvSpPr>
        <p:spPr>
          <a:xfrm>
            <a:off x="6983735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05-18</a:t>
            </a:r>
          </a:p>
        </p:txBody>
      </p:sp>
      <p:sp>
        <p:nvSpPr>
          <p:cNvPr id="34" name="milestone.delivery.item_5.node"/>
          <p:cNvSpPr/>
          <p:nvPr/>
        </p:nvSpPr>
        <p:spPr>
          <a:xfrm>
            <a:off x="7593155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ilestone.delivery.item_5.label"/>
          <p:cNvSpPr txBox="1"/>
          <p:nvPr/>
        </p:nvSpPr>
        <p:spPr>
          <a:xfrm>
            <a:off x="6983735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质检</a:t>
            </a:r>
          </a:p>
        </p:txBody>
      </p:sp>
      <p:sp>
        <p:nvSpPr>
          <p:cNvPr id="36" name="milestone.delivery.item_6.date"/>
          <p:cNvSpPr txBox="1"/>
          <p:nvPr/>
        </p:nvSpPr>
        <p:spPr>
          <a:xfrm>
            <a:off x="8640411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06-20</a:t>
            </a:r>
          </a:p>
        </p:txBody>
      </p:sp>
      <p:sp>
        <p:nvSpPr>
          <p:cNvPr id="37" name="milestone.delivery.item_6.node"/>
          <p:cNvSpPr/>
          <p:nvPr/>
        </p:nvSpPr>
        <p:spPr>
          <a:xfrm>
            <a:off x="9249831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milestone.delivery.item_6.node.inner"/>
          <p:cNvSpPr/>
          <p:nvPr/>
        </p:nvSpPr>
        <p:spPr>
          <a:xfrm>
            <a:off x="9298112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ilestone.delivery.item_6.label"/>
          <p:cNvSpPr txBox="1"/>
          <p:nvPr/>
        </p:nvSpPr>
        <p:spPr>
          <a:xfrm>
            <a:off x="8640411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调测</a:t>
            </a:r>
          </a:p>
        </p:txBody>
      </p:sp>
      <p:sp>
        <p:nvSpPr>
          <p:cNvPr id="40" name="milestone.delivery.item_7.date"/>
          <p:cNvSpPr txBox="1"/>
          <p:nvPr/>
        </p:nvSpPr>
        <p:spPr>
          <a:xfrm>
            <a:off x="10297087" y="1290066"/>
            <a:ext cx="142000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</a:rPr>
              <a:t>07-05</a:t>
            </a:r>
          </a:p>
        </p:txBody>
      </p:sp>
      <p:sp>
        <p:nvSpPr>
          <p:cNvPr id="41" name="milestone.delivery.item_7.node"/>
          <p:cNvSpPr/>
          <p:nvPr/>
        </p:nvSpPr>
        <p:spPr>
          <a:xfrm>
            <a:off x="10906507" y="1610106"/>
            <a:ext cx="201168" cy="201168"/>
          </a:xfrm>
          <a:prstGeom prst="ellipse">
            <a:avLst/>
          </a:prstGeom>
          <a:solidFill>
            <a:srgbClr val="0052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ilestone.delivery.item_7.node.inner"/>
          <p:cNvSpPr/>
          <p:nvPr/>
        </p:nvSpPr>
        <p:spPr>
          <a:xfrm>
            <a:off x="10954788" y="1658387"/>
            <a:ext cx="104606" cy="104606"/>
          </a:xfrm>
          <a:prstGeom prst="ellipse">
            <a:avLst/>
          </a:prstGeom>
          <a:solidFill>
            <a:srgbClr val="FFFF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ilestone.delivery.item_7.label"/>
          <p:cNvSpPr txBox="1"/>
          <p:nvPr/>
        </p:nvSpPr>
        <p:spPr>
          <a:xfrm>
            <a:off x="10297087" y="1841449"/>
            <a:ext cx="1420008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</a:rPr>
              <a:t>验收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.item_1.card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op_issues.cards.item_1.strip"/>
          <p:cNvSpPr/>
          <p:nvPr/>
        </p:nvSpPr>
        <p:spPr>
          <a:xfrm>
            <a:off x="701102" y="1179536"/>
            <a:ext cx="73152" cy="1578627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p_issues.cards.item_1.severity"/>
          <p:cNvSpPr txBox="1"/>
          <p:nvPr/>
        </p:nvSpPr>
        <p:spPr>
          <a:xfrm>
            <a:off x="883982" y="143211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D64545"/>
                </a:solidFill>
              </a:rPr>
              <a:t>紧急</a:t>
            </a:r>
          </a:p>
        </p:txBody>
      </p:sp>
      <p:sp>
        <p:nvSpPr>
          <p:cNvPr id="21" name="top_issues.cards.item_1.description"/>
          <p:cNvSpPr txBox="1"/>
          <p:nvPr/>
        </p:nvSpPr>
        <p:spPr>
          <a:xfrm>
            <a:off x="1524062" y="136897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问题描述：创建时间2026-06-06 10:30，当前进展客户验收窗口尚未最终确认，可能影响验收排期。</a:t>
            </a:r>
          </a:p>
        </p:txBody>
      </p:sp>
      <p:sp>
        <p:nvSpPr>
          <p:cNvPr id="22" name="top_issues.cards.item_1.action"/>
          <p:cNvSpPr txBox="1"/>
          <p:nvPr/>
        </p:nvSpPr>
        <p:spPr>
          <a:xfrm>
            <a:off x="1524062" y="184255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解决措施与进展：已协调客户项目经理锁定评审窗口，并准备备选会议时间。</a:t>
            </a:r>
          </a:p>
        </p:txBody>
      </p:sp>
      <p:sp>
        <p:nvSpPr>
          <p:cNvPr id="23" name="top_issues.cards.item_1.meta"/>
          <p:cNvSpPr txBox="1"/>
          <p:nvPr/>
        </p:nvSpPr>
        <p:spPr>
          <a:xfrm>
            <a:off x="1524062" y="228457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责任人：张明   |  状态：跟踪中  | 计划解决时间：2026-06-14</a:t>
            </a:r>
          </a:p>
        </p:txBody>
      </p:sp>
      <p:sp>
        <p:nvSpPr>
          <p:cNvPr id="24" name="top_issues.cards.item_2.card"/>
          <p:cNvSpPr/>
          <p:nvPr/>
        </p:nvSpPr>
        <p:spPr>
          <a:xfrm>
            <a:off x="701102" y="2867891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p_issues.cards.item_2.strip"/>
          <p:cNvSpPr/>
          <p:nvPr/>
        </p:nvSpPr>
        <p:spPr>
          <a:xfrm>
            <a:off x="701102" y="2867891"/>
            <a:ext cx="73152" cy="1578627"/>
          </a:xfrm>
          <a:prstGeom prst="rect">
            <a:avLst/>
          </a:prstGeom>
          <a:solidFill>
            <a:srgbClr val="FF8A00"/>
          </a:solidFill>
          <a:ln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p_issues.cards.item_2.severity"/>
          <p:cNvSpPr txBox="1"/>
          <p:nvPr/>
        </p:nvSpPr>
        <p:spPr>
          <a:xfrm>
            <a:off x="883982" y="3120471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8A00"/>
                </a:solidFill>
              </a:rPr>
              <a:t>重要</a:t>
            </a:r>
          </a:p>
        </p:txBody>
      </p:sp>
      <p:sp>
        <p:nvSpPr>
          <p:cNvPr id="27" name="top_issues.cards.item_2.description"/>
          <p:cNvSpPr txBox="1"/>
          <p:nvPr/>
        </p:nvSpPr>
        <p:spPr>
          <a:xfrm>
            <a:off x="1524062" y="3057326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问题描述：创建时间2026-06-07 14:00，当前进展旧版浏览器导出兼容性仍需补测。</a:t>
            </a:r>
          </a:p>
        </p:txBody>
      </p:sp>
      <p:sp>
        <p:nvSpPr>
          <p:cNvPr id="28" name="top_issues.cards.item_2.action"/>
          <p:cNvSpPr txBox="1"/>
          <p:nvPr/>
        </p:nvSpPr>
        <p:spPr>
          <a:xfrm>
            <a:off x="1524062" y="3530914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解决措施与进展：补充自动化用例并安排专项验证。</a:t>
            </a:r>
          </a:p>
        </p:txBody>
      </p:sp>
      <p:sp>
        <p:nvSpPr>
          <p:cNvPr id="29" name="top_issues.cards.item_2.meta"/>
          <p:cNvSpPr txBox="1"/>
          <p:nvPr/>
        </p:nvSpPr>
        <p:spPr>
          <a:xfrm>
            <a:off x="1524062" y="3972929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责任人：王琳   |  状态：处理中  | 计划解决时间：2026-06-16</a:t>
            </a:r>
          </a:p>
        </p:txBody>
      </p:sp>
      <p:sp>
        <p:nvSpPr>
          <p:cNvPr id="30" name="top_issues.cards.item_3.card"/>
          <p:cNvSpPr/>
          <p:nvPr/>
        </p:nvSpPr>
        <p:spPr>
          <a:xfrm>
            <a:off x="701102" y="455624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op_issues.cards.item_3.strip"/>
          <p:cNvSpPr/>
          <p:nvPr/>
        </p:nvSpPr>
        <p:spPr>
          <a:xfrm>
            <a:off x="701102" y="4556246"/>
            <a:ext cx="73152" cy="1578627"/>
          </a:xfrm>
          <a:prstGeom prst="rect">
            <a:avLst/>
          </a:prstGeom>
          <a:solidFill>
            <a:srgbClr val="F5C400"/>
          </a:solidFill>
          <a:ln>
            <a:solidFill>
              <a:srgbClr val="F5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op_issues.cards.item_3.severity"/>
          <p:cNvSpPr txBox="1"/>
          <p:nvPr/>
        </p:nvSpPr>
        <p:spPr>
          <a:xfrm>
            <a:off x="883982" y="480882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5C400"/>
                </a:solidFill>
              </a:rPr>
              <a:t>一般</a:t>
            </a:r>
          </a:p>
        </p:txBody>
      </p:sp>
      <p:sp>
        <p:nvSpPr>
          <p:cNvPr id="33" name="top_issues.cards.item_3.description"/>
          <p:cNvSpPr txBox="1"/>
          <p:nvPr/>
        </p:nvSpPr>
        <p:spPr>
          <a:xfrm>
            <a:off x="1524062" y="474568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问题描述：创建时间2026-06-08 09:20，当前进展部分看板指标口径需要与业务方再次对齐。</a:t>
            </a:r>
          </a:p>
        </p:txBody>
      </p:sp>
      <p:sp>
        <p:nvSpPr>
          <p:cNvPr id="34" name="top_issues.cards.item_3.action"/>
          <p:cNvSpPr txBox="1"/>
          <p:nvPr/>
        </p:nvSpPr>
        <p:spPr>
          <a:xfrm>
            <a:off x="1524062" y="521926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解决措施与进展：整理指标口径说明并在周会上确认。</a:t>
            </a:r>
          </a:p>
        </p:txBody>
      </p:sp>
      <p:sp>
        <p:nvSpPr>
          <p:cNvPr id="35" name="top_issues.cards.item_3.meta"/>
          <p:cNvSpPr txBox="1"/>
          <p:nvPr/>
        </p:nvSpPr>
        <p:spPr>
          <a:xfrm>
            <a:off x="1524062" y="566128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责任人：赵强   |  状态：待确认  | 计划解决时间：2026-06-18</a:t>
            </a:r>
          </a:p>
        </p:txBody>
      </p:sp>
      <p:sp>
        <p:nvSpPr>
          <p:cNvPr id="36" name="top_issues.cards.item_4.card"/>
          <p:cNvSpPr/>
          <p:nvPr/>
        </p:nvSpPr>
        <p:spPr>
          <a:xfrm>
            <a:off x="701102" y="6244601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op_issues.cards.item_4.strip"/>
          <p:cNvSpPr/>
          <p:nvPr/>
        </p:nvSpPr>
        <p:spPr>
          <a:xfrm>
            <a:off x="701102" y="6244601"/>
            <a:ext cx="73152" cy="1578627"/>
          </a:xfrm>
          <a:prstGeom prst="rect">
            <a:avLst/>
          </a:prstGeom>
          <a:solidFill>
            <a:srgbClr val="FF8A00"/>
          </a:solidFill>
          <a:ln>
            <a:solidFill>
              <a:srgbClr val="FF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op_issues.cards.item_4.severity"/>
          <p:cNvSpPr txBox="1"/>
          <p:nvPr/>
        </p:nvSpPr>
        <p:spPr>
          <a:xfrm>
            <a:off x="883982" y="6497181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8A00"/>
                </a:solidFill>
              </a:rPr>
              <a:t>重要</a:t>
            </a:r>
          </a:p>
        </p:txBody>
      </p:sp>
      <p:sp>
        <p:nvSpPr>
          <p:cNvPr id="39" name="top_issues.cards.item_4.description"/>
          <p:cNvSpPr txBox="1"/>
          <p:nvPr/>
        </p:nvSpPr>
        <p:spPr>
          <a:xfrm>
            <a:off x="1524062" y="6434036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问题描述：创建时间2026-06-09 16:10，当前进展现场培训资料需补充操作截图，影响最终交付材料完整性。</a:t>
            </a:r>
          </a:p>
        </p:txBody>
      </p:sp>
      <p:sp>
        <p:nvSpPr>
          <p:cNvPr id="40" name="top_issues.cards.item_4.action"/>
          <p:cNvSpPr txBox="1"/>
          <p:nvPr/>
        </p:nvSpPr>
        <p:spPr>
          <a:xfrm>
            <a:off x="1524062" y="6907624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</a:rPr>
              <a:t>解决措施与进展：交付负责人已补充培训手册截图，计划在下次评审前完成客户确认。</a:t>
            </a:r>
          </a:p>
        </p:txBody>
      </p:sp>
      <p:sp>
        <p:nvSpPr>
          <p:cNvPr id="41" name="top_issues.cards.item_4.meta"/>
          <p:cNvSpPr txBox="1"/>
          <p:nvPr/>
        </p:nvSpPr>
        <p:spPr>
          <a:xfrm>
            <a:off x="1524062" y="7349639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责任人：李强   |  状态：新增  | 计划解决时间：2026-06-20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"/>
          <p:cNvSpPr/>
          <p:nvPr/>
        </p:nvSpPr>
        <p:spPr>
          <a:xfrm>
            <a:off x="1334770" y="2331720"/>
            <a:ext cx="9610725" cy="2945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完成系统调测收尾并输出调测报告。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2. 完成验收脚本确认，组织客户验收评审。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/>
            </a:r>
            <a:endParaRPr lang="en-US" altLang="zh-CN" sz="1100" b="1" i="0" u="none" strike="noStrike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</Words>
  <Application>WPS 演示</Application>
  <PresentationFormat>宽屏</PresentationFormat>
  <Paragraphs>254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</vt:lpstr>
      <vt:lpstr>等线</vt:lpstr>
      <vt:lpstr>汉仪中等线KW</vt:lpstr>
      <vt:lpstr>Noto Sans SC</vt:lpstr>
      <vt:lpstr>Thonburi</vt:lpstr>
      <vt:lpstr>Noto Sans SC Light</vt:lpstr>
      <vt:lpstr>宋体</vt:lpstr>
      <vt:lpstr>Arial Unicode MS</vt:lpstr>
      <vt:lpstr>等线 Light</vt:lpstr>
      <vt:lpstr>Noto Sans SC</vt:lpstr>
      <vt:lpstr>Noto Sans SC Light</vt:lpstr>
      <vt:lpstr>微软雅黑</vt:lpstr>
      <vt:lpstr>等线</vt:lpstr>
      <vt:lpstr>汉仪书宋二KW</vt:lpstr>
      <vt:lpstr>苹方-简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4pb</cp:lastModifiedBy>
  <cp:revision>170</cp:revision>
  <dcterms:created xsi:type="dcterms:W3CDTF">2026-06-11T17:26:19Z</dcterms:created>
  <dcterms:modified xsi:type="dcterms:W3CDTF">2026-06-11T17:26:19Z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  <property fmtid="{D5CDD505-2E9C-101B-9397-08002B2CF9AE}" pid="3" name="KSOProductBuildVer">
    <vt:lpwstr>2052-12.1.26016.26016</vt:lpwstr>
  </property>
  <property fmtid="{D5CDD505-2E9C-101B-9397-08002B2CF9AE}" pid="4" name="ICV">
    <vt:lpwstr>B165E6AAC88E2D8B1FEE2A6A9196E763_42</vt:lpwstr>
  </property>
</Properties>
</file>