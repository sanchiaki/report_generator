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57483700" r:id="rId3"/>
  </p:sldMasterIdLst>
  <p:notesMasterIdLst>
    <p:notesMasterId r:id="rId12"/>
  </p:notesMasterIdLst>
  <p:sldIdLst>
    <p:sldId id="678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52CC"/>
    <a:srgbClr val="44546A"/>
    <a:srgbClr val="1F0E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288" y="3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原有的表格布局显得呆板，现在我们将其优化为两个并排的卡片。左侧卡片放置项目基本信息，右侧卡片放置管理信息，结构更清晰。卡片标题使用蓝色背景，突出了信息层级，整体视觉效果更现代。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仪表盘页面的优化重点是数据可视化。我们用三列卡片布局取代了原始表格，每个指标都有独立的展示区域。通过使用不同颜色的标签（绿色代表健康，黄色代表需关注），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可以一目了然地了解各项指标的状态，信息传达效率更高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对于“项目整体进展”页面，我们采用了左右分栏的布局。左侧是对整体情况的高度概括，右侧则分点详细阐述各个模块的进展。这种布局使得信息层次分明，观众可以先建立整体认知，再深入了解细节。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页面的优化重点是将时间轴和任务表格进行分离和美化。上半部分的时间轴设计得更具视觉引导性，让观众一眼就能看清项目所处的阶段。下半部分的表格也进行了重新设计，增加了行间距和表头背景色，使其更易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在“TOP问题及风险”页面，我们通过颜色来强化优先级的视觉提示。P1级别的问题用红色背景突出，P2用橙色，让观众可以迅速抓住重点。同时，优化了表格的样式，使其更加规整和专业。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“下期计划”页面采用了带序号的卡片式布局。每个计划项都是一个独立的模块，清晰地展示了计划的核心内容。这种设计避免了大段文字的沉闷感，让计划看起来更有条理和可执行性。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最后是结束页。我们将“Thank you”设计为页面的视觉中心，使用简洁优雅的字体和较大的字号，营造出专业而不失亲和力的结束氛围。下方的“Q&amp;A”也清晰地提示了接下来的环节。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739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981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483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204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803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095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29526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3129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7592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5501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B3004-400C-43A5-AC96-1EF96FAF3383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F81BE-ADF2-46EA-A947-332EC6F99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980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6663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80604020202020204" pitchFamily="34" charset="0"/>
              </a:defRPr>
            </a:lvl1pPr>
            <a:lvl2pPr marL="525780" indent="-170815">
              <a:buFont typeface="Arial" panose="02080604020202020204" pitchFamily="34" charset="0"/>
              <a:buChar char="•"/>
              <a:tabLst>
                <a:tab pos="1207770" algn="ctr"/>
              </a:tabLst>
              <a:defRPr sz="1300" baseline="0"/>
            </a:lvl2pPr>
            <a:lvl3pPr marL="525780" indent="-170815">
              <a:buFont typeface="Arial" panose="02080604020202020204" pitchFamily="34" charset="0"/>
              <a:buChar char="•"/>
              <a:tabLst>
                <a:tab pos="1207770" algn="ctr"/>
              </a:tabLst>
              <a:defRPr sz="1300" baseline="0"/>
            </a:lvl3pPr>
            <a:lvl4pPr marL="525780" indent="-170815">
              <a:buFont typeface="Arial" panose="0208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8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4670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1691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1080" y="2130562"/>
            <a:ext cx="700777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668" y="907092"/>
            <a:ext cx="6557418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8921" y="1949372"/>
            <a:ext cx="6533460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9294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265" y="1402064"/>
            <a:ext cx="39196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  <a:latin typeface="微软雅黑" panose="020B0503020204020204" pitchFamily="34" charset="-122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2236857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C5B3004-400C-43A5-AC96-1EF96FAF3383}" type="datetimeFigureOut">
              <a:rPr lang="zh-CN" altLang="en-US" smtClean="0"/>
              <a:pPr/>
              <a:t>2026/6/10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2F81BE-ADF2-46EA-A947-332EC6F994A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715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57483701" r:id="rId1"/>
    <p:sldLayoutId id="2157483702" r:id="rId2"/>
    <p:sldLayoutId id="2157483703" r:id="rId3"/>
    <p:sldLayoutId id="2157483704" r:id="rId4"/>
    <p:sldLayoutId id="2157483705" r:id="rId5"/>
    <p:sldLayoutId id="2157483706" r:id="rId6"/>
    <p:sldLayoutId id="2157483707" r:id="rId7"/>
    <p:sldLayoutId id="2157483708" r:id="rId8"/>
    <p:sldLayoutId id="2157483709" r:id="rId9"/>
    <p:sldLayoutId id="2157483710" r:id="rId10"/>
    <p:sldLayoutId id="2157483711" r:id="rId11"/>
    <p:sldLayoutId id="2157483712" r:id="rId12"/>
    <p:sldLayoutId id="2157483713" r:id="rId13"/>
    <p:sldLayoutId id="2157483714" r:id="rId14"/>
    <p:sldLayoutId id="215748371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.cover_title"/>
          <p:cNvSpPr>
            <a:spLocks noGrp="1"/>
          </p:cNvSpPr>
          <p:nvPr>
            <p:ph type="ctrTitle"/>
          </p:nvPr>
        </p:nvSpPr>
        <p:spPr>
          <a:xfrm>
            <a:off x="952265" y="1446177"/>
            <a:ext cx="9262745" cy="690245"/>
          </a:xfrm>
        </p:spPr>
        <p:txBody>
          <a:bodyPr>
            <a:noAutofit/>
          </a:bodyPr>
          <a:lstStyle/>
          <a:p>
            <a:r>
              <a:rPr lang="en-US" altLang="zh-CN" sz="4800" b="1" spc="16" dirty="0">
                <a:cs typeface="等线" panose="02010600030101010101" charset="-122"/>
                <a:sym typeface="+mn-ea"/>
              </a:rPr>
              <a:t>智能制造中台项目进度报告</a:t>
            </a:r>
            <a:r>
              <a:rPr lang="zh-CN" altLang="en-US" sz="4800" b="1" spc="16" dirty="0">
                <a:cs typeface="等线" panose="02010600030101010101" charset="-122"/>
                <a:sym typeface="+mn-ea"/>
              </a:rPr>
              <a:t/>
            </a:r>
          </a:p>
        </p:txBody>
      </p:sp>
      <p:sp>
        <p:nvSpPr>
          <p:cNvPr id="6" name="text.cover_period"/>
          <p:cNvSpPr>
            <a:spLocks noGrp="1"/>
          </p:cNvSpPr>
          <p:nvPr>
            <p:ph type="body" sz="quarter" idx="10"/>
          </p:nvPr>
        </p:nvSpPr>
        <p:spPr>
          <a:xfrm>
            <a:off x="952265" y="3503642"/>
            <a:ext cx="5034488" cy="381173"/>
          </a:xfrm>
        </p:spPr>
        <p:txBody>
          <a:bodyPr lIns="0" tIns="0" rIns="0" bIns="0">
            <a:noAutofit/>
          </a:bodyPr>
          <a:lstStyle/>
          <a:p>
            <a:pPr marL="0" indent="0">
              <a:buNone/>
            </a:pPr>
            <a:r>
              <a:rPr lang="zh-CN" altLang="en-US" sz="2000" b="1" dirty="0"/>
              <a:t>报告周期：2026.06.01 – 2026.06.10</a:t>
            </a:r>
            <a:r>
              <a:rPr lang="en-US" altLang="zh-CN" sz="2000" b="1" dirty="0"/>
              <a:t/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2539518"/>
            <a:ext cx="5207000" cy="3405114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AutoShape 5">
            <a:extLst>
              <a:ext uri="{FF2B5EF4-FFF2-40B4-BE49-F238E27FC236}">
                <a16:creationId xmlns:a16="http://schemas.microsoft.com/office/drawing/2014/main" id="{5B242649-18F9-4966-A261-29F5F6606005}"/>
              </a:ext>
            </a:extLst>
          </p:cNvPr>
          <p:cNvSpPr/>
          <p:nvPr/>
        </p:nvSpPr>
        <p:spPr>
          <a:xfrm>
            <a:off x="717319" y="1402845"/>
            <a:ext cx="989100" cy="779104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.project_info_title"/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项目信息概览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7819" y="2697351"/>
            <a:ext cx="304800" cy="265899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52319" y="2599721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项目基本信息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Connector 9"/>
          <p:cNvCxnSpPr>
            <a:cxnSpLocks/>
          </p:cNvCxnSpPr>
          <p:nvPr/>
        </p:nvCxnSpPr>
        <p:spPr>
          <a:xfrm>
            <a:off x="913943" y="3771410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6880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.project_overview_summary"/>
          <p:cNvSpPr/>
          <p:nvPr/>
        </p:nvSpPr>
        <p:spPr>
          <a:xfrm>
            <a:off x="2362430" y="3159513"/>
            <a:ext cx="33655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当前处于调测阶段，核心链路已完成联调，验收准备按计划推进。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Connector 12"/>
          <p:cNvCxnSpPr>
            <a:cxnSpLocks/>
          </p:cNvCxnSpPr>
          <p:nvPr/>
        </p:nvCxnSpPr>
        <p:spPr>
          <a:xfrm>
            <a:off x="913943" y="4513451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68809" y="3963433"/>
            <a:ext cx="1270000" cy="4210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项目编码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.project_name"/>
          <p:cNvSpPr/>
          <p:nvPr/>
        </p:nvSpPr>
        <p:spPr>
          <a:xfrm>
            <a:off x="2362412" y="3841563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智能制造中台项目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68809" y="4532604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客户名称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.project_code"/>
          <p:cNvSpPr/>
          <p:nvPr/>
        </p:nvSpPr>
        <p:spPr>
          <a:xfrm>
            <a:off x="2356471" y="4540461"/>
            <a:ext cx="3365500" cy="54549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PRJ-2026-0610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84207" y="2544951"/>
            <a:ext cx="5207000" cy="340360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78319" y="2544951"/>
            <a:ext cx="5207000" cy="5317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8819" y="2697351"/>
            <a:ext cx="304800" cy="265899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13319" y="2589267"/>
            <a:ext cx="4318000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信息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68819" y="3159513"/>
            <a:ext cx="1270000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计划开始时间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68819" y="3963433"/>
            <a:ext cx="1270000" cy="46051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计划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结束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时间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68819" y="4501914"/>
            <a:ext cx="12700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报告日期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Connector 12">
            <a:extLst>
              <a:ext uri="{FF2B5EF4-FFF2-40B4-BE49-F238E27FC236}">
                <a16:creationId xmlns:a16="http://schemas.microsoft.com/office/drawing/2014/main" id="{475DD880-5164-4E97-A926-5186886CA707}"/>
              </a:ext>
            </a:extLst>
          </p:cNvPr>
          <p:cNvCxnSpPr>
            <a:cxnSpLocks/>
          </p:cNvCxnSpPr>
          <p:nvPr/>
        </p:nvCxnSpPr>
        <p:spPr>
          <a:xfrm>
            <a:off x="913943" y="5168539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15">
            <a:extLst>
              <a:ext uri="{FF2B5EF4-FFF2-40B4-BE49-F238E27FC236}">
                <a16:creationId xmlns:a16="http://schemas.microsoft.com/office/drawing/2014/main" id="{41517B5A-A666-4952-8520-69792DB234C5}"/>
              </a:ext>
            </a:extLst>
          </p:cNvPr>
          <p:cNvSpPr/>
          <p:nvPr/>
        </p:nvSpPr>
        <p:spPr>
          <a:xfrm>
            <a:off x="868809" y="5248970"/>
            <a:ext cx="1270000" cy="56120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项目</a:t>
            </a:r>
            <a:r>
              <a:rPr lang="en-US" altLang="zh-CN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PD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.customer_name">
            <a:extLst>
              <a:ext uri="{FF2B5EF4-FFF2-40B4-BE49-F238E27FC236}">
                <a16:creationId xmlns:a16="http://schemas.microsoft.com/office/drawing/2014/main" id="{97CBACC2-5868-45C6-B2B2-2260090FB17E}"/>
              </a:ext>
            </a:extLst>
          </p:cNvPr>
          <p:cNvSpPr/>
          <p:nvPr/>
        </p:nvSpPr>
        <p:spPr>
          <a:xfrm>
            <a:off x="2348814" y="5197201"/>
            <a:ext cx="3365500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星河科技集团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AutoShape 7">
            <a:extLst>
              <a:ext uri="{FF2B5EF4-FFF2-40B4-BE49-F238E27FC236}">
                <a16:creationId xmlns:a16="http://schemas.microsoft.com/office/drawing/2014/main" id="{22009973-3726-478C-A932-A1FCA6D04E44}"/>
              </a:ext>
            </a:extLst>
          </p:cNvPr>
          <p:cNvSpPr/>
          <p:nvPr/>
        </p:nvSpPr>
        <p:spPr>
          <a:xfrm>
            <a:off x="968397" y="1569729"/>
            <a:ext cx="856096" cy="44316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概述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">
            <a:extLst>
              <a:ext uri="{FF2B5EF4-FFF2-40B4-BE49-F238E27FC236}">
                <a16:creationId xmlns:a16="http://schemas.microsoft.com/office/drawing/2014/main" id="{EE6D0313-DDEF-4535-BB5C-EE47199F0D5C}"/>
              </a:ext>
            </a:extLst>
          </p:cNvPr>
          <p:cNvSpPr/>
          <p:nvPr/>
        </p:nvSpPr>
        <p:spPr>
          <a:xfrm>
            <a:off x="1706418" y="1412974"/>
            <a:ext cx="9696723" cy="751241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.project_manager">
            <a:extLst>
              <a:ext uri="{FF2B5EF4-FFF2-40B4-BE49-F238E27FC236}">
                <a16:creationId xmlns:a16="http://schemas.microsoft.com/office/drawing/2014/main" id="{AE3EA21B-40DE-4C7C-B435-9E1EDFDC6890}"/>
              </a:ext>
            </a:extLst>
          </p:cNvPr>
          <p:cNvSpPr/>
          <p:nvPr/>
        </p:nvSpPr>
        <p:spPr>
          <a:xfrm>
            <a:off x="1957497" y="1507215"/>
            <a:ext cx="1561558" cy="52137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张明</a:t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.planned_start_date">
            <a:extLst>
              <a:ext uri="{FF2B5EF4-FFF2-40B4-BE49-F238E27FC236}">
                <a16:creationId xmlns:a16="http://schemas.microsoft.com/office/drawing/2014/main" id="{9D0517A7-BC0D-42FA-9444-CE6E37E8C07B}"/>
              </a:ext>
            </a:extLst>
          </p:cNvPr>
          <p:cNvSpPr/>
          <p:nvPr/>
        </p:nvSpPr>
        <p:spPr>
          <a:xfrm>
            <a:off x="8328197" y="3159513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2026-04-01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4" name="Connector 9">
            <a:extLst>
              <a:ext uri="{FF2B5EF4-FFF2-40B4-BE49-F238E27FC236}">
                <a16:creationId xmlns:a16="http://schemas.microsoft.com/office/drawing/2014/main" id="{BB59E68C-3618-4669-912F-E67E3E7F8C59}"/>
              </a:ext>
            </a:extLst>
          </p:cNvPr>
          <p:cNvCxnSpPr>
            <a:cxnSpLocks/>
          </p:cNvCxnSpPr>
          <p:nvPr/>
        </p:nvCxnSpPr>
        <p:spPr>
          <a:xfrm>
            <a:off x="6368819" y="3768864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" name="Connector 12">
            <a:extLst>
              <a:ext uri="{FF2B5EF4-FFF2-40B4-BE49-F238E27FC236}">
                <a16:creationId xmlns:a16="http://schemas.microsoft.com/office/drawing/2014/main" id="{F6DE8F45-3E88-44D2-8FB0-605FCCA0E511}"/>
              </a:ext>
            </a:extLst>
          </p:cNvPr>
          <p:cNvCxnSpPr>
            <a:cxnSpLocks/>
          </p:cNvCxnSpPr>
          <p:nvPr/>
        </p:nvCxnSpPr>
        <p:spPr>
          <a:xfrm>
            <a:off x="6368819" y="4510905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6" name="Connector 12">
            <a:extLst>
              <a:ext uri="{FF2B5EF4-FFF2-40B4-BE49-F238E27FC236}">
                <a16:creationId xmlns:a16="http://schemas.microsoft.com/office/drawing/2014/main" id="{81CB12E1-9FAE-4121-8C2A-1A4CEBBA2506}"/>
              </a:ext>
            </a:extLst>
          </p:cNvPr>
          <p:cNvCxnSpPr>
            <a:cxnSpLocks/>
          </p:cNvCxnSpPr>
          <p:nvPr/>
        </p:nvCxnSpPr>
        <p:spPr>
          <a:xfrm>
            <a:off x="6368819" y="5165993"/>
            <a:ext cx="482601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8" name="text.planned_end_date">
            <a:extLst>
              <a:ext uri="{FF2B5EF4-FFF2-40B4-BE49-F238E27FC236}">
                <a16:creationId xmlns:a16="http://schemas.microsoft.com/office/drawing/2014/main" id="{96275EB1-43E7-4178-8278-7EDB6FEADCA8}"/>
              </a:ext>
            </a:extLst>
          </p:cNvPr>
          <p:cNvSpPr/>
          <p:nvPr/>
        </p:nvSpPr>
        <p:spPr>
          <a:xfrm>
            <a:off x="8328197" y="3837168"/>
            <a:ext cx="2866638" cy="66474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2026-08-31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.report_date">
            <a:extLst>
              <a:ext uri="{FF2B5EF4-FFF2-40B4-BE49-F238E27FC236}">
                <a16:creationId xmlns:a16="http://schemas.microsoft.com/office/drawing/2014/main" id="{1149CFAC-BA12-4F9E-AF73-D20A05C20E18}"/>
              </a:ext>
            </a:extLst>
          </p:cNvPr>
          <p:cNvSpPr/>
          <p:nvPr/>
        </p:nvSpPr>
        <p:spPr>
          <a:xfrm>
            <a:off x="8328197" y="4496762"/>
            <a:ext cx="2922076" cy="609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2026-06-10</a:t>
            </a:r>
            <a:r>
              <a:rPr lang="en-US" sz="16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6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679682" y="1520368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71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01 项目状态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4946">
            <a:off x="971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text.project_status_value"/>
          <p:cNvSpPr/>
          <p:nvPr/>
        </p:nvSpPr>
        <p:spPr>
          <a:xfrm>
            <a:off x="971319" y="24167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正常推进</a:t>
            </a: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92D88D1C-24F0-4833-883B-80460BD8B1B4}"/>
              </a:ext>
            </a:extLst>
          </p:cNvPr>
          <p:cNvGrpSpPr/>
          <p:nvPr/>
        </p:nvGrpSpPr>
        <p:grpSpPr>
          <a:xfrm>
            <a:off x="2926406" y="2480343"/>
            <a:ext cx="1029413" cy="355600"/>
            <a:chOff x="2926406" y="2454829"/>
            <a:chExt cx="1029413" cy="355600"/>
          </a:xfrm>
        </p:grpSpPr>
        <p:sp>
          <p:nvSpPr>
            <p:cNvPr id="9" name="AutoShape 9"/>
            <p:cNvSpPr/>
            <p:nvPr/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AutoShape 10"/>
            <p:cNvSpPr/>
            <p:nvPr/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>
            <a:off x="717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17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71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04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971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2939819" y="4829729"/>
            <a:ext cx="1016000" cy="330200"/>
          </a:xfrm>
          <a:prstGeom prst="roundRect">
            <a:avLst>
              <a:gd name="adj" fmla="val 0"/>
            </a:avLst>
          </a:prstGeom>
          <a:solidFill>
            <a:srgbClr val="28A74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.technical_status_badge"/>
          <p:cNvSpPr/>
          <p:nvPr/>
        </p:nvSpPr>
        <p:spPr>
          <a:xfrm>
            <a:off x="2939819" y="4829729"/>
            <a:ext cx="1016000" cy="330200"/>
          </a:xfrm>
          <a:prstGeom prst="rect">
            <a:avLst/>
          </a:prstGeom>
          <a:solidFill>
            <a:srgbClr val="E7F6EF"/>
          </a:solidFill>
          <a:ln w="12700" cap="flat" cmpd="sng">
            <a:solidFill>
              <a:srgbClr val="1EAA73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状态正常</a:t>
            </a:r>
          </a:p>
        </p:txBody>
      </p:sp>
      <p:sp>
        <p:nvSpPr>
          <p:cNvPr id="18" name="AutoShape 18"/>
          <p:cNvSpPr/>
          <p:nvPr/>
        </p:nvSpPr>
        <p:spPr>
          <a:xfrm>
            <a:off x="4400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400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654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02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进度状态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14946">
            <a:off x="4654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4400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400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4654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05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资源状态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Connector 28"/>
          <p:cNvCxnSpPr/>
          <p:nvPr/>
        </p:nvCxnSpPr>
        <p:spPr>
          <a:xfrm rot="-14946">
            <a:off x="4654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text.progress_status_value"/>
          <p:cNvSpPr/>
          <p:nvPr/>
        </p:nvSpPr>
        <p:spPr>
          <a:xfrm>
            <a:off x="4784326" y="23659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按计划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083319" y="15277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083319" y="15277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337319" y="17182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03 </a:t>
            </a:r>
            <a:r>
              <a:rPr lang="zh-CN" alt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项目进度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Connector 35"/>
          <p:cNvCxnSpPr/>
          <p:nvPr/>
        </p:nvCxnSpPr>
        <p:spPr>
          <a:xfrm rot="-14946">
            <a:off x="8337333" y="22198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" name="text.project_progress_value"/>
          <p:cNvSpPr/>
          <p:nvPr/>
        </p:nvSpPr>
        <p:spPr>
          <a:xfrm>
            <a:off x="8337318" y="2416729"/>
            <a:ext cx="2231885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累积完成 68%</a:t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altLang="zh-CN" sz="24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6BFD8B92-D7AA-4063-9EA6-B44E78DC4414}"/>
              </a:ext>
            </a:extLst>
          </p:cNvPr>
          <p:cNvGrpSpPr/>
          <p:nvPr/>
        </p:nvGrpSpPr>
        <p:grpSpPr>
          <a:xfrm>
            <a:off x="10510870" y="2481468"/>
            <a:ext cx="1016000" cy="353350"/>
            <a:chOff x="10510870" y="2520808"/>
            <a:chExt cx="1016000" cy="353350"/>
          </a:xfrm>
        </p:grpSpPr>
        <p:sp>
          <p:nvSpPr>
            <p:cNvPr id="37" name="AutoShape 37"/>
            <p:cNvSpPr/>
            <p:nvPr/>
          </p:nvSpPr>
          <p:spPr>
            <a:xfrm>
              <a:off x="10528348" y="2543958"/>
              <a:ext cx="946333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AutoShape 38"/>
            <p:cNvSpPr/>
            <p:nvPr/>
          </p:nvSpPr>
          <p:spPr>
            <a:xfrm>
              <a:off x="10510870" y="2520808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进度</a:t>
              </a:r>
              <a:r>
                <a:rPr lang="en-US" altLang="zh-CN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Noto Sans SC"/>
                </a:rPr>
                <a:t>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AutoShape 39"/>
          <p:cNvSpPr/>
          <p:nvPr/>
        </p:nvSpPr>
        <p:spPr>
          <a:xfrm>
            <a:off x="8083319" y="3877229"/>
            <a:ext cx="3429000" cy="1968500"/>
          </a:xfrm>
          <a:prstGeom prst="roundRect">
            <a:avLst>
              <a:gd name="adj" fmla="val 0"/>
            </a:avLst>
          </a:prstGeom>
          <a:solidFill>
            <a:srgbClr val="F7F8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8083319" y="3877229"/>
            <a:ext cx="76200" cy="19685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8337319" y="4067729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06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经营状态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2" name="Connector 42"/>
          <p:cNvCxnSpPr/>
          <p:nvPr/>
        </p:nvCxnSpPr>
        <p:spPr>
          <a:xfrm rot="-14946">
            <a:off x="8337333" y="456937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text.business_status_value"/>
          <p:cNvSpPr/>
          <p:nvPr/>
        </p:nvSpPr>
        <p:spPr>
          <a:xfrm>
            <a:off x="8362719" y="4804329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预算使用率 61%</a:t>
            </a:r>
            <a:r>
              <a:rPr lang="en-US" altLang="zh-CN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73AE374D-D40F-40DA-AB22-814A3C811946}"/>
              </a:ext>
            </a:extLst>
          </p:cNvPr>
          <p:cNvGrpSpPr/>
          <p:nvPr/>
        </p:nvGrpSpPr>
        <p:grpSpPr>
          <a:xfrm>
            <a:off x="10481429" y="4829729"/>
            <a:ext cx="1016000" cy="330200"/>
            <a:chOff x="10481429" y="4829729"/>
            <a:chExt cx="1016000" cy="330200"/>
          </a:xfrm>
        </p:grpSpPr>
        <p:sp>
          <p:nvSpPr>
            <p:cNvPr id="44" name="AutoShape 44"/>
            <p:cNvSpPr/>
            <p:nvPr/>
          </p:nvSpPr>
          <p:spPr>
            <a:xfrm>
              <a:off x="10481429" y="48297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FFC107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AutoShape 45"/>
            <p:cNvSpPr/>
            <p:nvPr/>
          </p:nvSpPr>
          <p:spPr>
            <a:xfrm>
              <a:off x="10481429" y="48297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algn="ctr">
                <a:lnSpc>
                  <a:spcPct val="125000"/>
                </a:lnSpc>
                <a:defRPr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需要关注</a:t>
              </a:r>
              <a:endPara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text.dashboard_title">
            <a:extLst>
              <a:ext uri="{FF2B5EF4-FFF2-40B4-BE49-F238E27FC236}">
                <a16:creationId xmlns:a16="http://schemas.microsoft.com/office/drawing/2014/main" id="{B537450D-8D3C-4F0F-BD71-89DF053850BD}"/>
              </a:ext>
            </a:extLst>
          </p:cNvPr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仪表盘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AutoShape 3">
            <a:extLst>
              <a:ext uri="{FF2B5EF4-FFF2-40B4-BE49-F238E27FC236}">
                <a16:creationId xmlns:a16="http://schemas.microsoft.com/office/drawing/2014/main" id="{F58E4053-AEE7-41CA-878E-EA3AEF1D9DD9}"/>
              </a:ext>
            </a:extLst>
          </p:cNvPr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.technical_status_value"/>
          <p:cNvSpPr/>
          <p:nvPr/>
        </p:nvSpPr>
        <p:spPr>
          <a:xfrm>
            <a:off x="971319" y="4892097"/>
            <a:ext cx="1919547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技术满足度92%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24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AutoShape 23">
            <a:extLst>
              <a:ext uri="{FF2B5EF4-FFF2-40B4-BE49-F238E27FC236}">
                <a16:creationId xmlns:a16="http://schemas.microsoft.com/office/drawing/2014/main" id="{C09128E5-EE5B-4604-8145-1935E694A316}"/>
              </a:ext>
            </a:extLst>
          </p:cNvPr>
          <p:cNvSpPr/>
          <p:nvPr/>
        </p:nvSpPr>
        <p:spPr>
          <a:xfrm>
            <a:off x="6622819" y="4815897"/>
            <a:ext cx="1016000" cy="330200"/>
          </a:xfrm>
          <a:prstGeom prst="roundRect">
            <a:avLst>
              <a:gd name="adj" fmla="val 0"/>
            </a:avLst>
          </a:prstGeom>
          <a:solidFill>
            <a:srgbClr val="FFC10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shape.resource_status_badge">
            <a:extLst>
              <a:ext uri="{FF2B5EF4-FFF2-40B4-BE49-F238E27FC236}">
                <a16:creationId xmlns:a16="http://schemas.microsoft.com/office/drawing/2014/main" id="{43A6A115-3E0F-4E7F-AB73-BA6917C45CBA}"/>
              </a:ext>
            </a:extLst>
          </p:cNvPr>
          <p:cNvSpPr/>
          <p:nvPr/>
        </p:nvSpPr>
        <p:spPr>
          <a:xfrm>
            <a:off x="6622819" y="4815897"/>
            <a:ext cx="1016000" cy="330200"/>
          </a:xfrm>
          <a:prstGeom prst="rect">
            <a:avLst/>
          </a:prstGeom>
          <a:solidFill>
            <a:srgbClr val="FFF5D6"/>
          </a:solidFill>
          <a:ln w="12700" cap="flat" cmpd="sng">
            <a:solidFill>
              <a:srgbClr val="D99A00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需要关注</a:t>
            </a:r>
          </a:p>
        </p:txBody>
      </p:sp>
      <p:sp>
        <p:nvSpPr>
          <p:cNvPr id="52" name="shape.progress_status_badge">
            <a:extLst>
              <a:ext uri="{FF2B5EF4-FFF2-40B4-BE49-F238E27FC236}">
                <a16:creationId xmlns:a16="http://schemas.microsoft.com/office/drawing/2014/main" id="{6B3EF87F-F276-44EB-BAD1-37054693076B}"/>
              </a:ext>
            </a:extLst>
          </p:cNvPr>
          <p:cNvSpPr/>
          <p:nvPr/>
        </p:nvSpPr>
        <p:spPr>
          <a:xfrm>
            <a:off x="6459223" y="2473879"/>
            <a:ext cx="1016000" cy="330200"/>
          </a:xfrm>
          <a:prstGeom prst="rect">
            <a:avLst/>
          </a:prstGeom>
          <a:solidFill>
            <a:srgbClr val="E7F6EF"/>
          </a:solidFill>
          <a:ln w="12700" cap="flat" cmpd="sng">
            <a:solidFill>
              <a:srgbClr val="1EAA73"/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t>状态正常</a:t>
            </a: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8AB95B9-E431-41DA-980B-87112902B146}"/>
              </a:ext>
            </a:extLst>
          </p:cNvPr>
          <p:cNvGrpSpPr/>
          <p:nvPr/>
        </p:nvGrpSpPr>
        <p:grpSpPr>
          <a:xfrm>
            <a:off x="6446323" y="2480343"/>
            <a:ext cx="1029413" cy="355600"/>
            <a:chOff x="2926406" y="2454829"/>
            <a:chExt cx="1029413" cy="355600"/>
          </a:xfrm>
        </p:grpSpPr>
        <p:sp>
          <p:nvSpPr>
            <p:cNvPr id="55" name="AutoShape 9">
              <a:extLst>
                <a:ext uri="{FF2B5EF4-FFF2-40B4-BE49-F238E27FC236}">
                  <a16:creationId xmlns:a16="http://schemas.microsoft.com/office/drawing/2014/main" id="{8DF699AD-26DE-4874-8D78-5829E1D0D9D1}"/>
                </a:ext>
              </a:extLst>
            </p:cNvPr>
            <p:cNvSpPr/>
            <p:nvPr/>
          </p:nvSpPr>
          <p:spPr>
            <a:xfrm>
              <a:off x="2939819" y="2480229"/>
              <a:ext cx="1016000" cy="330200"/>
            </a:xfrm>
            <a:prstGeom prst="roundRect">
              <a:avLst>
                <a:gd name="adj" fmla="val 0"/>
              </a:avLst>
            </a:prstGeom>
            <a:solidFill>
              <a:srgbClr val="28A745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AutoShape 10">
              <a:extLst>
                <a:ext uri="{FF2B5EF4-FFF2-40B4-BE49-F238E27FC236}">
                  <a16:creationId xmlns:a16="http://schemas.microsoft.com/office/drawing/2014/main" id="{D0509D4C-E1B6-438A-B477-083EE83EDC7A}"/>
                </a:ext>
              </a:extLst>
            </p:cNvPr>
            <p:cNvSpPr/>
            <p:nvPr/>
          </p:nvSpPr>
          <p:spPr>
            <a:xfrm>
              <a:off x="2926406" y="2454829"/>
              <a:ext cx="1016000" cy="3302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ctr">
                <a:lnSpc>
                  <a:spcPct val="125000"/>
                </a:lnSpc>
                <a:defRPr/>
              </a:pPr>
              <a:r>
                <a:rPr lang="en-US" sz="1400" b="1" i="0" u="none" strike="noStrike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Noto Sans SC"/>
                  <a:sym typeface="Noto Sans SC"/>
                </a:rPr>
                <a:t>状态xx</a:t>
              </a:r>
              <a:endParaRPr 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.resource_status_value"/>
          <p:cNvSpPr/>
          <p:nvPr/>
        </p:nvSpPr>
        <p:spPr>
          <a:xfrm>
            <a:off x="4628919" y="4726997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资源到位88%</a:t>
            </a:r>
            <a:r>
              <a:rPr lang="en-US" altLang="zh-CN" sz="2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/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595120"/>
            <a:ext cx="76200" cy="4064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71319" y="14897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项目整体概况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10110">
            <a:off x="971329" y="203327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text.overall_progress_summary"/>
          <p:cNvSpPr/>
          <p:nvPr/>
        </p:nvSpPr>
        <p:spPr>
          <a:xfrm>
            <a:off x="971319" y="248412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800" b="0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项目整体进展符合计划，核心功能联调完成，现场调测和验收材料准备同步推进。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71319" y="4516120"/>
            <a:ext cx="4318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.key_conclusion"/>
          <p:cNvSpPr/>
          <p:nvPr/>
        </p:nvSpPr>
        <p:spPr>
          <a:xfrm>
            <a:off x="1098319" y="468122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b="1" i="0" u="none" strike="noStrike" dirty="0">
                <a:solidFill>
                  <a:srgbClr val="0052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关键结论：本期完成核心链路调测，主要风险处于可控范围。</a:t>
            </a:r>
            <a:r>
              <a:rPr lang="en-US" altLang="zh-CN" sz="1200" b="0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b="0" i="0" u="none" strike="noStrike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1709420"/>
            <a:ext cx="4826000" cy="241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50800" cap="flat" cmpd="sng">
            <a:solidFill>
              <a:srgbClr val="0052C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189992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本期关键进展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.key_progress"/>
          <p:cNvSpPr/>
          <p:nvPr/>
        </p:nvSpPr>
        <p:spPr>
          <a:xfrm>
            <a:off x="6350000" y="2407920"/>
            <a:ext cx="4318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完成设备接入、订单同步、数据看板三条主链路调测；完成客户验收脚本初版评审。</a:t>
            </a:r>
            <a:endParaRPr 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96000" y="4516120"/>
            <a:ext cx="4826000" cy="1143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55789" y="4560455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风险及问题</a:t>
            </a:r>
            <a:r>
              <a:rPr lang="en-US" sz="16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管理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.risk_issue_summary"/>
          <p:cNvSpPr/>
          <p:nvPr/>
        </p:nvSpPr>
        <p:spPr>
          <a:xfrm>
            <a:off x="6255788" y="4887653"/>
            <a:ext cx="4477789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本期成功关闭 4 个问题或风险，现有 3 个问题或风险在处理中。</a:t>
            </a:r>
            <a:r>
              <a:rPr lang="en-US" altLang="zh-CN" sz="1200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zh-CN" altLang="en-US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altLang="zh-CN" sz="1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altLang="zh-CN" sz="1200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zh-CN" altLang="en-US" sz="1200" b="0" i="0" u="none" strike="noStrike" dirty="0">
                <a:solidFill>
                  <a:srgbClr val="5555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.overall_progress_title">
            <a:extLst>
              <a:ext uri="{FF2B5EF4-FFF2-40B4-BE49-F238E27FC236}">
                <a16:creationId xmlns:a16="http://schemas.microsoft.com/office/drawing/2014/main" id="{91C5E60D-E388-42AE-AF96-21195E0717FB}"/>
              </a:ext>
            </a:extLst>
          </p:cNvPr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整体进展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7E6A677F-EC09-4783-86FB-3168955A939E}"/>
              </a:ext>
            </a:extLst>
          </p:cNvPr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.delivery_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41145"/>
              </p:ext>
            </p:extLst>
          </p:nvPr>
        </p:nvGraphicFramePr>
        <p:xfrm>
          <a:off x="655554" y="2577148"/>
          <a:ext cx="10795000" cy="34493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83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4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1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阶段名称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任务名称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产品线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任务状态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计划完成时间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实际完成时间</a:t>
                      </a:r>
                      <a:r>
                        <a:rPr lang="zh-CN" alt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0052C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责任人</a:t>
                      </a:r>
                      <a:endParaRPr lang="en-US" sz="9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C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发货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平台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2026/04/10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2026/04/09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李强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b="0" i="0" u="none" strike="noStrike" dirty="0">
                          <a:solidFill>
                            <a:srgbClr val="33333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Noto Sans SC"/>
                        </a:rPr>
                        <a:t>现场收货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平台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2026/04/12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2026/04/12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王琳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准备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蓝图设计确认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交付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D99A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延期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2026/04/18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2026/04/21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赵强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253238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设备安装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交付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10B98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已完成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2026/05/12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2026/05/12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李强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246782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安装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质量检查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交付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1" i="0" u="none" strike="noStrike" dirty="0">
                          <a:solidFill>
                            <a:srgbClr val="66666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暂停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2026/05/18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-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王琳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738107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系统调测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平台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2026/06/18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-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张明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691906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配置检查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平台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进行中</a:t>
                      </a:r>
                      <a:endParaRPr lang="en-US" altLang="zh-CN" sz="900" b="1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2026/06/20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-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赵强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177001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培训移交</a:t>
                      </a:r>
                      <a:r>
                        <a:rPr lang="en-US" altLang="zh-CN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交付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rgbClr val="99999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取消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2026/06/28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-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李强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3537344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9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客户验收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平台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CN" altLang="en-US" sz="9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未开始</a:t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2026/07/05</a:t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/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-</a:t>
                      </a:r>
                      <a:endParaRPr lang="en-US" altLang="zh-CN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900" b="0" i="0" u="none" strike="noStrike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/>
                          <a:sym typeface="Noto Sans SC"/>
                        </a:rPr>
                        <a:t>张明</a:t>
                      </a:r>
                      <a:endParaRPr lang="en-US" sz="90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624590"/>
                  </a:ext>
                </a:extLst>
              </a:tr>
              <a:tr h="31358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t/>
                      </a:r>
                      <a:endParaRPr lang="en-US" altLang="zh-CN" sz="9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t/>
                      </a:r>
                      <a:endParaRPr lang="en-US" altLang="zh-CN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t/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147420"/>
                  </a:ext>
                </a:extLst>
              </a:tr>
            </a:tbl>
          </a:graphicData>
        </a:graphic>
      </p:graphicFrame>
      <p:sp>
        <p:nvSpPr>
          <p:cNvPr id="17" name="text.delivery_plan_title">
            <a:extLst>
              <a:ext uri="{FF2B5EF4-FFF2-40B4-BE49-F238E27FC236}">
                <a16:creationId xmlns:a16="http://schemas.microsoft.com/office/drawing/2014/main" id="{7FB107B8-4260-4704-B353-41F789B5A1E8}"/>
              </a:ext>
            </a:extLst>
          </p:cNvPr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项目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交付计划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AutoShape 3">
            <a:extLst>
              <a:ext uri="{FF2B5EF4-FFF2-40B4-BE49-F238E27FC236}">
                <a16:creationId xmlns:a16="http://schemas.microsoft.com/office/drawing/2014/main" id="{F3BA4692-E2DA-435A-AE2C-90BEC5460C28}"/>
              </a:ext>
            </a:extLst>
          </p:cNvPr>
          <p:cNvSpPr/>
          <p:nvPr/>
        </p:nvSpPr>
        <p:spPr>
          <a:xfrm>
            <a:off x="717319" y="940225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milestone.delivery"/>
          <p:cNvSpPr/>
          <p:nvPr/>
        </p:nvSpPr>
        <p:spPr>
          <a:xfrm>
            <a:off x="655554" y="1152469"/>
            <a:ext cx="10763017" cy="1116443"/>
          </a:xfrm>
          <a:prstGeom prst="roundRect">
            <a:avLst>
              <a:gd name="adj" fmla="val 3590"/>
            </a:avLst>
          </a:prstGeom>
          <a:solidFill>
            <a:schemeClr val="accent4">
              <a:lumMod val="20000"/>
              <a:lumOff val="80000"/>
            </a:schemeClr>
          </a:solidFill>
          <a:ln w="3175" cap="flat" cmpd="sng" algn="ctr">
            <a:gradFill flip="none" rotWithShape="1">
              <a:gsLst>
                <a:gs pos="50000">
                  <a:srgbClr val="FFFFFF">
                    <a:alpha val="10000"/>
                  </a:srgbClr>
                </a:gs>
                <a:gs pos="90000">
                  <a:sysClr val="window" lastClr="FFFFFF">
                    <a:alpha val="0"/>
                  </a:sysClr>
                </a:gs>
                <a:gs pos="10000">
                  <a:sysClr val="window" lastClr="FFFFFF">
                    <a:alpha val="0"/>
                  </a:sysClr>
                </a:gs>
                <a:gs pos="0">
                  <a:sysClr val="windowText" lastClr="000000">
                    <a:lumMod val="50000"/>
                    <a:lumOff val="50000"/>
                    <a:alpha val="50000"/>
                  </a:sysClr>
                </a:gs>
                <a:gs pos="100000">
                  <a:sysClr val="windowText" lastClr="000000">
                    <a:lumMod val="50000"/>
                    <a:lumOff val="50000"/>
                    <a:alpha val="50000"/>
                  </a:sysClr>
                </a:gs>
              </a:gsLst>
              <a:lin ang="5400000" scaled="0"/>
              <a:tileRect/>
            </a:gra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0" name="milestone.delivery.line"/>
          <p:cNvCxnSpPr/>
          <p:nvPr/>
        </p:nvCxnSpPr>
        <p:spPr>
          <a:xfrm>
            <a:off x="1067034" y="1710690"/>
            <a:ext cx="9940057" cy="0"/>
          </a:xfrm>
          <a:prstGeom prst="line">
            <a:avLst/>
          </a:prstGeom>
          <a:ln w="19050">
            <a:solidFill>
              <a:srgbClr val="445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milestone.delivery.item_1.date"/>
          <p:cNvSpPr txBox="1"/>
          <p:nvPr/>
        </p:nvSpPr>
        <p:spPr>
          <a:xfrm>
            <a:off x="357030" y="1290066"/>
            <a:ext cx="142000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</a:rPr>
              <a:t>04-10</a:t>
            </a:r>
          </a:p>
        </p:txBody>
      </p:sp>
      <p:sp>
        <p:nvSpPr>
          <p:cNvPr id="22" name="milestone.delivery.item_1.node"/>
          <p:cNvSpPr/>
          <p:nvPr/>
        </p:nvSpPr>
        <p:spPr>
          <a:xfrm>
            <a:off x="966450" y="1610106"/>
            <a:ext cx="201168" cy="201168"/>
          </a:xfrm>
          <a:prstGeom prst="ellipse">
            <a:avLst/>
          </a:prstGeom>
          <a:solidFill>
            <a:srgbClr val="0052CC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ilestone.delivery.item_1.label"/>
          <p:cNvSpPr txBox="1"/>
          <p:nvPr/>
        </p:nvSpPr>
        <p:spPr>
          <a:xfrm>
            <a:off x="357030" y="1841449"/>
            <a:ext cx="142000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</a:rPr>
              <a:t>发货</a:t>
            </a:r>
          </a:p>
        </p:txBody>
      </p:sp>
      <p:sp>
        <p:nvSpPr>
          <p:cNvPr id="24" name="milestone.delivery.item_2.date"/>
          <p:cNvSpPr txBox="1"/>
          <p:nvPr/>
        </p:nvSpPr>
        <p:spPr>
          <a:xfrm>
            <a:off x="2013706" y="1290066"/>
            <a:ext cx="142000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</a:rPr>
              <a:t>04-12</a:t>
            </a:r>
          </a:p>
        </p:txBody>
      </p:sp>
      <p:sp>
        <p:nvSpPr>
          <p:cNvPr id="25" name="milestone.delivery.item_2.node"/>
          <p:cNvSpPr/>
          <p:nvPr/>
        </p:nvSpPr>
        <p:spPr>
          <a:xfrm>
            <a:off x="2623126" y="1610106"/>
            <a:ext cx="201168" cy="201168"/>
          </a:xfrm>
          <a:prstGeom prst="ellipse">
            <a:avLst/>
          </a:prstGeom>
          <a:solidFill>
            <a:srgbClr val="0052CC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ilestone.delivery.item_2.label"/>
          <p:cNvSpPr txBox="1"/>
          <p:nvPr/>
        </p:nvSpPr>
        <p:spPr>
          <a:xfrm>
            <a:off x="2013706" y="1841449"/>
            <a:ext cx="142000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</a:rPr>
              <a:t>收货</a:t>
            </a:r>
          </a:p>
        </p:txBody>
      </p:sp>
      <p:sp>
        <p:nvSpPr>
          <p:cNvPr id="27" name="milestone.delivery.item_3.date"/>
          <p:cNvSpPr txBox="1"/>
          <p:nvPr/>
        </p:nvSpPr>
        <p:spPr>
          <a:xfrm>
            <a:off x="3670382" y="1290066"/>
            <a:ext cx="142000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</a:rPr>
              <a:t>04-20</a:t>
            </a:r>
          </a:p>
        </p:txBody>
      </p:sp>
      <p:sp>
        <p:nvSpPr>
          <p:cNvPr id="28" name="milestone.delivery.item_3.node"/>
          <p:cNvSpPr/>
          <p:nvPr/>
        </p:nvSpPr>
        <p:spPr>
          <a:xfrm>
            <a:off x="4279802" y="1610106"/>
            <a:ext cx="201168" cy="201168"/>
          </a:xfrm>
          <a:prstGeom prst="ellipse">
            <a:avLst/>
          </a:prstGeom>
          <a:solidFill>
            <a:srgbClr val="0052CC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milestone.delivery.item_3.label"/>
          <p:cNvSpPr txBox="1"/>
          <p:nvPr/>
        </p:nvSpPr>
        <p:spPr>
          <a:xfrm>
            <a:off x="3670382" y="1841449"/>
            <a:ext cx="142000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</a:rPr>
              <a:t>设计</a:t>
            </a:r>
          </a:p>
        </p:txBody>
      </p:sp>
      <p:sp>
        <p:nvSpPr>
          <p:cNvPr id="30" name="milestone.delivery.item_4.date"/>
          <p:cNvSpPr txBox="1"/>
          <p:nvPr/>
        </p:nvSpPr>
        <p:spPr>
          <a:xfrm>
            <a:off x="5327058" y="1290066"/>
            <a:ext cx="142000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</a:rPr>
              <a:t>05-12</a:t>
            </a:r>
          </a:p>
        </p:txBody>
      </p:sp>
      <p:sp>
        <p:nvSpPr>
          <p:cNvPr id="31" name="milestone.delivery.item_4.node"/>
          <p:cNvSpPr/>
          <p:nvPr/>
        </p:nvSpPr>
        <p:spPr>
          <a:xfrm>
            <a:off x="5936478" y="1610106"/>
            <a:ext cx="201168" cy="201168"/>
          </a:xfrm>
          <a:prstGeom prst="ellipse">
            <a:avLst/>
          </a:prstGeom>
          <a:solidFill>
            <a:srgbClr val="0052CC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milestone.delivery.item_4.label"/>
          <p:cNvSpPr txBox="1"/>
          <p:nvPr/>
        </p:nvSpPr>
        <p:spPr>
          <a:xfrm>
            <a:off x="5327058" y="1841449"/>
            <a:ext cx="142000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</a:rPr>
              <a:t>安装</a:t>
            </a:r>
          </a:p>
        </p:txBody>
      </p:sp>
      <p:sp>
        <p:nvSpPr>
          <p:cNvPr id="33" name="milestone.delivery.item_5.date"/>
          <p:cNvSpPr txBox="1"/>
          <p:nvPr/>
        </p:nvSpPr>
        <p:spPr>
          <a:xfrm>
            <a:off x="6983735" y="1290066"/>
            <a:ext cx="142000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</a:rPr>
              <a:t>05-18</a:t>
            </a:r>
          </a:p>
        </p:txBody>
      </p:sp>
      <p:sp>
        <p:nvSpPr>
          <p:cNvPr id="34" name="milestone.delivery.item_5.node"/>
          <p:cNvSpPr/>
          <p:nvPr/>
        </p:nvSpPr>
        <p:spPr>
          <a:xfrm>
            <a:off x="7593155" y="1610106"/>
            <a:ext cx="201168" cy="201168"/>
          </a:xfrm>
          <a:prstGeom prst="ellipse">
            <a:avLst/>
          </a:prstGeom>
          <a:solidFill>
            <a:srgbClr val="0052CC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milestone.delivery.item_5.label"/>
          <p:cNvSpPr txBox="1"/>
          <p:nvPr/>
        </p:nvSpPr>
        <p:spPr>
          <a:xfrm>
            <a:off x="6983735" y="1841449"/>
            <a:ext cx="142000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</a:rPr>
              <a:t>质检</a:t>
            </a:r>
          </a:p>
        </p:txBody>
      </p:sp>
      <p:sp>
        <p:nvSpPr>
          <p:cNvPr id="36" name="milestone.delivery.item_6.date"/>
          <p:cNvSpPr txBox="1"/>
          <p:nvPr/>
        </p:nvSpPr>
        <p:spPr>
          <a:xfrm>
            <a:off x="8640411" y="1290066"/>
            <a:ext cx="142000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</a:rPr>
              <a:t>06-20</a:t>
            </a:r>
          </a:p>
        </p:txBody>
      </p:sp>
      <p:sp>
        <p:nvSpPr>
          <p:cNvPr id="37" name="milestone.delivery.item_6.node"/>
          <p:cNvSpPr/>
          <p:nvPr/>
        </p:nvSpPr>
        <p:spPr>
          <a:xfrm>
            <a:off x="9249831" y="161010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milestone.delivery.item_6.label"/>
          <p:cNvSpPr txBox="1"/>
          <p:nvPr/>
        </p:nvSpPr>
        <p:spPr>
          <a:xfrm>
            <a:off x="8640411" y="1841449"/>
            <a:ext cx="142000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</a:rPr>
              <a:t>调测</a:t>
            </a:r>
          </a:p>
        </p:txBody>
      </p:sp>
      <p:sp>
        <p:nvSpPr>
          <p:cNvPr id="39" name="milestone.delivery.item_7.date"/>
          <p:cNvSpPr txBox="1"/>
          <p:nvPr/>
        </p:nvSpPr>
        <p:spPr>
          <a:xfrm>
            <a:off x="10297087" y="1290066"/>
            <a:ext cx="1420008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00000"/>
                </a:solidFill>
              </a:rPr>
              <a:t>07-05</a:t>
            </a:r>
          </a:p>
        </p:txBody>
      </p:sp>
      <p:sp>
        <p:nvSpPr>
          <p:cNvPr id="40" name="milestone.delivery.item_7.node"/>
          <p:cNvSpPr/>
          <p:nvPr/>
        </p:nvSpPr>
        <p:spPr>
          <a:xfrm>
            <a:off x="10906507" y="1610106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ilestone.delivery.item_7.label"/>
          <p:cNvSpPr txBox="1"/>
          <p:nvPr/>
        </p:nvSpPr>
        <p:spPr>
          <a:xfrm>
            <a:off x="10297087" y="1841449"/>
            <a:ext cx="1420008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66666"/>
                </a:solidFill>
              </a:rPr>
              <a:t>验收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.top_issues_title">
            <a:extLst>
              <a:ext uri="{FF2B5EF4-FFF2-40B4-BE49-F238E27FC236}">
                <a16:creationId xmlns:a16="http://schemas.microsoft.com/office/drawing/2014/main" id="{B2A4F3A7-3D29-4BDB-A52E-E40C4BEA109A}"/>
              </a:ext>
            </a:extLst>
          </p:cNvPr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TOP</a:t>
            </a: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问题与风险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96704883-E55B-4E9B-96B0-A5C2CD1AE112}"/>
              </a:ext>
            </a:extLst>
          </p:cNvPr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op_issues.cards.item_1.card"/>
          <p:cNvSpPr/>
          <p:nvPr/>
        </p:nvSpPr>
        <p:spPr>
          <a:xfrm>
            <a:off x="701102" y="1179536"/>
            <a:ext cx="10668000" cy="1578627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op_issues.cards.item_1.strip"/>
          <p:cNvSpPr/>
          <p:nvPr/>
        </p:nvSpPr>
        <p:spPr>
          <a:xfrm>
            <a:off x="701102" y="1179536"/>
            <a:ext cx="73152" cy="1578627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op_issues.cards.item_1.severity"/>
          <p:cNvSpPr txBox="1"/>
          <p:nvPr/>
        </p:nvSpPr>
        <p:spPr>
          <a:xfrm>
            <a:off x="883982" y="1432116"/>
            <a:ext cx="640080" cy="568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D64545"/>
                </a:solidFill>
              </a:rPr>
              <a:t>紧急</a:t>
            </a:r>
          </a:p>
        </p:txBody>
      </p:sp>
      <p:sp>
        <p:nvSpPr>
          <p:cNvPr id="21" name="top_issues.cards.item_1.description"/>
          <p:cNvSpPr txBox="1"/>
          <p:nvPr/>
        </p:nvSpPr>
        <p:spPr>
          <a:xfrm>
            <a:off x="1524062" y="1368971"/>
            <a:ext cx="9735312" cy="4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问题描述：创建时间2026-06-06 10:30，当前进展客户验收窗口尚未最终确认，可能影响验收排期。</a:t>
            </a:r>
          </a:p>
        </p:txBody>
      </p:sp>
      <p:sp>
        <p:nvSpPr>
          <p:cNvPr id="22" name="top_issues.cards.item_1.action"/>
          <p:cNvSpPr txBox="1"/>
          <p:nvPr/>
        </p:nvSpPr>
        <p:spPr>
          <a:xfrm>
            <a:off x="1524062" y="1842559"/>
            <a:ext cx="9735312" cy="378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解决措施与进展：已协调客户项目经理锁定评审窗口，并准备备选会议时间。</a:t>
            </a:r>
          </a:p>
        </p:txBody>
      </p:sp>
      <p:sp>
        <p:nvSpPr>
          <p:cNvPr id="23" name="top_issues.cards.item_1.meta"/>
          <p:cNvSpPr txBox="1"/>
          <p:nvPr/>
        </p:nvSpPr>
        <p:spPr>
          <a:xfrm>
            <a:off x="1524062" y="2284574"/>
            <a:ext cx="9735312" cy="347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责任人：张明   |  状态：跟踪中  | 计划解决时间：2026-06-14</a:t>
            </a:r>
          </a:p>
        </p:txBody>
      </p:sp>
      <p:sp>
        <p:nvSpPr>
          <p:cNvPr id="24" name="top_issues.cards.item_2.card"/>
          <p:cNvSpPr/>
          <p:nvPr/>
        </p:nvSpPr>
        <p:spPr>
          <a:xfrm>
            <a:off x="701102" y="2867891"/>
            <a:ext cx="10668000" cy="1578627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op_issues.cards.item_2.strip"/>
          <p:cNvSpPr/>
          <p:nvPr/>
        </p:nvSpPr>
        <p:spPr>
          <a:xfrm>
            <a:off x="701102" y="2867891"/>
            <a:ext cx="73152" cy="1578627"/>
          </a:xfrm>
          <a:prstGeom prst="rect">
            <a:avLst/>
          </a:prstGeom>
          <a:solidFill>
            <a:srgbClr val="FF8A00"/>
          </a:solidFill>
          <a:ln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op_issues.cards.item_2.severity"/>
          <p:cNvSpPr txBox="1"/>
          <p:nvPr/>
        </p:nvSpPr>
        <p:spPr>
          <a:xfrm>
            <a:off x="883982" y="3120471"/>
            <a:ext cx="640080" cy="568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8A00"/>
                </a:solidFill>
              </a:rPr>
              <a:t>重要</a:t>
            </a:r>
          </a:p>
        </p:txBody>
      </p:sp>
      <p:sp>
        <p:nvSpPr>
          <p:cNvPr id="27" name="top_issues.cards.item_2.description"/>
          <p:cNvSpPr txBox="1"/>
          <p:nvPr/>
        </p:nvSpPr>
        <p:spPr>
          <a:xfrm>
            <a:off x="1524062" y="3057326"/>
            <a:ext cx="9735312" cy="4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问题描述：创建时间2026-06-07 14:00，当前进展旧版浏览器导出兼容性仍需补测。</a:t>
            </a:r>
          </a:p>
        </p:txBody>
      </p:sp>
      <p:sp>
        <p:nvSpPr>
          <p:cNvPr id="28" name="top_issues.cards.item_2.action"/>
          <p:cNvSpPr txBox="1"/>
          <p:nvPr/>
        </p:nvSpPr>
        <p:spPr>
          <a:xfrm>
            <a:off x="1524062" y="3530914"/>
            <a:ext cx="9735312" cy="378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解决措施与进展：补充自动化用例并安排专项验证。</a:t>
            </a:r>
          </a:p>
        </p:txBody>
      </p:sp>
      <p:sp>
        <p:nvSpPr>
          <p:cNvPr id="29" name="top_issues.cards.item_2.meta"/>
          <p:cNvSpPr txBox="1"/>
          <p:nvPr/>
        </p:nvSpPr>
        <p:spPr>
          <a:xfrm>
            <a:off x="1524062" y="3972929"/>
            <a:ext cx="9735312" cy="347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责任人：王琳   |  状态：处理中  | 计划解决时间：2026-06-16</a:t>
            </a:r>
          </a:p>
        </p:txBody>
      </p:sp>
      <p:sp>
        <p:nvSpPr>
          <p:cNvPr id="30" name="top_issues.cards.item_3.card"/>
          <p:cNvSpPr/>
          <p:nvPr/>
        </p:nvSpPr>
        <p:spPr>
          <a:xfrm>
            <a:off x="701102" y="4556246"/>
            <a:ext cx="10668000" cy="1578627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op_issues.cards.item_3.strip"/>
          <p:cNvSpPr/>
          <p:nvPr/>
        </p:nvSpPr>
        <p:spPr>
          <a:xfrm>
            <a:off x="701102" y="4556246"/>
            <a:ext cx="73152" cy="1578627"/>
          </a:xfrm>
          <a:prstGeom prst="rect">
            <a:avLst/>
          </a:prstGeom>
          <a:solidFill>
            <a:srgbClr val="F5C400"/>
          </a:solidFill>
          <a:ln>
            <a:solidFill>
              <a:srgbClr val="F5C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op_issues.cards.item_3.severity"/>
          <p:cNvSpPr txBox="1"/>
          <p:nvPr/>
        </p:nvSpPr>
        <p:spPr>
          <a:xfrm>
            <a:off x="883982" y="4808826"/>
            <a:ext cx="640080" cy="568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5C400"/>
                </a:solidFill>
              </a:rPr>
              <a:t>一般</a:t>
            </a:r>
          </a:p>
        </p:txBody>
      </p:sp>
      <p:sp>
        <p:nvSpPr>
          <p:cNvPr id="33" name="top_issues.cards.item_3.description"/>
          <p:cNvSpPr txBox="1"/>
          <p:nvPr/>
        </p:nvSpPr>
        <p:spPr>
          <a:xfrm>
            <a:off x="1524062" y="4745681"/>
            <a:ext cx="9735312" cy="4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问题描述：创建时间2026-06-08 09:20，当前进展部分看板指标口径需要与业务方再次对齐。</a:t>
            </a:r>
          </a:p>
        </p:txBody>
      </p:sp>
      <p:sp>
        <p:nvSpPr>
          <p:cNvPr id="34" name="top_issues.cards.item_3.action"/>
          <p:cNvSpPr txBox="1"/>
          <p:nvPr/>
        </p:nvSpPr>
        <p:spPr>
          <a:xfrm>
            <a:off x="1524062" y="5219269"/>
            <a:ext cx="9735312" cy="378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解决措施与进展：整理指标口径说明并在周会上确认。</a:t>
            </a:r>
          </a:p>
        </p:txBody>
      </p:sp>
      <p:sp>
        <p:nvSpPr>
          <p:cNvPr id="35" name="top_issues.cards.item_3.meta"/>
          <p:cNvSpPr txBox="1"/>
          <p:nvPr/>
        </p:nvSpPr>
        <p:spPr>
          <a:xfrm>
            <a:off x="1524062" y="5661284"/>
            <a:ext cx="9735312" cy="347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责任人：赵强   |  状态：待确认  | 计划解决时间：2026-06-18</a:t>
            </a:r>
          </a:p>
        </p:txBody>
      </p:sp>
      <p:sp>
        <p:nvSpPr>
          <p:cNvPr id="36" name="top_issues.cards.item_4.card"/>
          <p:cNvSpPr/>
          <p:nvPr/>
        </p:nvSpPr>
        <p:spPr>
          <a:xfrm>
            <a:off x="701102" y="6244601"/>
            <a:ext cx="10668000" cy="1578627"/>
          </a:xfrm>
          <a:prstGeom prst="rect">
            <a:avLst/>
          </a:prstGeom>
          <a:solidFill>
            <a:srgbClr val="FFFFFF"/>
          </a:solidFill>
          <a:ln>
            <a:solidFill>
              <a:srgbClr val="E6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op_issues.cards.item_4.strip"/>
          <p:cNvSpPr/>
          <p:nvPr/>
        </p:nvSpPr>
        <p:spPr>
          <a:xfrm>
            <a:off x="701102" y="6244601"/>
            <a:ext cx="73152" cy="1578627"/>
          </a:xfrm>
          <a:prstGeom prst="rect">
            <a:avLst/>
          </a:prstGeom>
          <a:solidFill>
            <a:srgbClr val="FF8A00"/>
          </a:solidFill>
          <a:ln>
            <a:solidFill>
              <a:srgbClr val="FF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op_issues.cards.item_4.severity"/>
          <p:cNvSpPr txBox="1"/>
          <p:nvPr/>
        </p:nvSpPr>
        <p:spPr>
          <a:xfrm>
            <a:off x="883982" y="6497181"/>
            <a:ext cx="640080" cy="56830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1">
                <a:solidFill>
                  <a:srgbClr val="FF8A00"/>
                </a:solidFill>
              </a:rPr>
              <a:t>重要</a:t>
            </a:r>
          </a:p>
        </p:txBody>
      </p:sp>
      <p:sp>
        <p:nvSpPr>
          <p:cNvPr id="39" name="top_issues.cards.item_4.description"/>
          <p:cNvSpPr txBox="1"/>
          <p:nvPr/>
        </p:nvSpPr>
        <p:spPr>
          <a:xfrm>
            <a:off x="1524062" y="6434036"/>
            <a:ext cx="9735312" cy="4104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问题描述：创建时间2026-06-09 16:10，当前进展现场培训资料需补充操作截图，影响最终交付材料完整性。</a:t>
            </a:r>
          </a:p>
        </p:txBody>
      </p:sp>
      <p:sp>
        <p:nvSpPr>
          <p:cNvPr id="40" name="top_issues.cards.item_4.action"/>
          <p:cNvSpPr txBox="1"/>
          <p:nvPr/>
        </p:nvSpPr>
        <p:spPr>
          <a:xfrm>
            <a:off x="1524062" y="6907624"/>
            <a:ext cx="9735312" cy="3788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1">
                <a:solidFill>
                  <a:srgbClr val="0052CC"/>
                </a:solidFill>
              </a:rPr>
              <a:t>解决措施与进展：交付负责人已补充培训手册截图，计划在下次评审前完成客户确认。</a:t>
            </a:r>
          </a:p>
        </p:txBody>
      </p:sp>
      <p:sp>
        <p:nvSpPr>
          <p:cNvPr id="41" name="top_issues.cards.item_4.meta"/>
          <p:cNvSpPr txBox="1"/>
          <p:nvPr/>
        </p:nvSpPr>
        <p:spPr>
          <a:xfrm>
            <a:off x="1524062" y="7349639"/>
            <a:ext cx="9735312" cy="347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 b="0">
                <a:solidFill>
                  <a:srgbClr val="333333"/>
                </a:solidFill>
              </a:rPr>
              <a:t>责任人：李强   |  状态：新增  | 计划解决时间：2026-06-20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17319" y="1881093"/>
            <a:ext cx="10668000" cy="3556000"/>
          </a:xfrm>
          <a:prstGeom prst="roundRect">
            <a:avLst>
              <a:gd name="adj" fmla="val 0"/>
            </a:avLst>
          </a:prstGeom>
          <a:solidFill>
            <a:srgbClr val="0052CC">
              <a:alpha val="4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17320" y="1881093"/>
            <a:ext cx="147204" cy="3555997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.next_plan_item_1"/>
          <p:cNvSpPr/>
          <p:nvPr/>
        </p:nvSpPr>
        <p:spPr>
          <a:xfrm>
            <a:off x="1334539" y="2331534"/>
            <a:ext cx="961055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1. 完成系统调测收尾并输出调测报告。</a:t>
            </a:r>
            <a:r>
              <a:rPr lang="en-US" altLang="zh-CN" sz="18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.next_plan_title">
            <a:extLst>
              <a:ext uri="{FF2B5EF4-FFF2-40B4-BE49-F238E27FC236}">
                <a16:creationId xmlns:a16="http://schemas.microsoft.com/office/drawing/2014/main" id="{C7725FE3-97F9-47D8-B2C2-24A44643B7BF}"/>
              </a:ext>
            </a:extLst>
          </p:cNvPr>
          <p:cNvSpPr/>
          <p:nvPr/>
        </p:nvSpPr>
        <p:spPr>
          <a:xfrm>
            <a:off x="735142" y="183563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下期计划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10AB9B96-01D5-4A78-8AF0-68F0504A3E4C}"/>
              </a:ext>
            </a:extLst>
          </p:cNvPr>
          <p:cNvSpPr/>
          <p:nvPr/>
        </p:nvSpPr>
        <p:spPr>
          <a:xfrm>
            <a:off x="717319" y="1012271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/>
          </a:solidFill>
          <a:ln w="12700" cap="flat" cmpd="sng">
            <a:solidFill>
              <a:srgbClr val="1F0EFA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.next_plan_item_2">
            <a:extLst>
              <a:ext uri="{FF2B5EF4-FFF2-40B4-BE49-F238E27FC236}">
                <a16:creationId xmlns:a16="http://schemas.microsoft.com/office/drawing/2014/main" id="{C9ED0DEB-92D5-4212-A051-56429C1C935E}"/>
              </a:ext>
            </a:extLst>
          </p:cNvPr>
          <p:cNvSpPr/>
          <p:nvPr/>
        </p:nvSpPr>
        <p:spPr>
          <a:xfrm>
            <a:off x="1334539" y="3289975"/>
            <a:ext cx="9610552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2. 完成验收脚本确认，组织客户验收评审。</a:t>
            </a:r>
            <a:r>
              <a:rPr lang="en-US" sz="1800" b="1" i="0" u="none" strike="noStrike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r>
              <a:rPr lang="en-US" altLang="zh-CN" sz="1800" b="1" i="0" u="none" strike="noStrike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/>
            </a: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.thank_you"/>
          <p:cNvSpPr/>
          <p:nvPr/>
        </p:nvSpPr>
        <p:spPr>
          <a:xfrm>
            <a:off x="0" y="2667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0" i="0" u="none" strike="noStrike">
                <a:solidFill>
                  <a:srgbClr val="333333"/>
                </a:solidFill>
                <a:latin typeface="Noto Sans SC Light"/>
                <a:ea typeface="Noto Sans SC Light"/>
                <a:cs typeface="Noto Sans SC Light"/>
                <a:sym typeface="Noto Sans SC Light"/>
              </a:rPr>
              <a:t>Thank you.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715000" y="4191000"/>
            <a:ext cx="762000" cy="508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33333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553</Words>
  <Application>Microsoft Office PowerPoint</Application>
  <PresentationFormat>宽屏</PresentationFormat>
  <Paragraphs>170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Noto Sans SC</vt:lpstr>
      <vt:lpstr>Noto Sans SC Light</vt:lpstr>
      <vt:lpstr>等线 Light</vt:lpstr>
      <vt:lpstr>微软雅黑</vt:lpstr>
      <vt:lpstr>Arial</vt:lpstr>
      <vt:lpstr>Office 主题​​</vt:lpstr>
      <vt:lpstr>默认主题</vt:lpstr>
      <vt:lpstr>1_Office 主题​​</vt:lpstr>
      <vt:lpstr>xx进度报告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Zengqingquan (Levie)</dc:creator>
  <cp:lastModifiedBy>Zengqingquan (Levie)</cp:lastModifiedBy>
  <cp:revision>165</cp:revision>
  <dcterms:modified xsi:type="dcterms:W3CDTF">2026-06-10T09:46:35Z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{"Label":"1","ContentProducer":"001191110102MACQD9K64010000","ProduceID":"7648955276263459768","ReservedCode1":"","ContentPropagator":"","PropagateID":"","ReservedCode2":""}</vt:lpwstr>
  </property>
</Properties>
</file>