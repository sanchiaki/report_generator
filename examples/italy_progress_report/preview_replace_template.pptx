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678" r:id="rId5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88" y="33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slideLayout" Target="../slideLayouts/slideLayout12.xml"/><Relationship Id="rId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cover_title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xx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>进度报告</a:t>
            </a:r>
            <a:endParaRPr lang="zh-CN" altLang="en-US" sz="4800" b="1" spc="16" dirty="0">
              <a:cs typeface="等线" panose="02010600030101010101" charset="-122"/>
              <a:sym typeface="+mn-ea"/>
            </a:endParaRPr>
          </a:p>
        </p:txBody>
      </p:sp>
      <p:sp>
        <p:nvSpPr>
          <p:cNvPr id="6" name="text.cover_period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</a:t>
            </a:r>
            <a:r>
              <a:rPr lang="en-US" altLang="zh-CN" sz="2000" b="1" dirty="0"/>
              <a:t>xxxx.xx.xx – xxxx.xx.xx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/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.project_info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project_name"/>
          <p:cNvSpPr/>
          <p:nvPr/>
        </p:nvSpPr>
        <p:spPr>
          <a:xfrm>
            <a:off x="2138892" y="3113218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project_code"/>
          <p:cNvSpPr/>
          <p:nvPr/>
        </p:nvSpPr>
        <p:spPr>
          <a:xfrm>
            <a:off x="2289796" y="389784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/>
          <p:cNvCxnSpPr/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.customer_name"/>
          <p:cNvSpPr/>
          <p:nvPr/>
        </p:nvSpPr>
        <p:spPr>
          <a:xfrm>
            <a:off x="2138629" y="451013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/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endParaRPr lang="en-US" sz="1600" b="1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.project_manager"/>
          <p:cNvSpPr/>
          <p:nvPr/>
        </p:nvSpPr>
        <p:spPr>
          <a:xfrm>
            <a:off x="2138472" y="5297530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[xx]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.planned_start_date"/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/>
          <p:cNvCxnSpPr/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/>
          <p:cNvCxnSpPr/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/>
          <p:cNvCxnSpPr/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text.planned_end_date"/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.report_date"/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.project_overview_summary"/>
          <p:cNvSpPr/>
          <p:nvPr/>
        </p:nvSpPr>
        <p:spPr>
          <a:xfrm>
            <a:off x="1706245" y="1483360"/>
            <a:ext cx="95446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.project_status_value"/>
          <p:cNvSpPr/>
          <p:nvPr>
            <p:custDataLst>
              <p:tags r:id="rId5"/>
            </p:custDataLst>
          </p:nvPr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2"/>
            </p:custDataLst>
          </p:nvPr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.technical_status_badge"/>
          <p:cNvSpPr/>
          <p:nvPr>
            <p:custDataLst>
              <p:tags r:id="rId14"/>
            </p:custDataLst>
          </p:nvPr>
        </p:nvSpPr>
        <p:spPr>
          <a:xfrm>
            <a:off x="2939819" y="482972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18"/>
            </p:custDataLst>
          </p:nvPr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19"/>
            </p:custDataLst>
          </p:nvPr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>
            <p:custDataLst>
              <p:tags r:id="rId22"/>
            </p:custDataLst>
          </p:nvPr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text.progress_status_value"/>
          <p:cNvSpPr/>
          <p:nvPr>
            <p:custDataLst>
              <p:tags r:id="rId23"/>
            </p:custDataLst>
          </p:nvPr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6"/>
            </p:custDataLst>
          </p:nvPr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>
            <p:custDataLst>
              <p:tags r:id="rId27"/>
            </p:custDataLst>
          </p:nvPr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text.project_progress_value"/>
          <p:cNvSpPr/>
          <p:nvPr>
            <p:custDataLst>
              <p:tags r:id="rId28"/>
            </p:custDataLst>
          </p:nvPr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29"/>
            </p:custDataLst>
          </p:nvPr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>
              <p:custDataLst>
                <p:tags r:id="rId30"/>
              </p:custDataLst>
            </p:nvPr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>
              <p:custDataLst>
                <p:tags r:id="rId31"/>
              </p:custDataLst>
            </p:nvPr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>
            <p:custDataLst>
              <p:tags r:id="rId32"/>
            </p:custDataLst>
          </p:nvPr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>
            <p:custDataLst>
              <p:tags r:id="rId33"/>
            </p:custDataLst>
          </p:nvPr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34"/>
            </p:custDataLst>
          </p:nvPr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>
            <p:custDataLst>
              <p:tags r:id="rId35"/>
            </p:custDataLst>
          </p:nvPr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text.business_status_value"/>
          <p:cNvSpPr/>
          <p:nvPr>
            <p:custDataLst>
              <p:tags r:id="rId36"/>
            </p:custDataLst>
          </p:nvPr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37"/>
            </p:custDataLst>
          </p:nvPr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>
              <p:custDataLst>
                <p:tags r:id="rId38"/>
              </p:custDataLst>
            </p:nvPr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>
              <p:custDataLst>
                <p:tags r:id="rId39"/>
              </p:custDataLst>
            </p:nvPr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.dashboard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technical_status_value"/>
          <p:cNvSpPr/>
          <p:nvPr>
            <p:custDataLst>
              <p:tags r:id="rId40"/>
            </p:custDataLst>
          </p:nvPr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/>
          <p:cNvSpPr/>
          <p:nvPr>
            <p:custDataLst>
              <p:tags r:id="rId41"/>
            </p:custDataLst>
          </p:nvPr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.resource_status_badge"/>
          <p:cNvSpPr/>
          <p:nvPr>
            <p:custDataLst>
              <p:tags r:id="rId42"/>
            </p:custDataLst>
          </p:nvPr>
        </p:nvSpPr>
        <p:spPr>
          <a:xfrm>
            <a:off x="6622819" y="4815897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shape.progress_status_badge"/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状态正常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43"/>
            </p:custDataLst>
          </p:nvPr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/>
            <p:cNvSpPr/>
            <p:nvPr>
              <p:custDataLst>
                <p:tags r:id="rId44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/>
            <p:cNvSpPr/>
            <p:nvPr>
              <p:custDataLst>
                <p:tags r:id="rId45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.resource_status_value"/>
          <p:cNvSpPr/>
          <p:nvPr>
            <p:custDataLst>
              <p:tags r:id="rId46"/>
            </p:custDataLst>
          </p:nvPr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text.overall_progress_summary"/>
          <p:cNvSpPr/>
          <p:nvPr/>
        </p:nvSpPr>
        <p:spPr>
          <a:xfrm>
            <a:off x="971319" y="22174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.key_conclusion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.key_progress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.risk_issue_summary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风险，</a:t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现有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问题或风险在处理中。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overall_progres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.delivery_plan"/>
          <p:cNvGraphicFramePr>
            <a:graphicFrameLocks noGrp="1"/>
          </p:cNvGraphicFramePr>
          <p:nvPr/>
        </p:nvGraphicFramePr>
        <p:xfrm>
          <a:off x="655554" y="2577148"/>
          <a:ext cx="10795000" cy="37439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/>
                <a:gridCol w="1634837"/>
                <a:gridCol w="2111432"/>
                <a:gridCol w="1473895"/>
                <a:gridCol w="1397000"/>
                <a:gridCol w="1397000"/>
                <a:gridCol w="1397000"/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发货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现场收货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.delivery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/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ilestone.delivery"/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milestone.delivery.preview.line"/>
          <p:cNvCxnSpPr/>
          <p:nvPr/>
        </p:nvCxnSpPr>
        <p:spPr>
          <a:xfrm>
            <a:off x="1432794" y="1777677"/>
            <a:ext cx="9208537" cy="0"/>
          </a:xfrm>
          <a:prstGeom prst="line">
            <a:avLst/>
          </a:prstGeom>
          <a:ln w="1905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ilestone.delivery.preview.item_1.date"/>
          <p:cNvSpPr txBox="1"/>
          <p:nvPr/>
        </p:nvSpPr>
        <p:spPr>
          <a:xfrm>
            <a:off x="929874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/>
              <a:t>2026-04-10</a:t>
            </a:r>
          </a:p>
        </p:txBody>
      </p:sp>
      <p:sp>
        <p:nvSpPr>
          <p:cNvPr id="22" name="milestone.delivery.preview.item_1.node"/>
          <p:cNvSpPr/>
          <p:nvPr/>
        </p:nvSpPr>
        <p:spPr>
          <a:xfrm>
            <a:off x="1332210" y="1677093"/>
            <a:ext cx="201168" cy="201168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.delivery.preview.item_1.label"/>
          <p:cNvSpPr txBox="1"/>
          <p:nvPr/>
        </p:nvSpPr>
        <p:spPr>
          <a:xfrm>
            <a:off x="281726" y="1850829"/>
            <a:ext cx="230213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>
                <a:latin typeface="Microsoft YaHei"/>
              </a:rPr>
              <a:t>准备</a:t>
            </a:r>
          </a:p>
        </p:txBody>
      </p:sp>
      <p:sp>
        <p:nvSpPr>
          <p:cNvPr id="24" name="milestone.delivery.preview.item_2.date"/>
          <p:cNvSpPr txBox="1"/>
          <p:nvPr/>
        </p:nvSpPr>
        <p:spPr>
          <a:xfrm>
            <a:off x="3999386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/>
              <a:t>2026-05-12</a:t>
            </a:r>
          </a:p>
        </p:txBody>
      </p:sp>
      <p:sp>
        <p:nvSpPr>
          <p:cNvPr id="25" name="milestone.delivery.preview.item_2.node"/>
          <p:cNvSpPr/>
          <p:nvPr/>
        </p:nvSpPr>
        <p:spPr>
          <a:xfrm>
            <a:off x="4401722" y="1677093"/>
            <a:ext cx="201168" cy="201168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.delivery.preview.item_2.label"/>
          <p:cNvSpPr txBox="1"/>
          <p:nvPr/>
        </p:nvSpPr>
        <p:spPr>
          <a:xfrm>
            <a:off x="3351238" y="1850829"/>
            <a:ext cx="230213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>
                <a:latin typeface="Microsoft YaHei"/>
              </a:rPr>
              <a:t>安装</a:t>
            </a:r>
          </a:p>
        </p:txBody>
      </p:sp>
      <p:sp>
        <p:nvSpPr>
          <p:cNvPr id="27" name="milestone.delivery.preview.item_3.date"/>
          <p:cNvSpPr txBox="1"/>
          <p:nvPr/>
        </p:nvSpPr>
        <p:spPr>
          <a:xfrm>
            <a:off x="7068899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/>
              <a:t>2026-06-20</a:t>
            </a:r>
          </a:p>
        </p:txBody>
      </p:sp>
      <p:sp>
        <p:nvSpPr>
          <p:cNvPr id="28" name="milestone.delivery.preview.item_3.node"/>
          <p:cNvSpPr/>
          <p:nvPr/>
        </p:nvSpPr>
        <p:spPr>
          <a:xfrm>
            <a:off x="7471235" y="1677093"/>
            <a:ext cx="201168" cy="201168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ilestone.delivery.preview.item_3.node.inner"/>
          <p:cNvSpPr/>
          <p:nvPr/>
        </p:nvSpPr>
        <p:spPr>
          <a:xfrm>
            <a:off x="7519515" y="1725373"/>
            <a:ext cx="104607" cy="10460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ilestone.delivery.preview.item_3.label"/>
          <p:cNvSpPr txBox="1"/>
          <p:nvPr/>
        </p:nvSpPr>
        <p:spPr>
          <a:xfrm>
            <a:off x="6420751" y="1850829"/>
            <a:ext cx="230213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>
                <a:latin typeface="Microsoft YaHei"/>
              </a:rPr>
              <a:t>调测</a:t>
            </a:r>
          </a:p>
        </p:txBody>
      </p:sp>
      <p:sp>
        <p:nvSpPr>
          <p:cNvPr id="31" name="milestone.delivery.preview.item_4.date"/>
          <p:cNvSpPr txBox="1"/>
          <p:nvPr/>
        </p:nvSpPr>
        <p:spPr>
          <a:xfrm>
            <a:off x="10138411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/>
              <a:t>2026-07-05</a:t>
            </a:r>
          </a:p>
        </p:txBody>
      </p:sp>
      <p:sp>
        <p:nvSpPr>
          <p:cNvPr id="32" name="milestone.delivery.preview.item_4.node"/>
          <p:cNvSpPr/>
          <p:nvPr/>
        </p:nvSpPr>
        <p:spPr>
          <a:xfrm>
            <a:off x="10540747" y="1677093"/>
            <a:ext cx="201168" cy="201168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ilestone.delivery.preview.item_4.node.inner"/>
          <p:cNvSpPr/>
          <p:nvPr/>
        </p:nvSpPr>
        <p:spPr>
          <a:xfrm>
            <a:off x="10589027" y="1725373"/>
            <a:ext cx="104607" cy="10460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lestone.delivery.preview.item_4.label"/>
          <p:cNvSpPr txBox="1"/>
          <p:nvPr/>
        </p:nvSpPr>
        <p:spPr>
          <a:xfrm>
            <a:off x="9490263" y="1850829"/>
            <a:ext cx="230213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>
                <a:latin typeface="Microsoft YaHei"/>
              </a:rPr>
              <a:t>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.top_issue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op_issues.cards"/>
          <p:cNvSpPr/>
          <p:nvPr/>
        </p:nvSpPr>
        <p:spPr>
          <a:xfrm>
            <a:off x="701102" y="117953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op_issues.cards.preview.strip"/>
          <p:cNvSpPr/>
          <p:nvPr/>
        </p:nvSpPr>
        <p:spPr>
          <a:xfrm>
            <a:off x="701102" y="1179536"/>
            <a:ext cx="73152" cy="1578627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_issues.cards.preview.severity"/>
          <p:cNvSpPr txBox="1"/>
          <p:nvPr/>
        </p:nvSpPr>
        <p:spPr>
          <a:xfrm>
            <a:off x="883982" y="143211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Microsoft YaHei"/>
              </a:rPr>
              <a:t>紧急</a:t>
            </a:r>
          </a:p>
        </p:txBody>
      </p:sp>
      <p:sp>
        <p:nvSpPr>
          <p:cNvPr id="21" name="top_issues.cards.preview.description"/>
          <p:cNvSpPr txBox="1"/>
          <p:nvPr/>
        </p:nvSpPr>
        <p:spPr>
          <a:xfrm>
            <a:off x="1524062" y="136897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</a:t>
            </a:r>
            <a:r>
              <a:rPr sz="1300" b="0">
                <a:solidFill>
                  <a:srgbClr val="333333"/>
                </a:solidFill>
              </a:rPr>
              <a:t>项目开工25天后，仍未发送开工报告</a:t>
            </a:r>
          </a:p>
        </p:txBody>
      </p:sp>
      <p:sp>
        <p:nvSpPr>
          <p:cNvPr id="22" name="top_issues.cards.preview.action"/>
          <p:cNvSpPr txBox="1"/>
          <p:nvPr/>
        </p:nvSpPr>
        <p:spPr>
          <a:xfrm>
            <a:off x="1524062" y="184255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</a:t>
            </a:r>
            <a:r>
              <a:rPr sz="1300" b="0">
                <a:solidFill>
                  <a:srgbClr val="333333"/>
                </a:solidFill>
              </a:rPr>
              <a:t>待补充处理措施</a:t>
            </a:r>
          </a:p>
        </p:txBody>
      </p:sp>
      <p:sp>
        <p:nvSpPr>
          <p:cNvPr id="23" name="top_issues.cards.preview.meta"/>
          <p:cNvSpPr txBox="1"/>
          <p:nvPr/>
        </p:nvSpPr>
        <p:spPr>
          <a:xfrm>
            <a:off x="1524062" y="228457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YaHei"/>
              </a:rPr>
              <a:t>责任人：暂未分配   |  状态：处理中  | 计划解决时间：2026-06-24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.next_plan_item"/>
          <p:cNvSpPr/>
          <p:nvPr/>
        </p:nvSpPr>
        <p:spPr>
          <a:xfrm>
            <a:off x="1334770" y="2331720"/>
            <a:ext cx="9610725" cy="2945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2.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xxx</a:t>
            </a:r>
            <a:endParaRPr lang="en-US" altLang="zh-CN" sz="1100" b="1" i="0" u="none" strike="noStrike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next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thank_you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WPS 演示</Application>
  <PresentationFormat>宽屏</PresentationFormat>
  <Paragraphs>254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</vt:lpstr>
      <vt:lpstr>等线</vt:lpstr>
      <vt:lpstr>汉仪中等线KW</vt:lpstr>
      <vt:lpstr>Noto Sans SC</vt:lpstr>
      <vt:lpstr>Thonburi</vt:lpstr>
      <vt:lpstr>Noto Sans SC Light</vt:lpstr>
      <vt:lpstr>宋体</vt:lpstr>
      <vt:lpstr>Arial Unicode MS</vt:lpstr>
      <vt:lpstr>等线 Light</vt:lpstr>
      <vt:lpstr>Noto Sans SC</vt:lpstr>
      <vt:lpstr>Noto Sans SC Light</vt:lpstr>
      <vt:lpstr>微软雅黑</vt:lpstr>
      <vt:lpstr>等线</vt:lpstr>
      <vt:lpstr>汉仪书宋二KW</vt:lpstr>
      <vt:lpstr>苹方-简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4pb</cp:lastModifiedBy>
  <cp:revision>170</cp:revision>
  <dcterms:created xsi:type="dcterms:W3CDTF">2026-06-11T17:26:19Z</dcterms:created>
  <dcterms:modified xsi:type="dcterms:W3CDTF">2026-06-11T17:26:19Z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  <property fmtid="{D5CDD505-2E9C-101B-9397-08002B2CF9AE}" pid="3" name="KSOProductBuildVer">
    <vt:lpwstr>2052-12.1.26016.26016</vt:lpwstr>
  </property>
  <property fmtid="{D5CDD505-2E9C-101B-9397-08002B2CF9AE}" pid="4" name="ICV">
    <vt:lpwstr>B165E6AAC88E2D8B1FEE2A6A9196E763_42</vt:lpwstr>
  </property>
</Properties>
</file>