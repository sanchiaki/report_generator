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678" r:id="rId5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9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52CC"/>
    <a:srgbClr val="44546A"/>
    <a:srgbClr val="1F0E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6" d="100"/>
          <a:sy n="86" d="100"/>
        </p:scale>
        <p:origin x="288" y="33"/>
      </p:cViewPr>
      <p:guideLst>
        <p:guide orient="horz" pos="162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原有的表格布局显得呆板，现在我们将其优化为两个并排的卡片。左侧卡片放置项目基本信息，右侧卡片放置管理信息，结构更清晰。卡片标题使用蓝色背景，突出了信息层级，整体视觉效果更现代。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仪表盘页面的优化重点是数据可视化。我们用三列卡片布局取代了原始表格，每个指标都有独立的展示区域。通过使用不同颜色的标签（绿色代表健康，黄色代表需关注），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可以一目了然地了解各项指标的状态，信息传达效率更高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对于“项目整体进展”页面，我们采用了左右分栏的布局。左侧是对整体情况的高度概括，右侧则分点详细阐述各个模块的进展。这种布局使得信息层次分明，观众可以先建立整体认知，再深入了解细节。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页面的优化重点是将时间轴和任务表格进行分离和美化。上半部分的时间轴设计得更具视觉引导性，让观众一眼就能看清项目所处的阶段。下半部分的表格也进行了重新设计，增加了行间距和表头背景色，使其更易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在“TOP问题及风险”页面，我们通过颜色来强化优先级的视觉提示。P1级别的问题用红色背景突出，P2用橙色，让观众可以迅速抓住重点。同时，优化了表格的样式，使其更加规整和专业。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“下期计划”页面采用了带序号的卡片式布局。每个计划项都是一个独立的模块，清晰地展示了计划的核心内容。这种设计避免了大段文字的沉闷感，让计划看起来更有条理和可执行性。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最后是结束页。我们将“Thank you”设计为页面的视觉中心，使用简洁优雅的字体和较大的字号，营造出专业而不失亲和力的结束氛围。下方的“Q&amp;A”也清晰地提示了接下来的环节。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35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8625" indent="0" algn="ctr">
              <a:buNone/>
              <a:defRPr sz="2080"/>
            </a:lvl6pPr>
            <a:lvl7pPr marL="3561715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1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25780" indent="-170815">
              <a:buFont typeface="Arial" panose="020B0604020202090204" pitchFamily="34" charset="0"/>
              <a:buChar char="•"/>
              <a:tabLst>
                <a:tab pos="1207770" algn="ctr"/>
              </a:tabLst>
              <a:defRPr sz="1300" baseline="0"/>
            </a:lvl2pPr>
            <a:lvl3pPr marL="525780" indent="-170815">
              <a:buFont typeface="Arial" panose="020B0604020202090204" pitchFamily="34" charset="0"/>
              <a:buChar char="•"/>
              <a:tabLst>
                <a:tab pos="1207770" algn="ctr"/>
              </a:tabLst>
              <a:defRPr sz="1300" baseline="0"/>
            </a:lvl3pPr>
            <a:lvl4pPr marL="525780" indent="-170815">
              <a:buFont typeface="Arial" panose="020B0604020202090204" pitchFamily="34" charset="0"/>
              <a:buChar char="•"/>
              <a:tabLst>
                <a:tab pos="1207770" algn="ctr"/>
              </a:tabLst>
              <a:defRPr sz="1300" baseline="0"/>
            </a:lvl4pPr>
            <a:lvl5pPr marL="525780" indent="-170815">
              <a:buFont typeface="Arial" panose="020B0604020202090204" pitchFamily="34" charset="0"/>
              <a:buChar char="•"/>
              <a:tabLst>
                <a:tab pos="1207770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0" y="0"/>
            <a:ext cx="12201691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1080" y="2130562"/>
            <a:ext cx="700777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668" y="907092"/>
            <a:ext cx="6557418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921" y="1949372"/>
            <a:ext cx="6533460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07265" y="1402064"/>
            <a:ext cx="391960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  <a:latin typeface="微软雅黑" panose="020B0503020204020204" pitchFamily="34" charset="-122"/>
              </a:rPr>
              <a:t>Thank you.</a:t>
            </a:r>
            <a:endParaRPr lang="en-US" sz="4800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7.xml"/><Relationship Id="rId1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C5B3004-400C-43A5-AC96-1EF96FAF3383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D2F81BE-ADF2-46EA-A947-332EC6F994A9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tags" Target="../tags/tag19.xml"/><Relationship Id="rId20" Type="http://schemas.openxmlformats.org/officeDocument/2006/relationships/tags" Target="../tags/tag20.xml"/><Relationship Id="rId21" Type="http://schemas.openxmlformats.org/officeDocument/2006/relationships/tags" Target="../tags/tag21.xml"/><Relationship Id="rId22" Type="http://schemas.openxmlformats.org/officeDocument/2006/relationships/tags" Target="../tags/tag22.xml"/><Relationship Id="rId23" Type="http://schemas.openxmlformats.org/officeDocument/2006/relationships/tags" Target="../tags/tag23.xml"/><Relationship Id="rId24" Type="http://schemas.openxmlformats.org/officeDocument/2006/relationships/tags" Target="../tags/tag24.xml"/><Relationship Id="rId25" Type="http://schemas.openxmlformats.org/officeDocument/2006/relationships/tags" Target="../tags/tag25.xml"/><Relationship Id="rId26" Type="http://schemas.openxmlformats.org/officeDocument/2006/relationships/tags" Target="../tags/tag26.xml"/><Relationship Id="rId27" Type="http://schemas.openxmlformats.org/officeDocument/2006/relationships/tags" Target="../tags/tag27.xml"/><Relationship Id="rId28" Type="http://schemas.openxmlformats.org/officeDocument/2006/relationships/tags" Target="../tags/tag28.xml"/><Relationship Id="rId29" Type="http://schemas.openxmlformats.org/officeDocument/2006/relationships/tags" Target="../tags/tag29.xml"/><Relationship Id="rId30" Type="http://schemas.openxmlformats.org/officeDocument/2006/relationships/tags" Target="../tags/tag30.xml"/><Relationship Id="rId31" Type="http://schemas.openxmlformats.org/officeDocument/2006/relationships/tags" Target="../tags/tag31.xml"/><Relationship Id="rId32" Type="http://schemas.openxmlformats.org/officeDocument/2006/relationships/tags" Target="../tags/tag32.xml"/><Relationship Id="rId33" Type="http://schemas.openxmlformats.org/officeDocument/2006/relationships/tags" Target="../tags/tag33.xml"/><Relationship Id="rId34" Type="http://schemas.openxmlformats.org/officeDocument/2006/relationships/tags" Target="../tags/tag34.xml"/><Relationship Id="rId35" Type="http://schemas.openxmlformats.org/officeDocument/2006/relationships/tags" Target="../tags/tag35.xml"/><Relationship Id="rId36" Type="http://schemas.openxmlformats.org/officeDocument/2006/relationships/tags" Target="../tags/tag36.xml"/><Relationship Id="rId37" Type="http://schemas.openxmlformats.org/officeDocument/2006/relationships/tags" Target="../tags/tag37.xml"/><Relationship Id="rId38" Type="http://schemas.openxmlformats.org/officeDocument/2006/relationships/tags" Target="../tags/tag38.xml"/><Relationship Id="rId39" Type="http://schemas.openxmlformats.org/officeDocument/2006/relationships/tags" Target="../tags/tag39.xml"/><Relationship Id="rId40" Type="http://schemas.openxmlformats.org/officeDocument/2006/relationships/tags" Target="../tags/tag40.xml"/><Relationship Id="rId41" Type="http://schemas.openxmlformats.org/officeDocument/2006/relationships/tags" Target="../tags/tag41.xml"/><Relationship Id="rId42" Type="http://schemas.openxmlformats.org/officeDocument/2006/relationships/tags" Target="../tags/tag42.xml"/><Relationship Id="rId43" Type="http://schemas.openxmlformats.org/officeDocument/2006/relationships/tags" Target="../tags/tag43.xml"/><Relationship Id="rId44" Type="http://schemas.openxmlformats.org/officeDocument/2006/relationships/tags" Target="../tags/tag44.xml"/><Relationship Id="rId45" Type="http://schemas.openxmlformats.org/officeDocument/2006/relationships/tags" Target="../tags/tag45.xml"/><Relationship Id="rId46" Type="http://schemas.openxmlformats.org/officeDocument/2006/relationships/tags" Target="../tags/tag46.xml"/><Relationship Id="rId47" Type="http://schemas.openxmlformats.org/officeDocument/2006/relationships/slideLayout" Target="../slideLayouts/slideLayout12.xml"/><Relationship Id="rId4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.cover_title"/>
          <p:cNvSpPr>
            <a:spLocks noGrp="1"/>
          </p:cNvSpPr>
          <p:nvPr>
            <p:ph type="ctrTitle"/>
          </p:nvPr>
        </p:nvSpPr>
        <p:spPr>
          <a:xfrm>
            <a:off x="952265" y="1446177"/>
            <a:ext cx="9262745" cy="690245"/>
          </a:xfrm>
        </p:spPr>
        <p:txBody>
          <a:bodyPr>
            <a:noAutofit/>
          </a:bodyPr>
          <a:lstStyle/>
          <a:p>
            <a:r>
              <a:rPr lang="en-US" altLang="zh-CN" sz="4800" b="1" spc="16" dirty="0">
                <a:cs typeface="等线" panose="02010600030101010101" charset="-122"/>
                <a:sym typeface="+mn-ea"/>
              </a:rPr>
              <a:t>ABCD-RA-项目1119进度报告</a:t>
            </a:r>
            <a:r>
              <a:rPr lang="zh-CN" altLang="en-US" sz="4800" b="1" spc="16" dirty="0">
                <a:cs typeface="等线" panose="02010600030101010101" charset="-122"/>
                <a:sym typeface="+mn-ea"/>
              </a:rPr>
              <a:t/>
            </a:r>
            <a:endParaRPr lang="zh-CN" altLang="en-US" sz="4800" b="1" spc="16" dirty="0">
              <a:cs typeface="等线" panose="02010600030101010101" charset="-122"/>
              <a:sym typeface="+mn-ea"/>
            </a:endParaRPr>
          </a:p>
        </p:txBody>
      </p:sp>
      <p:sp>
        <p:nvSpPr>
          <p:cNvPr id="6" name="text.cover_period"/>
          <p:cNvSpPr>
            <a:spLocks noGrp="1"/>
          </p:cNvSpPr>
          <p:nvPr>
            <p:ph type="body" sz="quarter" idx="10"/>
          </p:nvPr>
        </p:nvSpPr>
        <p:spPr>
          <a:xfrm>
            <a:off x="952265" y="3503642"/>
            <a:ext cx="5034488" cy="381173"/>
          </a:xfrm>
        </p:spPr>
        <p:txBody>
          <a:bodyPr lIns="0" tIns="0" rIns="0" bIns="0">
            <a:noAutofit/>
          </a:bodyPr>
          <a:lstStyle/>
          <a:p>
            <a:pPr marL="0" indent="0">
              <a:buNone/>
            </a:pPr>
            <a:r>
              <a:rPr lang="zh-CN" altLang="en-US" sz="2000" b="1" dirty="0"/>
              <a:t>报告周期：2026-06-01 – 2026-06-07</a:t>
            </a:r>
            <a:r>
              <a:rPr lang="en-US" altLang="zh-CN" sz="2000" b="1" dirty="0"/>
              <a:t/>
            </a:r>
            <a:endParaRPr lang="en-US" altLang="zh-CN" sz="2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17319" y="2539518"/>
            <a:ext cx="5207000" cy="3405114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AutoShape 5"/>
          <p:cNvSpPr/>
          <p:nvPr/>
        </p:nvSpPr>
        <p:spPr>
          <a:xfrm>
            <a:off x="717319" y="1402845"/>
            <a:ext cx="989100" cy="779104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.project_info_title"/>
          <p:cNvSpPr/>
          <p:nvPr/>
        </p:nvSpPr>
        <p:spPr>
          <a:xfrm>
            <a:off x="735142" y="1835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项目信息概览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17319" y="1012271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2CC"/>
          </a:solidFill>
          <a:ln w="12700" cap="flat" cmpd="sng">
            <a:solidFill>
              <a:srgbClr val="1F0EFA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17319" y="2544951"/>
            <a:ext cx="5207000" cy="531797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7819" y="2697351"/>
            <a:ext cx="304800" cy="265899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52319" y="2599721"/>
            <a:ext cx="4318000" cy="44316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项目基本信息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Connector 9"/>
          <p:cNvCxnSpPr/>
          <p:nvPr/>
        </p:nvCxnSpPr>
        <p:spPr>
          <a:xfrm>
            <a:off x="913943" y="3771410"/>
            <a:ext cx="482601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868809" y="3159513"/>
            <a:ext cx="1270000" cy="6093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项目名称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Connector 12"/>
          <p:cNvCxnSpPr/>
          <p:nvPr/>
        </p:nvCxnSpPr>
        <p:spPr>
          <a:xfrm>
            <a:off x="913943" y="4513451"/>
            <a:ext cx="482601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868809" y="3963433"/>
            <a:ext cx="1270000" cy="42100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项目编码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.project_name"/>
          <p:cNvSpPr/>
          <p:nvPr/>
        </p:nvSpPr>
        <p:spPr>
          <a:xfrm>
            <a:off x="2138892" y="3113218"/>
            <a:ext cx="3365500" cy="66474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ABCD-RA-项目1119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68809" y="4532604"/>
            <a:ext cx="1270000" cy="56120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客户名称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.project_code"/>
          <p:cNvSpPr/>
          <p:nvPr/>
        </p:nvSpPr>
        <p:spPr>
          <a:xfrm>
            <a:off x="2289796" y="3897841"/>
            <a:ext cx="3365500" cy="54549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CN666771P25119787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184207" y="2544951"/>
            <a:ext cx="5207000" cy="3403601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178319" y="2544951"/>
            <a:ext cx="5207000" cy="531797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8819" y="2697351"/>
            <a:ext cx="304800" cy="265899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813319" y="2589267"/>
            <a:ext cx="4318000" cy="44316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时间</a:t>
            </a:r>
            <a:r>
              <a:rPr lang="en-US" sz="16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信息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368819" y="3159513"/>
            <a:ext cx="1270000" cy="6093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计划开始时间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368819" y="3963433"/>
            <a:ext cx="1270000" cy="46051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计划</a:t>
            </a:r>
            <a:r>
              <a:rPr lang="zh-CN" alt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结束</a:t>
            </a: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时间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368819" y="4501914"/>
            <a:ext cx="1270000" cy="66474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报告日期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" name="Connector 12"/>
          <p:cNvCxnSpPr/>
          <p:nvPr/>
        </p:nvCxnSpPr>
        <p:spPr>
          <a:xfrm>
            <a:off x="913943" y="5168539"/>
            <a:ext cx="482601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0" name="AutoShape 15"/>
          <p:cNvSpPr/>
          <p:nvPr/>
        </p:nvSpPr>
        <p:spPr>
          <a:xfrm>
            <a:off x="868809" y="5248970"/>
            <a:ext cx="1270000" cy="56120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项目</a:t>
            </a:r>
            <a:r>
              <a:rPr lang="en-US" altLang="zh-CN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PD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.customer_name"/>
          <p:cNvSpPr/>
          <p:nvPr/>
        </p:nvSpPr>
        <p:spPr>
          <a:xfrm>
            <a:off x="2138629" y="4510131"/>
            <a:ext cx="3365500" cy="66474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张三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AutoShape 7"/>
          <p:cNvSpPr/>
          <p:nvPr/>
        </p:nvSpPr>
        <p:spPr>
          <a:xfrm>
            <a:off x="968397" y="1569729"/>
            <a:ext cx="856096" cy="44316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</a:t>
            </a:r>
            <a:endParaRPr lang="en-US" sz="1600" b="1" i="0" u="none" strike="noStrike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概述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AutoShape 4"/>
          <p:cNvSpPr/>
          <p:nvPr/>
        </p:nvSpPr>
        <p:spPr>
          <a:xfrm>
            <a:off x="1706418" y="1412974"/>
            <a:ext cx="9696723" cy="751241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.project_manager"/>
          <p:cNvSpPr/>
          <p:nvPr/>
        </p:nvSpPr>
        <p:spPr>
          <a:xfrm>
            <a:off x="2138472" y="5297530"/>
            <a:ext cx="1561558" cy="52137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text.planned_start_date"/>
          <p:cNvSpPr/>
          <p:nvPr/>
        </p:nvSpPr>
        <p:spPr>
          <a:xfrm>
            <a:off x="8328197" y="3159513"/>
            <a:ext cx="2922076" cy="6093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2021-06-26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Connector 9"/>
          <p:cNvCxnSpPr/>
          <p:nvPr/>
        </p:nvCxnSpPr>
        <p:spPr>
          <a:xfrm>
            <a:off x="6368819" y="3768864"/>
            <a:ext cx="482601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5" name="Connector 12"/>
          <p:cNvCxnSpPr/>
          <p:nvPr/>
        </p:nvCxnSpPr>
        <p:spPr>
          <a:xfrm>
            <a:off x="6368819" y="4510905"/>
            <a:ext cx="482601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6" name="Connector 12"/>
          <p:cNvCxnSpPr/>
          <p:nvPr/>
        </p:nvCxnSpPr>
        <p:spPr>
          <a:xfrm>
            <a:off x="6368819" y="5165993"/>
            <a:ext cx="482601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8" name="text.planned_end_date"/>
          <p:cNvSpPr/>
          <p:nvPr/>
        </p:nvSpPr>
        <p:spPr>
          <a:xfrm>
            <a:off x="8328197" y="3837168"/>
            <a:ext cx="2866638" cy="66474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2029-07-18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text.report_date"/>
          <p:cNvSpPr/>
          <p:nvPr/>
        </p:nvSpPr>
        <p:spPr>
          <a:xfrm>
            <a:off x="8328197" y="4496762"/>
            <a:ext cx="2922076" cy="6093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2026-06-09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.project_overview_summary"/>
          <p:cNvSpPr/>
          <p:nvPr/>
        </p:nvSpPr>
        <p:spPr>
          <a:xfrm>
            <a:off x="1706245" y="1483360"/>
            <a:ext cx="9544685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项目进行中，阶段任务持续推进，风险处理中。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679682" y="1520368"/>
            <a:ext cx="3429000" cy="1968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17319" y="1527729"/>
            <a:ext cx="76200" cy="1968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971319" y="1718229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01 项目状态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Connector 7"/>
          <p:cNvCxnSpPr/>
          <p:nvPr>
            <p:custDataLst>
              <p:tags r:id="rId4"/>
            </p:custDataLst>
          </p:nvPr>
        </p:nvCxnSpPr>
        <p:spPr>
          <a:xfrm rot="-14946">
            <a:off x="971333" y="2219879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text.project_status_value"/>
          <p:cNvSpPr/>
          <p:nvPr>
            <p:custDataLst>
              <p:tags r:id="rId5"/>
            </p:custDataLst>
          </p:nvPr>
        </p:nvSpPr>
        <p:spPr>
          <a:xfrm>
            <a:off x="971319" y="2416729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进行中</a:t>
            </a:r>
            <a:endParaRPr lang="en-US" sz="1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3" name="组合 52"/>
          <p:cNvGrpSpPr/>
          <p:nvPr>
            <p:custDataLst>
              <p:tags r:id="rId6"/>
            </p:custDataLst>
          </p:nvPr>
        </p:nvGrpSpPr>
        <p:grpSpPr>
          <a:xfrm>
            <a:off x="2926406" y="2480343"/>
            <a:ext cx="1029413" cy="355600"/>
            <a:chOff x="2926406" y="2454829"/>
            <a:chExt cx="1029413" cy="355600"/>
          </a:xfrm>
        </p:grpSpPr>
        <p:sp>
          <p:nvSpPr>
            <p:cNvPr id="9" name="AutoShape 9"/>
            <p:cNvSpPr/>
            <p:nvPr>
              <p:custDataLst>
                <p:tags r:id="rId7"/>
              </p:custDataLst>
            </p:nvPr>
          </p:nvSpPr>
          <p:spPr>
            <a:xfrm>
              <a:off x="2939819" y="2480229"/>
              <a:ext cx="1016000" cy="330200"/>
            </a:xfrm>
            <a:prstGeom prst="roundRect">
              <a:avLst>
                <a:gd name="adj" fmla="val 0"/>
              </a:avLst>
            </a:prstGeom>
            <a:solidFill>
              <a:srgbClr val="28A74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AutoShape 10"/>
            <p:cNvSpPr/>
            <p:nvPr>
              <p:custDataLst>
                <p:tags r:id="rId8"/>
              </p:custDataLst>
            </p:nvPr>
          </p:nvSpPr>
          <p:spPr>
            <a:xfrm>
              <a:off x="2926406" y="2454829"/>
              <a:ext cx="1016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en-US" sz="1400" b="1" i="0" u="none" strike="noStrike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/>
                  <a:sym typeface="Noto Sans SC"/>
                </a:rPr>
                <a:t>状态xx</a:t>
              </a:r>
              <a:endParaRPr 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717319" y="3877229"/>
            <a:ext cx="3429000" cy="1968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717319" y="3877229"/>
            <a:ext cx="76200" cy="1968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>
            <a:off x="971319" y="4067729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04 </a:t>
            </a:r>
            <a:r>
              <a:rPr lang="zh-CN" alt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技术状态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Connector 14"/>
          <p:cNvCxnSpPr/>
          <p:nvPr>
            <p:custDataLst>
              <p:tags r:id="rId12"/>
            </p:custDataLst>
          </p:nvPr>
        </p:nvCxnSpPr>
        <p:spPr>
          <a:xfrm rot="-14946">
            <a:off x="971333" y="4569379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>
            <p:custDataLst>
              <p:tags r:id="rId13"/>
            </p:custDataLst>
          </p:nvPr>
        </p:nvSpPr>
        <p:spPr>
          <a:xfrm>
            <a:off x="2939819" y="4829729"/>
            <a:ext cx="1016000" cy="330200"/>
          </a:xfrm>
          <a:prstGeom prst="roundRect">
            <a:avLst>
              <a:gd name="adj" fmla="val 0"/>
            </a:avLst>
          </a:prstGeom>
          <a:solidFill>
            <a:srgbClr val="28A74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shape.technical_status_badge"/>
          <p:cNvSpPr/>
          <p:nvPr>
            <p:custDataLst>
              <p:tags r:id="rId14"/>
            </p:custDataLst>
          </p:nvPr>
        </p:nvSpPr>
        <p:spPr>
          <a:xfrm>
            <a:off x="2939819" y="4829729"/>
            <a:ext cx="101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状态</a:t>
            </a:r>
            <a:r>
              <a:rPr lang="en-US" altLang="zh-CN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xx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15"/>
            </p:custDataLst>
          </p:nvPr>
        </p:nvSpPr>
        <p:spPr>
          <a:xfrm>
            <a:off x="4400319" y="1527729"/>
            <a:ext cx="3429000" cy="1968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16"/>
            </p:custDataLst>
          </p:nvPr>
        </p:nvSpPr>
        <p:spPr>
          <a:xfrm>
            <a:off x="4400319" y="1527729"/>
            <a:ext cx="76200" cy="1968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17"/>
            </p:custDataLst>
          </p:nvPr>
        </p:nvSpPr>
        <p:spPr>
          <a:xfrm>
            <a:off x="4654319" y="1718229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02 </a:t>
            </a:r>
            <a:r>
              <a:rPr lang="zh-CN" alt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进度状态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Connector 21"/>
          <p:cNvCxnSpPr/>
          <p:nvPr>
            <p:custDataLst>
              <p:tags r:id="rId18"/>
            </p:custDataLst>
          </p:nvPr>
        </p:nvCxnSpPr>
        <p:spPr>
          <a:xfrm rot="-14946">
            <a:off x="4654333" y="2219879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>
            <p:custDataLst>
              <p:tags r:id="rId19"/>
            </p:custDataLst>
          </p:nvPr>
        </p:nvSpPr>
        <p:spPr>
          <a:xfrm>
            <a:off x="4400319" y="3877229"/>
            <a:ext cx="3429000" cy="1968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26"/>
          <p:cNvSpPr/>
          <p:nvPr>
            <p:custDataLst>
              <p:tags r:id="rId20"/>
            </p:custDataLst>
          </p:nvPr>
        </p:nvSpPr>
        <p:spPr>
          <a:xfrm>
            <a:off x="4400319" y="3877229"/>
            <a:ext cx="76200" cy="1968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AutoShape 27"/>
          <p:cNvSpPr/>
          <p:nvPr>
            <p:custDataLst>
              <p:tags r:id="rId21"/>
            </p:custDataLst>
          </p:nvPr>
        </p:nvSpPr>
        <p:spPr>
          <a:xfrm>
            <a:off x="4654319" y="4067729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05 </a:t>
            </a:r>
            <a:r>
              <a:rPr lang="zh-CN" alt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资源状态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Connector 28"/>
          <p:cNvCxnSpPr/>
          <p:nvPr>
            <p:custDataLst>
              <p:tags r:id="rId22"/>
            </p:custDataLst>
          </p:nvPr>
        </p:nvCxnSpPr>
        <p:spPr>
          <a:xfrm rot="-14946">
            <a:off x="4654333" y="4569379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text.progress_status_value"/>
          <p:cNvSpPr/>
          <p:nvPr>
            <p:custDataLst>
              <p:tags r:id="rId23"/>
            </p:custDataLst>
          </p:nvPr>
        </p:nvSpPr>
        <p:spPr>
          <a:xfrm>
            <a:off x="4784326" y="2365929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需要关注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AutoShape 32"/>
          <p:cNvSpPr/>
          <p:nvPr>
            <p:custDataLst>
              <p:tags r:id="rId24"/>
            </p:custDataLst>
          </p:nvPr>
        </p:nvSpPr>
        <p:spPr>
          <a:xfrm>
            <a:off x="8083319" y="1527729"/>
            <a:ext cx="3429000" cy="1968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AutoShape 33"/>
          <p:cNvSpPr/>
          <p:nvPr>
            <p:custDataLst>
              <p:tags r:id="rId25"/>
            </p:custDataLst>
          </p:nvPr>
        </p:nvSpPr>
        <p:spPr>
          <a:xfrm>
            <a:off x="8083319" y="1527729"/>
            <a:ext cx="76200" cy="1968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AutoShape 34"/>
          <p:cNvSpPr/>
          <p:nvPr>
            <p:custDataLst>
              <p:tags r:id="rId26"/>
            </p:custDataLst>
          </p:nvPr>
        </p:nvSpPr>
        <p:spPr>
          <a:xfrm>
            <a:off x="8337319" y="1718229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03 </a:t>
            </a:r>
            <a:r>
              <a:rPr lang="zh-CN" alt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项目进度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5" name="Connector 35"/>
          <p:cNvCxnSpPr/>
          <p:nvPr>
            <p:custDataLst>
              <p:tags r:id="rId27"/>
            </p:custDataLst>
          </p:nvPr>
        </p:nvCxnSpPr>
        <p:spPr>
          <a:xfrm rot="-14946">
            <a:off x="8337333" y="2219879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" name="text.project_progress_value"/>
          <p:cNvSpPr/>
          <p:nvPr>
            <p:custDataLst>
              <p:tags r:id="rId28"/>
            </p:custDataLst>
          </p:nvPr>
        </p:nvSpPr>
        <p:spPr>
          <a:xfrm>
            <a:off x="8337318" y="2416729"/>
            <a:ext cx="223188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累积完成 13%</a:t>
            </a: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altLang="zh-CN" sz="2400" b="1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7" name="组合 56"/>
          <p:cNvGrpSpPr/>
          <p:nvPr>
            <p:custDataLst>
              <p:tags r:id="rId29"/>
            </p:custDataLst>
          </p:nvPr>
        </p:nvGrpSpPr>
        <p:grpSpPr>
          <a:xfrm>
            <a:off x="10510870" y="2481468"/>
            <a:ext cx="1016000" cy="353350"/>
            <a:chOff x="10510870" y="2520808"/>
            <a:chExt cx="1016000" cy="353350"/>
          </a:xfrm>
        </p:grpSpPr>
        <p:sp>
          <p:nvSpPr>
            <p:cNvPr id="37" name="AutoShape 37"/>
            <p:cNvSpPr/>
            <p:nvPr>
              <p:custDataLst>
                <p:tags r:id="rId30"/>
              </p:custDataLst>
            </p:nvPr>
          </p:nvSpPr>
          <p:spPr>
            <a:xfrm>
              <a:off x="10528348" y="2543958"/>
              <a:ext cx="946333" cy="330200"/>
            </a:xfrm>
            <a:prstGeom prst="roundRect">
              <a:avLst>
                <a:gd name="adj" fmla="val 0"/>
              </a:avLst>
            </a:prstGeom>
            <a:solidFill>
              <a:srgbClr val="28A74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AutoShape 38"/>
            <p:cNvSpPr/>
            <p:nvPr>
              <p:custDataLst>
                <p:tags r:id="rId31"/>
              </p:custDataLst>
            </p:nvPr>
          </p:nvSpPr>
          <p:spPr>
            <a:xfrm>
              <a:off x="10510870" y="2520808"/>
              <a:ext cx="1016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zh-CN" altLang="en-US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/>
                </a:rPr>
                <a:t>进度</a:t>
              </a:r>
              <a:r>
                <a:rPr lang="en-US" altLang="zh-CN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/>
                </a:rPr>
                <a:t>xx</a:t>
              </a:r>
              <a:endParaRPr 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9" name="AutoShape 39"/>
          <p:cNvSpPr/>
          <p:nvPr>
            <p:custDataLst>
              <p:tags r:id="rId32"/>
            </p:custDataLst>
          </p:nvPr>
        </p:nvSpPr>
        <p:spPr>
          <a:xfrm>
            <a:off x="8083319" y="3877229"/>
            <a:ext cx="3429000" cy="1968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AutoShape 40"/>
          <p:cNvSpPr/>
          <p:nvPr>
            <p:custDataLst>
              <p:tags r:id="rId33"/>
            </p:custDataLst>
          </p:nvPr>
        </p:nvSpPr>
        <p:spPr>
          <a:xfrm>
            <a:off x="8083319" y="3877229"/>
            <a:ext cx="76200" cy="1968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AutoShape 41"/>
          <p:cNvSpPr/>
          <p:nvPr>
            <p:custDataLst>
              <p:tags r:id="rId34"/>
            </p:custDataLst>
          </p:nvPr>
        </p:nvSpPr>
        <p:spPr>
          <a:xfrm>
            <a:off x="8337319" y="4067729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06 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经营状态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2" name="Connector 42"/>
          <p:cNvCxnSpPr/>
          <p:nvPr>
            <p:custDataLst>
              <p:tags r:id="rId35"/>
            </p:custDataLst>
          </p:nvPr>
        </p:nvCxnSpPr>
        <p:spPr>
          <a:xfrm rot="-14946">
            <a:off x="8337333" y="4569379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" name="text.business_status_value"/>
          <p:cNvSpPr/>
          <p:nvPr>
            <p:custDataLst>
              <p:tags r:id="rId36"/>
            </p:custDataLst>
          </p:nvPr>
        </p:nvSpPr>
        <p:spPr>
          <a:xfrm>
            <a:off x="8362719" y="4804329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预算使用率 </a:t>
            </a:r>
            <a:r>
              <a:rPr lang="en-US" altLang="zh-CN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%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8" name="组合 57"/>
          <p:cNvGrpSpPr/>
          <p:nvPr>
            <p:custDataLst>
              <p:tags r:id="rId37"/>
            </p:custDataLst>
          </p:nvPr>
        </p:nvGrpSpPr>
        <p:grpSpPr>
          <a:xfrm>
            <a:off x="10481429" y="4829729"/>
            <a:ext cx="1016000" cy="330200"/>
            <a:chOff x="10481429" y="4829729"/>
            <a:chExt cx="1016000" cy="330200"/>
          </a:xfrm>
        </p:grpSpPr>
        <p:sp>
          <p:nvSpPr>
            <p:cNvPr id="44" name="AutoShape 44"/>
            <p:cNvSpPr/>
            <p:nvPr>
              <p:custDataLst>
                <p:tags r:id="rId38"/>
              </p:custDataLst>
            </p:nvPr>
          </p:nvSpPr>
          <p:spPr>
            <a:xfrm>
              <a:off x="10481429" y="4829729"/>
              <a:ext cx="1016000" cy="330200"/>
            </a:xfrm>
            <a:prstGeom prst="roundRect">
              <a:avLst>
                <a:gd name="adj" fmla="val 0"/>
              </a:avLst>
            </a:prstGeom>
            <a:solidFill>
              <a:srgbClr val="FFC107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AutoShape 45"/>
            <p:cNvSpPr/>
            <p:nvPr>
              <p:custDataLst>
                <p:tags r:id="rId39"/>
              </p:custDataLst>
            </p:nvPr>
          </p:nvSpPr>
          <p:spPr>
            <a:xfrm>
              <a:off x="10481429" y="4829729"/>
              <a:ext cx="1016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lnSpc>
                  <a:spcPct val="125000"/>
                </a:lnSpc>
                <a:defRPr/>
              </a:pPr>
              <a:r>
                <a:rPr lang="zh-CN" altLang="en-US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需要关注</a:t>
              </a:r>
              <a:endPara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6" name="text.dashboard_title"/>
          <p:cNvSpPr/>
          <p:nvPr/>
        </p:nvSpPr>
        <p:spPr>
          <a:xfrm>
            <a:off x="735142" y="1835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仪表盘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AutoShape 3"/>
          <p:cNvSpPr/>
          <p:nvPr/>
        </p:nvSpPr>
        <p:spPr>
          <a:xfrm>
            <a:off x="717319" y="1012271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2CC"/>
          </a:solidFill>
          <a:ln w="12700" cap="flat" cmpd="sng">
            <a:solidFill>
              <a:srgbClr val="1F0EFA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.technical_status_value"/>
          <p:cNvSpPr/>
          <p:nvPr>
            <p:custDataLst>
              <p:tags r:id="rId40"/>
            </p:custDataLst>
          </p:nvPr>
        </p:nvSpPr>
        <p:spPr>
          <a:xfrm>
            <a:off x="971319" y="4892097"/>
            <a:ext cx="1919547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技术满足度</a:t>
            </a:r>
            <a:r>
              <a:rPr lang="en-US" altLang="zh-CN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%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AutoShape 23"/>
          <p:cNvSpPr/>
          <p:nvPr>
            <p:custDataLst>
              <p:tags r:id="rId41"/>
            </p:custDataLst>
          </p:nvPr>
        </p:nvSpPr>
        <p:spPr>
          <a:xfrm>
            <a:off x="6622819" y="4815897"/>
            <a:ext cx="1016000" cy="330200"/>
          </a:xfrm>
          <a:prstGeom prst="roundRect">
            <a:avLst>
              <a:gd name="adj" fmla="val 0"/>
            </a:avLst>
          </a:prstGeom>
          <a:solidFill>
            <a:srgbClr val="FFC1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shape.resource_status_badge"/>
          <p:cNvSpPr/>
          <p:nvPr>
            <p:custDataLst>
              <p:tags r:id="rId42"/>
            </p:custDataLst>
          </p:nvPr>
        </p:nvSpPr>
        <p:spPr>
          <a:xfrm>
            <a:off x="6622819" y="4815897"/>
            <a:ext cx="101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需要关注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shape.progress_status_badge"/>
          <p:cNvSpPr/>
          <p:nvPr/>
        </p:nvSpPr>
        <p:spPr>
          <a:xfrm>
            <a:off x="6459223" y="2473879"/>
            <a:ext cx="101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状态正常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4" name="组合 53"/>
          <p:cNvGrpSpPr/>
          <p:nvPr>
            <p:custDataLst>
              <p:tags r:id="rId43"/>
            </p:custDataLst>
          </p:nvPr>
        </p:nvGrpSpPr>
        <p:grpSpPr>
          <a:xfrm>
            <a:off x="6446323" y="2480343"/>
            <a:ext cx="1029413" cy="355600"/>
            <a:chOff x="2926406" y="2454829"/>
            <a:chExt cx="1029413" cy="355600"/>
          </a:xfrm>
        </p:grpSpPr>
        <p:sp>
          <p:nvSpPr>
            <p:cNvPr id="55" name="AutoShape 9"/>
            <p:cNvSpPr/>
            <p:nvPr>
              <p:custDataLst>
                <p:tags r:id="rId44"/>
              </p:custDataLst>
            </p:nvPr>
          </p:nvSpPr>
          <p:spPr>
            <a:xfrm>
              <a:off x="2939819" y="2480229"/>
              <a:ext cx="1016000" cy="330200"/>
            </a:xfrm>
            <a:prstGeom prst="roundRect">
              <a:avLst>
                <a:gd name="adj" fmla="val 0"/>
              </a:avLst>
            </a:prstGeom>
            <a:solidFill>
              <a:srgbClr val="28A74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AutoShape 10"/>
            <p:cNvSpPr/>
            <p:nvPr>
              <p:custDataLst>
                <p:tags r:id="rId45"/>
              </p:custDataLst>
            </p:nvPr>
          </p:nvSpPr>
          <p:spPr>
            <a:xfrm>
              <a:off x="2926406" y="2454829"/>
              <a:ext cx="1016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en-US" sz="1400" b="1" i="0" u="none" strike="noStrike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/>
                  <a:sym typeface="Noto Sans SC"/>
                </a:rPr>
                <a:t>状态xx</a:t>
              </a:r>
              <a:endParaRPr 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text.resource_status_value"/>
          <p:cNvSpPr/>
          <p:nvPr>
            <p:custDataLst>
              <p:tags r:id="rId46"/>
            </p:custDataLst>
          </p:nvPr>
        </p:nvSpPr>
        <p:spPr>
          <a:xfrm>
            <a:off x="4628919" y="4726997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资源到位</a:t>
            </a:r>
            <a:r>
              <a:rPr lang="en-US" altLang="zh-CN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xx%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17319" y="1595120"/>
            <a:ext cx="76200" cy="40640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971319" y="14897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52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项目整体概况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 rot="-10110">
            <a:off x="971329" y="203327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text.overall_progress_summary"/>
          <p:cNvSpPr/>
          <p:nvPr/>
        </p:nvSpPr>
        <p:spPr>
          <a:xfrm>
            <a:off x="971319" y="2217420"/>
            <a:ext cx="431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18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项目处于进行中，调测与验收相关任务持续推进。</a:t>
            </a:r>
            <a:endParaRPr 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971319" y="4516120"/>
            <a:ext cx="4318000" cy="1143000"/>
          </a:xfrm>
          <a:prstGeom prst="roundRect">
            <a:avLst>
              <a:gd name="adj" fmla="val 0"/>
            </a:avLst>
          </a:prstGeom>
          <a:solidFill>
            <a:srgbClr val="0052C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.key_conclusion"/>
          <p:cNvSpPr/>
          <p:nvPr/>
        </p:nvSpPr>
        <p:spPr>
          <a:xfrm>
            <a:off x="1098319" y="468122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b="1" i="0" u="none" strike="noStrike" dirty="0">
                <a:solidFill>
                  <a:srgbClr val="0052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关键结论：整体推进中，逾期与待分配任务需关注。</a:t>
            </a:r>
            <a:r>
              <a:rPr lang="en-US" altLang="zh-CN" sz="12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b="0" i="0" u="none" strike="noStrike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096000" y="1709420"/>
            <a:ext cx="4826000" cy="2413000"/>
          </a:xfrm>
          <a:prstGeom prst="roundRect">
            <a:avLst>
              <a:gd name="adj" fmla="val 0"/>
            </a:avLst>
          </a:prstGeom>
          <a:solidFill>
            <a:srgbClr val="0052CC">
              <a:alpha val="4000"/>
            </a:srgbClr>
          </a:solidFill>
          <a:ln w="50800" cap="flat" cmpd="sng">
            <a:solidFill>
              <a:srgbClr val="0052C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350000" y="189992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本期关键进展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.key_progress"/>
          <p:cNvSpPr/>
          <p:nvPr/>
        </p:nvSpPr>
        <p:spPr>
          <a:xfrm>
            <a:off x="6350000" y="2407920"/>
            <a:ext cx="4318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本期完成部分设计、安装与调测任务推进。</a:t>
            </a:r>
            <a:endParaRPr 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096000" y="4516120"/>
            <a:ext cx="4826000" cy="1143000"/>
          </a:xfrm>
          <a:prstGeom prst="roundRect">
            <a:avLst>
              <a:gd name="adj" fmla="val 0"/>
            </a:avLst>
          </a:prstGeom>
          <a:solidFill>
            <a:srgbClr val="0052CC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55789" y="4560455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风险及问题</a:t>
            </a: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管理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.risk_issue_summary"/>
          <p:cNvSpPr/>
          <p:nvPr/>
        </p:nvSpPr>
        <p:spPr>
          <a:xfrm>
            <a:off x="6255788" y="4887653"/>
            <a:ext cx="4477789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本期成功关闭 0 个问题或风险，现有 9 个问题或风险在处理中。</a:t>
            </a:r>
            <a:r>
              <a:rPr lang="en-US" altLang="zh-CN" sz="1200" b="0" i="0" u="none" strike="noStrike" dirty="0"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zh-CN" alt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zh-CN" altLang="en-US" sz="12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altLang="zh-CN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altLang="zh-CN" sz="12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zh-CN" alt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.overall_progress_title"/>
          <p:cNvSpPr/>
          <p:nvPr/>
        </p:nvSpPr>
        <p:spPr>
          <a:xfrm>
            <a:off x="735142" y="1835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整体进展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3"/>
          <p:cNvSpPr/>
          <p:nvPr/>
        </p:nvSpPr>
        <p:spPr>
          <a:xfrm>
            <a:off x="717319" y="1012271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2CC"/>
          </a:solidFill>
          <a:ln w="12700" cap="flat" cmpd="sng">
            <a:solidFill>
              <a:srgbClr val="1F0EFA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.delivery_plan"/>
          <p:cNvGraphicFramePr>
            <a:graphicFrameLocks noGrp="1"/>
          </p:cNvGraphicFramePr>
          <p:nvPr/>
        </p:nvGraphicFramePr>
        <p:xfrm>
          <a:off x="655554" y="2577148"/>
          <a:ext cx="10795000" cy="1003456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83836"/>
                <a:gridCol w="1634837"/>
                <a:gridCol w="2111432"/>
                <a:gridCol w="1473895"/>
                <a:gridCol w="1397000"/>
                <a:gridCol w="1397000"/>
                <a:gridCol w="1397000"/>
              </a:tblGrid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阶段名称</a:t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任务名称</a:t>
                      </a:r>
                      <a:r>
                        <a:rPr lang="zh-CN" alt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产品线</a:t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任务状态</a:t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计划完成时间</a:t>
                      </a:r>
                      <a:r>
                        <a:rPr lang="zh-CN" alt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实际完成时间</a:t>
                      </a:r>
                      <a:r>
                        <a:rPr lang="zh-CN" alt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责任人</a:t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Noto Sans SC"/>
                        </a:rPr>
                        <a:t>前置学习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Noto Sans SC"/>
                        </a:rPr>
                        <a:t>前置学习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6666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待分配</a:t>
                      </a:r>
                      <a:endParaRPr 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2026-06-25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jinhuawei_003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Noto Sans SC"/>
                        </a:rPr>
                        <a:t>前置学习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Noto Sans SC"/>
                        </a:rPr>
                        <a:t>测试验证2222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1" i="0" u="none" strike="noStrike" dirty="0">
                          <a:solidFill>
                            <a:srgbClr val="6666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待分配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jinhuawei_003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前置学习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gyf_test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1" i="0" u="none" strike="noStrike" dirty="0">
                          <a:solidFill>
                            <a:srgbClr val="10B9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已完成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2026-06-05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2026-06-02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jinhuawei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勘测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工程勘测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未开始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2025-12-10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jinhuawei_003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勘测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发送到发送到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进行中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2021-07-15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jinhuawei_003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 计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低阶设计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b="1" dirty="0">
                          <a:solidFill>
                            <a:srgbClr val="6666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待分配</a:t>
                      </a:r>
                      <a:endParaRPr lang="en-US" altLang="zh-CN" sz="9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暂未分配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 计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测试1136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b="1" dirty="0">
                          <a:solidFill>
                            <a:srgbClr val="10B9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已完成</a:t>
                      </a:r>
                      <a:endParaRPr lang="en-US" altLang="zh-CN" sz="9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2026-06-26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2026-06-03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jinhuawei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 计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测试1138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2026-06-28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jinhuawei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安装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到货验收（可选）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b="1" dirty="0">
                          <a:solidFill>
                            <a:srgbClr val="10B9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已完成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2026-06-06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2026-06-04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jinhuawei_003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安装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入场确认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6666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待分配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暂未分配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安装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ddd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2025-12-18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jinhuawei_003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安装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硬件质量检查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未开始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2026-06-24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jinhuawei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调测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开局配置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6666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待分配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2026-06-09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暂未分配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调测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场景业务配置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6666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待分配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暂未分配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调测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对接配置（可选）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6666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待分配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暂未分配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调测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cvvzxcvzxc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2026-06-26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jinhuawei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调测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阿萨德ASD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未开始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2029-07-18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jinhuawei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调测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配置检查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2026-06-14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jinhuawei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调测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配置检查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6666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待分配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暂未分配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移交&amp;培训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系统移交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6666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待分配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暂未分配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移交&amp;培训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文档移交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6666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待分配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暂未分配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移交&amp;培训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技能传递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2026-07-09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jinhuawei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验收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功能验收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2025-11-22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jinhuawei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验收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活动验证0001-0001-0002-0003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10B9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已完成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2025-12-30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2025-11-21</a:t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jinhuawei_003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验收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试运行（可选）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未开始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2025-11-28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jinhuawei_003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验收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基本验收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6666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待分配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暂未分配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验收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功能验收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6666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待分配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暂未分配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验收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终验（可选）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6666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待分配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暂未分配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验收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终验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6666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待分配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暂未分配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维护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日常维护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6666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待分配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暂未分配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维护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故障处理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dirty="0" b="1">
                          <a:solidFill>
                            <a:srgbClr val="6666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待分配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暂未分配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text.delivery_plan_title"/>
          <p:cNvSpPr/>
          <p:nvPr/>
        </p:nvSpPr>
        <p:spPr>
          <a:xfrm>
            <a:off x="735142" y="1835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</a:t>
            </a:r>
            <a:r>
              <a:rPr lang="zh-CN" alt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交付计划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3"/>
          <p:cNvSpPr/>
          <p:nvPr/>
        </p:nvSpPr>
        <p:spPr>
          <a:xfrm>
            <a:off x="717319" y="940225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2CC"/>
          </a:solidFill>
          <a:ln w="12700" cap="flat" cmpd="sng">
            <a:solidFill>
              <a:srgbClr val="1F0EFA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milestone.delivery.background"/>
          <p:cNvSpPr/>
          <p:nvPr/>
        </p:nvSpPr>
        <p:spPr>
          <a:xfrm>
            <a:off x="655554" y="1152469"/>
            <a:ext cx="10763017" cy="1116443"/>
          </a:xfrm>
          <a:prstGeom prst="roundRect">
            <a:avLst>
              <a:gd name="adj" fmla="val 3590"/>
            </a:avLst>
          </a:prstGeom>
          <a:solidFill>
            <a:schemeClr val="accent4">
              <a:lumMod val="20000"/>
              <a:lumOff val="80000"/>
            </a:schemeClr>
          </a:solidFill>
          <a:ln cap="flat" cmpd="sng" algn="ctr">
            <a:gradFill flip="none" rotWithShape="1">
              <a:gsLst>
                <a:gs pos="50000">
                  <a:srgbClr val="FFFFFF">
                    <a:alpha val="10000"/>
                  </a:srgbClr>
                </a:gs>
                <a:gs pos="90000">
                  <a:sysClr val="window" lastClr="FFFFFF">
                    <a:alpha val="0"/>
                  </a:sysClr>
                </a:gs>
                <a:gs pos="10000">
                  <a:sysClr val="window" lastClr="FFFFFF">
                    <a:alpha val="0"/>
                  </a:sysClr>
                </a:gs>
                <a:gs pos="0">
                  <a:sysClr val="windowText" lastClr="000000">
                    <a:lumMod val="50000"/>
                    <a:lumOff val="50000"/>
                    <a:alpha val="50000"/>
                  </a:sysClr>
                </a:gs>
                <a:gs pos="100000">
                  <a:sysClr val="windowText" lastClr="000000">
                    <a:lumMod val="50000"/>
                    <a:lumOff val="50000"/>
                    <a:alpha val="50000"/>
                  </a:sysClr>
                </a:gs>
              </a:gsLst>
              <a:lin ang="5400000" scaled="0"/>
              <a:tileRect/>
            </a:gra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0" name="milestone.delivery.line"/>
          <p:cNvCxnSpPr/>
          <p:nvPr/>
        </p:nvCxnSpPr>
        <p:spPr>
          <a:xfrm>
            <a:off x="1432794" y="1777677"/>
            <a:ext cx="9208537" cy="0"/>
          </a:xfrm>
          <a:prstGeom prst="line">
            <a:avLst/>
          </a:prstGeom>
          <a:ln w="19050">
            <a:solidFill>
              <a:srgbClr val="445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milestone.delivery.item_1.date"/>
          <p:cNvSpPr txBox="1"/>
          <p:nvPr/>
        </p:nvSpPr>
        <p:spPr>
          <a:xfrm>
            <a:off x="929874" y="1411917"/>
            <a:ext cx="100584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</a:rPr>
              <a:t>2026-06-28</a:t>
            </a:r>
          </a:p>
        </p:txBody>
      </p:sp>
      <p:sp>
        <p:nvSpPr>
          <p:cNvPr id="22" name="milestone.delivery.item_1.node"/>
          <p:cNvSpPr/>
          <p:nvPr/>
        </p:nvSpPr>
        <p:spPr>
          <a:xfrm>
            <a:off x="1332210" y="1677093"/>
            <a:ext cx="201168" cy="201168"/>
          </a:xfrm>
          <a:prstGeom prst="ellipse">
            <a:avLst/>
          </a:prstGeom>
          <a:solidFill>
            <a:srgbClr val="0052C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ilestone.delivery.item_1.node.inner"/>
          <p:cNvSpPr/>
          <p:nvPr/>
        </p:nvSpPr>
        <p:spPr>
          <a:xfrm>
            <a:off x="1380491" y="1725374"/>
            <a:ext cx="104606" cy="104606"/>
          </a:xfrm>
          <a:prstGeom prst="ellipse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ilestone.delivery.item_1.label"/>
          <p:cNvSpPr txBox="1"/>
          <p:nvPr/>
        </p:nvSpPr>
        <p:spPr>
          <a:xfrm>
            <a:off x="-869340" y="1850829"/>
            <a:ext cx="4604268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666666"/>
                </a:solidFill>
                <a:latin typeface="Microsoft YaHei"/>
              </a:rPr>
              <a:t>设计</a:t>
            </a:r>
          </a:p>
        </p:txBody>
      </p:sp>
      <p:sp>
        <p:nvSpPr>
          <p:cNvPr id="25" name="milestone.delivery.item_2.date"/>
          <p:cNvSpPr txBox="1"/>
          <p:nvPr/>
        </p:nvSpPr>
        <p:spPr>
          <a:xfrm>
            <a:off x="10138411" y="1411917"/>
            <a:ext cx="100584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</a:rPr>
              <a:t>2026-07-05</a:t>
            </a:r>
          </a:p>
        </p:txBody>
      </p:sp>
      <p:sp>
        <p:nvSpPr>
          <p:cNvPr id="26" name="milestone.delivery.item_2.node"/>
          <p:cNvSpPr/>
          <p:nvPr/>
        </p:nvSpPr>
        <p:spPr>
          <a:xfrm>
            <a:off x="10540747" y="1677093"/>
            <a:ext cx="201168" cy="201168"/>
          </a:xfrm>
          <a:prstGeom prst="ellipse">
            <a:avLst/>
          </a:prstGeom>
          <a:solidFill>
            <a:srgbClr val="0052C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milestone.delivery.item_2.node.inner"/>
          <p:cNvSpPr/>
          <p:nvPr/>
        </p:nvSpPr>
        <p:spPr>
          <a:xfrm>
            <a:off x="10589028" y="1725374"/>
            <a:ext cx="104606" cy="104606"/>
          </a:xfrm>
          <a:prstGeom prst="ellipse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milestone.delivery.item_2.label"/>
          <p:cNvSpPr txBox="1"/>
          <p:nvPr/>
        </p:nvSpPr>
        <p:spPr>
          <a:xfrm>
            <a:off x="8339197" y="1850829"/>
            <a:ext cx="4604268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666666"/>
                </a:solidFill>
                <a:latin typeface="Microsoft YaHei"/>
              </a:rPr>
              <a:t>验收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.top_issues_title"/>
          <p:cNvSpPr/>
          <p:nvPr/>
        </p:nvSpPr>
        <p:spPr>
          <a:xfrm>
            <a:off x="735142" y="1835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TOP</a:t>
            </a:r>
            <a:r>
              <a:rPr lang="zh-CN" alt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问题与风险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3"/>
          <p:cNvSpPr/>
          <p:nvPr/>
        </p:nvSpPr>
        <p:spPr>
          <a:xfrm>
            <a:off x="717319" y="1012271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2CC"/>
          </a:solidFill>
          <a:ln w="12700" cap="flat" cmpd="sng">
            <a:solidFill>
              <a:srgbClr val="1F0EFA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op_issues.cards.item_1.card"/>
          <p:cNvSpPr/>
          <p:nvPr/>
        </p:nvSpPr>
        <p:spPr>
          <a:xfrm>
            <a:off x="701102" y="1179536"/>
            <a:ext cx="10668000" cy="1578627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op_issues.cards.item_1.strip"/>
          <p:cNvSpPr/>
          <p:nvPr/>
        </p:nvSpPr>
        <p:spPr>
          <a:xfrm>
            <a:off x="701102" y="1179536"/>
            <a:ext cx="73152" cy="1578627"/>
          </a:xfrm>
          <a:prstGeom prst="rect">
            <a:avLst/>
          </a:prstGeom>
          <a:solidFill>
            <a:srgbClr val="D64545"/>
          </a:solidFill>
          <a:ln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op_issues.cards.item_1.severity"/>
          <p:cNvSpPr txBox="1"/>
          <p:nvPr/>
        </p:nvSpPr>
        <p:spPr>
          <a:xfrm>
            <a:off x="883982" y="1432116"/>
            <a:ext cx="640080" cy="568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D64545"/>
                </a:solidFill>
              </a:rPr>
              <a:t>紧急</a:t>
            </a:r>
          </a:p>
        </p:txBody>
      </p:sp>
      <p:sp>
        <p:nvSpPr>
          <p:cNvPr id="21" name="top_issues.cards.item_1.description"/>
          <p:cNvSpPr txBox="1"/>
          <p:nvPr/>
        </p:nvSpPr>
        <p:spPr>
          <a:xfrm>
            <a:off x="1524062" y="1368971"/>
            <a:ext cx="9735312" cy="4104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52CC"/>
                </a:solidFill>
              </a:rPr>
              <a:t>问题描述：</a:t>
            </a:r>
            <a:r>
              <a:rPr sz="1300" b="0">
                <a:solidFill>
                  <a:srgbClr val="333333"/>
                </a:solidFill>
              </a:rPr>
              <a:t>项目开工25天后，仍未发送开工报告</a:t>
            </a:r>
          </a:p>
        </p:txBody>
      </p:sp>
      <p:sp>
        <p:nvSpPr>
          <p:cNvPr id="22" name="top_issues.cards.item_1.action"/>
          <p:cNvSpPr txBox="1"/>
          <p:nvPr/>
        </p:nvSpPr>
        <p:spPr>
          <a:xfrm>
            <a:off x="1524062" y="1842559"/>
            <a:ext cx="9735312" cy="378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52CC"/>
                </a:solidFill>
              </a:rPr>
              <a:t>解决措施与进展：</a:t>
            </a:r>
            <a:r>
              <a:rPr sz="1300" b="0">
                <a:solidFill>
                  <a:srgbClr val="333333"/>
                </a:solidFill>
              </a:rPr>
              <a:t>待补充处理措施</a:t>
            </a:r>
          </a:p>
        </p:txBody>
      </p:sp>
      <p:sp>
        <p:nvSpPr>
          <p:cNvPr id="23" name="top_issues.cards.item_1.meta"/>
          <p:cNvSpPr txBox="1"/>
          <p:nvPr/>
        </p:nvSpPr>
        <p:spPr>
          <a:xfrm>
            <a:off x="1524062" y="2284574"/>
            <a:ext cx="9735312" cy="347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333333"/>
                </a:solidFill>
              </a:rPr>
              <a:t>责任人：暂未分配   |  状态：处理中  | 计划解决时间：</a:t>
            </a:r>
          </a:p>
        </p:txBody>
      </p:sp>
      <p:sp>
        <p:nvSpPr>
          <p:cNvPr id="24" name="top_issues.cards.item_2.card"/>
          <p:cNvSpPr/>
          <p:nvPr/>
        </p:nvSpPr>
        <p:spPr>
          <a:xfrm>
            <a:off x="701102" y="2867891"/>
            <a:ext cx="10668000" cy="1578627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op_issues.cards.item_2.strip"/>
          <p:cNvSpPr/>
          <p:nvPr/>
        </p:nvSpPr>
        <p:spPr>
          <a:xfrm>
            <a:off x="701102" y="2867891"/>
            <a:ext cx="73152" cy="1578627"/>
          </a:xfrm>
          <a:prstGeom prst="rect">
            <a:avLst/>
          </a:prstGeom>
          <a:solidFill>
            <a:srgbClr val="F5C400"/>
          </a:solidFill>
          <a:ln>
            <a:solidFill>
              <a:srgbClr val="F5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op_issues.cards.item_2.severity"/>
          <p:cNvSpPr txBox="1"/>
          <p:nvPr/>
        </p:nvSpPr>
        <p:spPr>
          <a:xfrm>
            <a:off x="883982" y="3120471"/>
            <a:ext cx="640080" cy="568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F5C400"/>
                </a:solidFill>
              </a:rPr>
              <a:t>一般</a:t>
            </a:r>
          </a:p>
        </p:txBody>
      </p:sp>
      <p:sp>
        <p:nvSpPr>
          <p:cNvPr id="27" name="top_issues.cards.item_2.description"/>
          <p:cNvSpPr txBox="1"/>
          <p:nvPr/>
        </p:nvSpPr>
        <p:spPr>
          <a:xfrm>
            <a:off x="1524062" y="3057326"/>
            <a:ext cx="9735312" cy="4104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52CC"/>
                </a:solidFill>
              </a:rPr>
              <a:t>问题描述：</a:t>
            </a:r>
            <a:r>
              <a:rPr sz="1300" b="0">
                <a:solidFill>
                  <a:srgbClr val="333333"/>
                </a:solidFill>
              </a:rPr>
              <a:t>创建时间2026-06-02 09:04:00，当前进展123456</a:t>
            </a:r>
          </a:p>
        </p:txBody>
      </p:sp>
      <p:sp>
        <p:nvSpPr>
          <p:cNvPr id="28" name="top_issues.cards.item_2.action"/>
          <p:cNvSpPr txBox="1"/>
          <p:nvPr/>
        </p:nvSpPr>
        <p:spPr>
          <a:xfrm>
            <a:off x="1524062" y="3530914"/>
            <a:ext cx="9735312" cy="378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52CC"/>
                </a:solidFill>
              </a:rPr>
              <a:t>解决措施与进展：</a:t>
            </a:r>
            <a:r>
              <a:rPr sz="1300" b="0">
                <a:solidFill>
                  <a:srgbClr val="333333"/>
                </a:solidFill>
              </a:rPr>
              <a:t>待补充处理措施</a:t>
            </a:r>
          </a:p>
        </p:txBody>
      </p:sp>
      <p:sp>
        <p:nvSpPr>
          <p:cNvPr id="29" name="top_issues.cards.item_2.meta"/>
          <p:cNvSpPr txBox="1"/>
          <p:nvPr/>
        </p:nvSpPr>
        <p:spPr>
          <a:xfrm>
            <a:off x="1524062" y="3972929"/>
            <a:ext cx="9735312" cy="347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333333"/>
                </a:solidFill>
              </a:rPr>
              <a:t>责任人：暂未分配   |  状态：处理中  | 计划解决时间：2026-06-17</a:t>
            </a:r>
          </a:p>
        </p:txBody>
      </p:sp>
      <p:sp>
        <p:nvSpPr>
          <p:cNvPr id="30" name="top_issues.cards.item_3.card"/>
          <p:cNvSpPr/>
          <p:nvPr/>
        </p:nvSpPr>
        <p:spPr>
          <a:xfrm>
            <a:off x="701102" y="4556246"/>
            <a:ext cx="10668000" cy="1578627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op_issues.cards.item_3.strip"/>
          <p:cNvSpPr/>
          <p:nvPr/>
        </p:nvSpPr>
        <p:spPr>
          <a:xfrm>
            <a:off x="701102" y="4556246"/>
            <a:ext cx="73152" cy="1578627"/>
          </a:xfrm>
          <a:prstGeom prst="rect">
            <a:avLst/>
          </a:prstGeom>
          <a:solidFill>
            <a:srgbClr val="F5C400"/>
          </a:solidFill>
          <a:ln>
            <a:solidFill>
              <a:srgbClr val="F5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op_issues.cards.item_3.severity"/>
          <p:cNvSpPr txBox="1"/>
          <p:nvPr/>
        </p:nvSpPr>
        <p:spPr>
          <a:xfrm>
            <a:off x="883982" y="4808826"/>
            <a:ext cx="640080" cy="568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F5C400"/>
                </a:solidFill>
              </a:rPr>
              <a:t>一般</a:t>
            </a:r>
          </a:p>
        </p:txBody>
      </p:sp>
      <p:sp>
        <p:nvSpPr>
          <p:cNvPr id="33" name="top_issues.cards.item_3.description"/>
          <p:cNvSpPr txBox="1"/>
          <p:nvPr/>
        </p:nvSpPr>
        <p:spPr>
          <a:xfrm>
            <a:off x="1524062" y="4745681"/>
            <a:ext cx="9735312" cy="4104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52CC"/>
                </a:solidFill>
              </a:rPr>
              <a:t>问题描述：</a:t>
            </a:r>
            <a:r>
              <a:rPr sz="1300" b="0">
                <a:solidFill>
                  <a:srgbClr val="333333"/>
                </a:solidFill>
              </a:rPr>
              <a:t>创建时间2026-06-02 14:53:00，当前进展123</a:t>
            </a:r>
          </a:p>
        </p:txBody>
      </p:sp>
      <p:sp>
        <p:nvSpPr>
          <p:cNvPr id="34" name="top_issues.cards.item_3.action"/>
          <p:cNvSpPr txBox="1"/>
          <p:nvPr/>
        </p:nvSpPr>
        <p:spPr>
          <a:xfrm>
            <a:off x="1524062" y="5219269"/>
            <a:ext cx="9735312" cy="378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52CC"/>
                </a:solidFill>
              </a:rPr>
              <a:t>解决措施与进展：</a:t>
            </a:r>
            <a:r>
              <a:rPr sz="1300" b="0">
                <a:solidFill>
                  <a:srgbClr val="333333"/>
                </a:solidFill>
              </a:rPr>
              <a:t>待补充处理措施</a:t>
            </a:r>
          </a:p>
        </p:txBody>
      </p:sp>
      <p:sp>
        <p:nvSpPr>
          <p:cNvPr id="35" name="top_issues.cards.item_3.meta"/>
          <p:cNvSpPr txBox="1"/>
          <p:nvPr/>
        </p:nvSpPr>
        <p:spPr>
          <a:xfrm>
            <a:off x="1524062" y="5661284"/>
            <a:ext cx="9735312" cy="347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333333"/>
                </a:solidFill>
              </a:rPr>
              <a:t>责任人：暂未分配   |  状态：处理中  | 计划解决时间：2026-06-17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17319" y="1881093"/>
            <a:ext cx="10668000" cy="3556000"/>
          </a:xfrm>
          <a:prstGeom prst="roundRect">
            <a:avLst>
              <a:gd name="adj" fmla="val 0"/>
            </a:avLst>
          </a:prstGeom>
          <a:solidFill>
            <a:srgbClr val="0052CC">
              <a:alpha val="4000"/>
            </a:srgbClr>
          </a:solidFill>
          <a:ln w="12700" cap="flat" cmpd="sng">
            <a:solidFill>
              <a:srgbClr val="0052C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17320" y="1881093"/>
            <a:ext cx="147204" cy="3555997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.next_plan_item"/>
          <p:cNvSpPr/>
          <p:nvPr/>
        </p:nvSpPr>
        <p:spPr>
          <a:xfrm>
            <a:off x="1334770" y="2331720"/>
            <a:ext cx="9610725" cy="29451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1. 完成配置检查</a:t>
            </a:r>
            <a:r>
              <a:rPr lang="en-US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altLang="zh-CN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2. 推进技能传递</a:t>
            </a:r>
            <a:r>
              <a:rPr lang="en-US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altLang="zh-CN" sz="1100" b="1" i="0" u="none" strike="noStrike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endParaRPr lang="en-US" sz="1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endParaRPr lang="en-US" sz="1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.next_plan_title"/>
          <p:cNvSpPr/>
          <p:nvPr/>
        </p:nvSpPr>
        <p:spPr>
          <a:xfrm>
            <a:off x="735142" y="1835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下期计划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AutoShape 3"/>
          <p:cNvSpPr/>
          <p:nvPr/>
        </p:nvSpPr>
        <p:spPr>
          <a:xfrm>
            <a:off x="717319" y="1012271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2CC"/>
          </a:solidFill>
          <a:ln w="12700" cap="flat" cmpd="sng">
            <a:solidFill>
              <a:srgbClr val="1F0EFA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.thank_you"/>
          <p:cNvSpPr/>
          <p:nvPr/>
        </p:nvSpPr>
        <p:spPr>
          <a:xfrm>
            <a:off x="0" y="2667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0" b="0" i="0" u="none" strike="noStrike">
                <a:solidFill>
                  <a:srgbClr val="333333"/>
                </a:solidFill>
                <a:latin typeface="Noto Sans SC Light"/>
                <a:ea typeface="Noto Sans SC Light"/>
                <a:cs typeface="Noto Sans SC Light"/>
                <a:sym typeface="Noto Sans SC Light"/>
              </a:rPr>
              <a:t>Thank you.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715000" y="4191000"/>
            <a:ext cx="762000" cy="508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6667500"/>
            <a:ext cx="12192000" cy="190500"/>
          </a:xfrm>
          <a:prstGeom prst="roundRect">
            <a:avLst>
              <a:gd name="adj" fmla="val 0"/>
            </a:avLst>
          </a:prstGeom>
          <a:solidFill>
            <a:srgbClr val="333333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4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5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6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7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8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9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0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1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2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3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4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5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6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7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8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9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0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1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2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3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4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5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6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7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8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9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0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1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2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3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4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5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6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7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8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9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40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41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42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43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44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45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46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691</Words>
  <Application>WPS 演示</Application>
  <PresentationFormat>宽屏</PresentationFormat>
  <Paragraphs>254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8</vt:i4>
      </vt:variant>
    </vt:vector>
  </HeadingPairs>
  <TitlesOfParts>
    <vt:vector size="31" baseType="lpstr">
      <vt:lpstr>Arial</vt:lpstr>
      <vt:lpstr>宋体</vt:lpstr>
      <vt:lpstr>Wingdings</vt:lpstr>
      <vt:lpstr>Arial</vt:lpstr>
      <vt:lpstr>微软雅黑</vt:lpstr>
      <vt:lpstr>汉仪旗黑</vt:lpstr>
      <vt:lpstr>等线</vt:lpstr>
      <vt:lpstr>汉仪中等线KW</vt:lpstr>
      <vt:lpstr>Noto Sans SC</vt:lpstr>
      <vt:lpstr>Thonburi</vt:lpstr>
      <vt:lpstr>Noto Sans SC Light</vt:lpstr>
      <vt:lpstr>宋体</vt:lpstr>
      <vt:lpstr>Arial Unicode MS</vt:lpstr>
      <vt:lpstr>等线 Light</vt:lpstr>
      <vt:lpstr>Noto Sans SC</vt:lpstr>
      <vt:lpstr>Noto Sans SC Light</vt:lpstr>
      <vt:lpstr>微软雅黑</vt:lpstr>
      <vt:lpstr>等线</vt:lpstr>
      <vt:lpstr>汉仪书宋二KW</vt:lpstr>
      <vt:lpstr>苹方-简</vt:lpstr>
      <vt:lpstr>Office 主题​​</vt:lpstr>
      <vt:lpstr>默认主题</vt:lpstr>
      <vt:lpstr>1_Office 主题​​</vt:lpstr>
      <vt:lpstr>xx进度报告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Zengqingquan (Levie)</dc:creator>
  <cp:lastModifiedBy>4pb</cp:lastModifiedBy>
  <cp:revision>170</cp:revision>
  <dcterms:created xsi:type="dcterms:W3CDTF">2026-06-11T17:26:19Z</dcterms:created>
  <dcterms:modified xsi:type="dcterms:W3CDTF">2026-06-11T17:26:19Z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{"Label":"1","ContentProducer":"001191110102MACQD9K64010000","ProduceID":"7648955276263459768","ReservedCode1":"","ContentPropagator":"","PropagateID":"","ReservedCode2":""}</vt:lpwstr>
  </property>
  <property fmtid="{D5CDD505-2E9C-101B-9397-08002B2CF9AE}" pid="3" name="KSOProductBuildVer">
    <vt:lpwstr>2052-12.1.26016.26016</vt:lpwstr>
  </property>
  <property fmtid="{D5CDD505-2E9C-101B-9397-08002B2CF9AE}" pid="4" name="ICV">
    <vt:lpwstr>B165E6AAC88E2D8B1FEE2A6A9196E763_42</vt:lpwstr>
  </property>
</Properties>
</file>