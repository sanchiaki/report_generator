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3.svg" ContentType="image/svg+xml"/>
  <Override PartName="/ppt/media/image5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autoCompressPictures="0">
  <p:sldMasterIdLst>
    <p:sldMasterId id="2147483648" r:id="rId1"/>
    <p:sldMasterId id="2147483660" r:id="rId3"/>
    <p:sldMasterId id="2147483662" r:id="rId4"/>
  </p:sldMasterIdLst>
  <p:notesMasterIdLst>
    <p:notesMasterId r:id="rId6"/>
  </p:notesMasterIdLst>
  <p:sldIdLst>
    <p:sldId id="678" r:id="rId5"/>
    <p:sldId id="257" r:id="rId7"/>
    <p:sldId id="258" r:id="rId8"/>
    <p:sldId id="259" r:id="rId9"/>
    <p:sldId id="260" r:id="rId10"/>
    <p:sldId id="261" r:id="rId11"/>
    <p:sldId id="262" r:id="rId12"/>
    <p:sldId id="263" r:id="rId13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L="0"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90204"/>
      <a:defRPr sz="1400" b="0" i="0" u="none" strike="noStrike" cap="none">
        <a:solidFill>
          <a:srgbClr val="000000"/>
        </a:solidFill>
        <a:latin typeface="Arial" panose="020B0604020202090204"/>
        <a:ea typeface="Arial" panose="020B0604020202090204"/>
        <a:cs typeface="Arial" panose="020B0604020202090204"/>
        <a:sym typeface="Arial" panose="020B0604020202090204"/>
      </a:defRPr>
    </a:lvl1pPr>
    <a:lvl2pPr marL="457200"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90204"/>
      <a:defRPr sz="1400" b="0" i="0" u="none" strike="noStrike" cap="none">
        <a:solidFill>
          <a:srgbClr val="000000"/>
        </a:solidFill>
        <a:latin typeface="Arial" panose="020B0604020202090204"/>
        <a:ea typeface="Arial" panose="020B0604020202090204"/>
        <a:cs typeface="Arial" panose="020B0604020202090204"/>
        <a:sym typeface="Arial" panose="020B0604020202090204"/>
      </a:defRPr>
    </a:lvl2pPr>
    <a:lvl3pPr marL="914400"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90204"/>
      <a:defRPr sz="1400" b="0" i="0" u="none" strike="noStrike" cap="none">
        <a:solidFill>
          <a:srgbClr val="000000"/>
        </a:solidFill>
        <a:latin typeface="Arial" panose="020B0604020202090204"/>
        <a:ea typeface="Arial" panose="020B0604020202090204"/>
        <a:cs typeface="Arial" panose="020B0604020202090204"/>
        <a:sym typeface="Arial" panose="020B0604020202090204"/>
      </a:defRPr>
    </a:lvl3pPr>
    <a:lvl4pPr marL="1371600"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90204"/>
      <a:defRPr sz="1400" b="0" i="0" u="none" strike="noStrike" cap="none">
        <a:solidFill>
          <a:srgbClr val="000000"/>
        </a:solidFill>
        <a:latin typeface="Arial" panose="020B0604020202090204"/>
        <a:ea typeface="Arial" panose="020B0604020202090204"/>
        <a:cs typeface="Arial" panose="020B0604020202090204"/>
        <a:sym typeface="Arial" panose="020B0604020202090204"/>
      </a:defRPr>
    </a:lvl4pPr>
    <a:lvl5pPr marL="1828800"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90204"/>
      <a:defRPr sz="1400" b="0" i="0" u="none" strike="noStrike" cap="none">
        <a:solidFill>
          <a:srgbClr val="000000"/>
        </a:solidFill>
        <a:latin typeface="Arial" panose="020B0604020202090204"/>
        <a:ea typeface="Arial" panose="020B0604020202090204"/>
        <a:cs typeface="Arial" panose="020B0604020202090204"/>
        <a:sym typeface="Arial" panose="020B0604020202090204"/>
      </a:defRPr>
    </a:lvl5pPr>
    <a:lvl6pPr marL="2286000"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90204"/>
      <a:defRPr sz="1400" b="0" i="0" u="none" strike="noStrike" cap="none">
        <a:solidFill>
          <a:srgbClr val="000000"/>
        </a:solidFill>
        <a:latin typeface="Arial" panose="020B0604020202090204"/>
        <a:ea typeface="Arial" panose="020B0604020202090204"/>
        <a:cs typeface="Arial" panose="020B0604020202090204"/>
        <a:sym typeface="Arial" panose="020B0604020202090204"/>
      </a:defRPr>
    </a:lvl6pPr>
    <a:lvl7pPr marL="2743200"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90204"/>
      <a:defRPr sz="1400" b="0" i="0" u="none" strike="noStrike" cap="none">
        <a:solidFill>
          <a:srgbClr val="000000"/>
        </a:solidFill>
        <a:latin typeface="Arial" panose="020B0604020202090204"/>
        <a:ea typeface="Arial" panose="020B0604020202090204"/>
        <a:cs typeface="Arial" panose="020B0604020202090204"/>
        <a:sym typeface="Arial" panose="020B0604020202090204"/>
      </a:defRPr>
    </a:lvl7pPr>
    <a:lvl8pPr marL="3200400"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90204"/>
      <a:defRPr sz="1400" b="0" i="0" u="none" strike="noStrike" cap="none">
        <a:solidFill>
          <a:srgbClr val="000000"/>
        </a:solidFill>
        <a:latin typeface="Arial" panose="020B0604020202090204"/>
        <a:ea typeface="Arial" panose="020B0604020202090204"/>
        <a:cs typeface="Arial" panose="020B0604020202090204"/>
        <a:sym typeface="Arial" panose="020B0604020202090204"/>
      </a:defRPr>
    </a:lvl8pPr>
    <a:lvl9pPr marL="3657600"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90204"/>
      <a:defRPr sz="1400" b="0" i="0" u="none" strike="noStrike" cap="none">
        <a:solidFill>
          <a:srgbClr val="000000"/>
        </a:solidFill>
        <a:latin typeface="Arial" panose="020B0604020202090204"/>
        <a:ea typeface="Arial" panose="020B0604020202090204"/>
        <a:cs typeface="Arial" panose="020B0604020202090204"/>
        <a:sym typeface="Arial" panose="020B0604020202090204"/>
      </a:defRPr>
    </a:lvl9pPr>
  </p:defaultTextStyle>
  <p:extLst>
    <p:ext uri="{EFAFB233-063F-42B5-8137-9DF3F51BA10A}">
      <p15:sldGuideLst xmlns:p15="http://schemas.microsoft.com/office/powerpoint/2012/main">
        <p15:guide id="1" orient="horz" pos="1629" userDrawn="1">
          <p15:clr>
            <a:srgbClr val="747775"/>
          </p15:clr>
        </p15:guide>
        <p15:guide id="2" pos="2880" userDrawn="1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00"/>
    <a:srgbClr val="0052CC"/>
    <a:srgbClr val="44546A"/>
    <a:srgbClr val="1F0EF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howGuides="1">
      <p:cViewPr varScale="1">
        <p:scale>
          <a:sx n="86" d="100"/>
          <a:sy n="86" d="100"/>
        </p:scale>
        <p:origin x="288" y="33"/>
      </p:cViewPr>
      <p:guideLst>
        <p:guide orient="horz" pos="1629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" Target="slides/slide1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cs-C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</a:fld>
            <a:endParaRPr lang="cs-CZ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290763" y="512763"/>
            <a:ext cx="4562475" cy="2566987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F07326F3-4732-B74B-9C70-D0992466E499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原有的表格布局显得呆板，现在我们将其优化为两个并排的卡片。左侧卡片放置项目基本信息，右侧卡片放置管理信息，结构更清晰。卡片标题使用蓝色背景，突出了信息层级，整体视觉效果更现代。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  <a:endParaRPr lang="cs-CZ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 dirty="0">
                <a:solidFill>
                  <a:srgbClr val="000000"/>
                </a:solidFill>
              </a:rPr>
              <a:t>仪表盘页面的优化重点是数据可视化。我们用三列卡片布局取代了原始表格，每个指标都有独立的展示区域。通过使用不同颜色的标签（绿色代表健康，黄色代表需关注），</a:t>
            </a:r>
            <a:r>
              <a:rPr lang="en-US" sz="1400" b="0" i="0" u="none" strike="noStrike" dirty="0" err="1">
                <a:solidFill>
                  <a:srgbClr val="000000"/>
                </a:solidFill>
              </a:rPr>
              <a:t>可以一目了然地了解各项指标的状态，信息传达效率更高</a:t>
            </a:r>
            <a:r>
              <a:rPr lang="en-US" sz="1400" b="0" i="0" u="none" strike="noStrike" dirty="0">
                <a:solidFill>
                  <a:srgbClr val="000000"/>
                </a:solidFill>
              </a:rPr>
              <a:t>。</a:t>
            </a:r>
            <a:endParaRPr lang="en-US" sz="1400" b="0" i="0" u="none" strike="noStrike" dirty="0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  <a:endParaRPr lang="cs-CZ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对于“项目整体进展”页面，我们采用了左右分栏的布局。左侧是对整体情况的高度概括，右侧则分点详细阐述各个模块的进展。这种布局使得信息层次分明，观众可以先建立整体认知，再深入了解细节。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  <a:endParaRPr lang="cs-CZ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这个页面的优化重点是将时间轴和任务表格进行分离和美化。上半部分的时间轴设计得更具视觉引导性，让观众一眼就能看清项目所处的阶段。下半部分的表格也进行了重新设计，增加了行间距和表头背景色，使其更易读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  <a:endParaRPr lang="cs-CZ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在“TOP问题及风险”页面，我们通过颜色来强化优先级的视觉提示。P1级别的问题用红色背景突出，P2用橙色，让观众可以迅速抓住重点。同时，优化了表格的样式，使其更加规整和专业。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  <a:endParaRPr lang="cs-CZ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“下期计划”页面采用了带序号的卡片式布局。每个计划项都是一个独立的模块，清晰地展示了计划的核心内容。这种设计避免了大段文字的沉闷感，让计划看起来更有条理和可执行性。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  <a:endParaRPr lang="cs-CZ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最后是结束页。我们将“Thank you”设计为页面的视觉中心，使用简洁优雅的字体和较大的字号，营造出专业而不失亲和力的结束氛围。下方的“Q&amp;A”也清晰地提示了接下来的环节。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  <a:endParaRPr lang="cs-CZ"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eg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matchingName="标题幻灯片">
  <p:cSld name="TITLE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Shape 30"/>
          <p:cNvSpPr txBox="1">
            <a:spLocks noGrp="1"/>
          </p:cNvSpPr>
          <p:nvPr>
            <p:ph type="ctrTitle"/>
          </p:nvPr>
        </p:nvSpPr>
        <p:spPr>
          <a:xfrm>
            <a:off x="1143000" y="841772"/>
            <a:ext cx="6858000" cy="17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Arial" panose="020B0604020202090204"/>
              <a:buNone/>
              <a:defRPr sz="45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3" name="Shape 31"/>
          <p:cNvSpPr txBox="1">
            <a:spLocks noGrp="1"/>
          </p:cNvSpPr>
          <p:nvPr>
            <p:ph type="subTitle" idx="1"/>
          </p:nvPr>
        </p:nvSpPr>
        <p:spPr>
          <a:xfrm>
            <a:off x="1143000" y="2701528"/>
            <a:ext cx="6858000" cy="12418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lvl="1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/>
        </p:txBody>
      </p:sp>
      <p:sp>
        <p:nvSpPr>
          <p:cNvPr id="14" name="Shape 32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5" name="Shape 33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6" name="Shape 34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</a:fld>
            <a:endParaRPr lang="zh-CN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matchingName="标题和内容">
  <p:cSld name="OBJECT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Shape 54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9" name="Shape 55"/>
          <p:cNvSpPr txBox="1">
            <a:spLocks noGrp="1"/>
          </p:cNvSpPr>
          <p:nvPr>
            <p:ph type="body" idx="1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20" name="Shape 56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1" name="Shape 57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2" name="Shape 58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</a:fld>
            <a:endParaRPr lang="zh-CN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matchingName="节标题">
  <p:cSld name="SECTION_HEADER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Shape 59"/>
          <p:cNvSpPr txBox="1">
            <a:spLocks noGrp="1"/>
          </p:cNvSpPr>
          <p:nvPr>
            <p:ph type="title"/>
          </p:nvPr>
        </p:nvSpPr>
        <p:spPr>
          <a:xfrm>
            <a:off x="623888" y="1282304"/>
            <a:ext cx="7886700" cy="21395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Arial" panose="020B0604020202090204"/>
              <a:buNone/>
              <a:defRPr sz="45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5" name="Shape 60"/>
          <p:cNvSpPr txBox="1">
            <a:spLocks noGrp="1"/>
          </p:cNvSpPr>
          <p:nvPr>
            <p:ph type="body" idx="1"/>
          </p:nvPr>
        </p:nvSpPr>
        <p:spPr>
          <a:xfrm>
            <a:off x="623888" y="3442097"/>
            <a:ext cx="7886700" cy="11251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 sz="15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26" name="Shape 61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7" name="Shape 62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8" name="Shape 63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</a:fld>
            <a:endParaRPr lang="zh-CN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matchingName="两栏内容">
  <p:cSld name="TWO_OBJECTS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Shape 9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31" name="Shape 10"/>
          <p:cNvSpPr txBox="1">
            <a:spLocks noGrp="1"/>
          </p:cNvSpPr>
          <p:nvPr>
            <p:ph type="body" idx="1"/>
          </p:nvPr>
        </p:nvSpPr>
        <p:spPr>
          <a:xfrm>
            <a:off x="628650" y="1369219"/>
            <a:ext cx="3886200" cy="326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32" name="Shape 11"/>
          <p:cNvSpPr txBox="1">
            <a:spLocks noGrp="1"/>
          </p:cNvSpPr>
          <p:nvPr>
            <p:ph type="body" idx="2"/>
          </p:nvPr>
        </p:nvSpPr>
        <p:spPr>
          <a:xfrm>
            <a:off x="4629150" y="1369219"/>
            <a:ext cx="3886200" cy="326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33" name="Shape 12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34" name="Shape 13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35" name="Shape 14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</a:fld>
            <a:endParaRPr lang="zh-CN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matchingName="比较">
  <p:cSld name="TWO_OBJECTS_WITH_TEXT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Shape 35"/>
          <p:cNvSpPr txBox="1">
            <a:spLocks noGrp="1"/>
          </p:cNvSpPr>
          <p:nvPr>
            <p:ph type="title"/>
          </p:nvPr>
        </p:nvSpPr>
        <p:spPr>
          <a:xfrm>
            <a:off x="629841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38" name="Shape 36"/>
          <p:cNvSpPr txBox="1">
            <a:spLocks noGrp="1"/>
          </p:cNvSpPr>
          <p:nvPr>
            <p:ph type="body" idx="1"/>
          </p:nvPr>
        </p:nvSpPr>
        <p:spPr>
          <a:xfrm>
            <a:off x="629841" y="1260872"/>
            <a:ext cx="3868340" cy="6179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 b="1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1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9pPr>
          </a:lstStyle>
          <a:p/>
        </p:txBody>
      </p:sp>
      <p:sp>
        <p:nvSpPr>
          <p:cNvPr id="39" name="Shape 37"/>
          <p:cNvSpPr txBox="1">
            <a:spLocks noGrp="1"/>
          </p:cNvSpPr>
          <p:nvPr>
            <p:ph type="body" idx="2"/>
          </p:nvPr>
        </p:nvSpPr>
        <p:spPr>
          <a:xfrm>
            <a:off x="629841" y="1878806"/>
            <a:ext cx="3868340" cy="27634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40" name="Shape 38"/>
          <p:cNvSpPr txBox="1">
            <a:spLocks noGrp="1"/>
          </p:cNvSpPr>
          <p:nvPr>
            <p:ph type="body" idx="3"/>
          </p:nvPr>
        </p:nvSpPr>
        <p:spPr>
          <a:xfrm>
            <a:off x="4629150" y="1260872"/>
            <a:ext cx="3887391" cy="6179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 b="1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1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9pPr>
          </a:lstStyle>
          <a:p/>
        </p:txBody>
      </p:sp>
      <p:sp>
        <p:nvSpPr>
          <p:cNvPr id="41" name="Shape 39"/>
          <p:cNvSpPr txBox="1">
            <a:spLocks noGrp="1"/>
          </p:cNvSpPr>
          <p:nvPr>
            <p:ph type="body" idx="4"/>
          </p:nvPr>
        </p:nvSpPr>
        <p:spPr>
          <a:xfrm>
            <a:off x="4629150" y="1878806"/>
            <a:ext cx="3887391" cy="27634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42" name="Shape 40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43" name="Shape 41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44" name="Shape 42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</a:fld>
            <a:endParaRPr lang="zh-CN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matchingName="仅标题">
  <p:cSld name="TITLE_ONLY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Shape 20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47" name="Shape 21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48" name="Shape 22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49" name="Shape 23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</a:fld>
            <a:endParaRPr lang="zh-CN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matchingName="空白">
  <p:cSld name="BLANK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Shape 6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2" name="Shape 7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3" name="Shape 8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</a:fld>
            <a:endParaRPr lang="zh-CN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matchingName="内容与标题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Shape 43"/>
          <p:cNvSpPr txBox="1"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 panose="020B0604020202090204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6" name="Shape 44"/>
          <p:cNvSpPr txBox="1">
            <a:spLocks noGrp="1"/>
          </p:cNvSpPr>
          <p:nvPr>
            <p:ph type="body" idx="1"/>
          </p:nvPr>
        </p:nvSpPr>
        <p:spPr>
          <a:xfrm>
            <a:off x="3887391" y="740569"/>
            <a:ext cx="4629150" cy="36552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810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619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  <a:defRPr sz="2100"/>
            </a:lvl2pPr>
            <a:lvl3pPr marL="1371600" lvl="2" indent="-3429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4pPr>
            <a:lvl5pPr marL="2286000" lvl="4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5pPr>
            <a:lvl6pPr marL="2743200" lvl="5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6pPr>
            <a:lvl7pPr marL="3200400" lvl="6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7pPr>
            <a:lvl8pPr marL="3657600" lvl="7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8pPr>
            <a:lvl9pPr marL="4114800" lvl="8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9pPr>
          </a:lstStyle>
          <a:p/>
        </p:txBody>
      </p:sp>
      <p:sp>
        <p:nvSpPr>
          <p:cNvPr id="57" name="Shape 45"/>
          <p:cNvSpPr txBox="1">
            <a:spLocks noGrp="1"/>
          </p:cNvSpPr>
          <p:nvPr>
            <p:ph type="body" idx="2"/>
          </p:nvPr>
        </p:nvSpPr>
        <p:spPr>
          <a:xfrm>
            <a:off x="629841" y="1543050"/>
            <a:ext cx="2949178" cy="28586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9pPr>
          </a:lstStyle>
          <a:p/>
        </p:txBody>
      </p:sp>
      <p:sp>
        <p:nvSpPr>
          <p:cNvPr id="58" name="Shape 46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9" name="Shape 47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0" name="Shape 48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</a:fld>
            <a:endParaRPr lang="zh-CN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matchingName="图片与标题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Shape 24"/>
          <p:cNvSpPr txBox="1"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 panose="020B0604020202090204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3" name="Shape 25"/>
          <p:cNvSpPr>
            <a:spLocks noGrp="1"/>
          </p:cNvSpPr>
          <p:nvPr>
            <p:ph type="pic" idx="2"/>
          </p:nvPr>
        </p:nvSpPr>
        <p:spPr>
          <a:xfrm>
            <a:off x="3887391" y="740569"/>
            <a:ext cx="4629150" cy="3655219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Shape 26"/>
          <p:cNvSpPr txBox="1">
            <a:spLocks noGrp="1"/>
          </p:cNvSpPr>
          <p:nvPr>
            <p:ph type="body" idx="1"/>
          </p:nvPr>
        </p:nvSpPr>
        <p:spPr>
          <a:xfrm>
            <a:off x="629841" y="1543050"/>
            <a:ext cx="2949178" cy="28586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9pPr>
          </a:lstStyle>
          <a:p/>
        </p:txBody>
      </p:sp>
      <p:sp>
        <p:nvSpPr>
          <p:cNvPr id="65" name="Shape 27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6" name="Shape 28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7" name="Shape 29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</a:fld>
            <a:endParaRPr lang="zh-CN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matchingName="标题和竖排文字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Shape 49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0" name="Shape 50"/>
          <p:cNvSpPr txBox="1">
            <a:spLocks noGrp="1"/>
          </p:cNvSpPr>
          <p:nvPr>
            <p:ph type="body" idx="1"/>
          </p:nvPr>
        </p:nvSpPr>
        <p:spPr>
          <a:xfrm rot="5400000">
            <a:off x="2940248" y="-942379"/>
            <a:ext cx="3263504" cy="78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71" name="Shape 51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2" name="Shape 52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3" name="Shape 53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</a:fld>
            <a:endParaRPr lang="zh-CN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matchingName="竖排标题与文本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Shape 15"/>
          <p:cNvSpPr txBox="1">
            <a:spLocks noGrp="1"/>
          </p:cNvSpPr>
          <p:nvPr>
            <p:ph type="title"/>
          </p:nvPr>
        </p:nvSpPr>
        <p:spPr>
          <a:xfrm rot="5400000">
            <a:off x="5350073" y="1467445"/>
            <a:ext cx="4358879" cy="19716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6" name="Shape 16"/>
          <p:cNvSpPr txBox="1">
            <a:spLocks noGrp="1"/>
          </p:cNvSpPr>
          <p:nvPr>
            <p:ph type="body" idx="1"/>
          </p:nvPr>
        </p:nvSpPr>
        <p:spPr>
          <a:xfrm rot="5400000">
            <a:off x="1349573" y="-447080"/>
            <a:ext cx="4358879" cy="58007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77" name="Shape 17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8" name="Shape 18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9" name="Shape 19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</a:fld>
            <a:endParaRPr lang="zh-CN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5B3004-400C-43A5-AC96-1EF96FAF3383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2F81BE-ADF2-46EA-A947-332EC6F994A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5B3004-400C-43A5-AC96-1EF96FAF3383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2F81BE-ADF2-46EA-A947-332EC6F994A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5B3004-400C-43A5-AC96-1EF96FAF3383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2F81BE-ADF2-46EA-A947-332EC6F994A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5B3004-400C-43A5-AC96-1EF96FAF3383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2F81BE-ADF2-46EA-A947-332EC6F994A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5B3004-400C-43A5-AC96-1EF96FAF3383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2F81BE-ADF2-46EA-A947-332EC6F994A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5B3004-400C-43A5-AC96-1EF96FAF3383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2F81BE-ADF2-46EA-A947-332EC6F994A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5B3004-400C-43A5-AC96-1EF96FAF3383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2F81BE-ADF2-46EA-A947-332EC6F994A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5B3004-400C-43A5-AC96-1EF96FAF3383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2F81BE-ADF2-46EA-A947-332EC6F994A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5B3004-400C-43A5-AC96-1EF96FAF3383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2F81BE-ADF2-46EA-A947-332EC6F994A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5B3004-400C-43A5-AC96-1EF96FAF3383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2F81BE-ADF2-46EA-A947-332EC6F994A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5B3004-400C-43A5-AC96-1EF96FAF3383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2F81BE-ADF2-46EA-A947-332EC6F994A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Title</a:t>
            </a:r>
            <a:endParaRPr lang="en-US"/>
          </a:p>
        </p:txBody>
      </p:sp>
      <p:sp>
        <p:nvSpPr>
          <p:cNvPr id="3" name="Text 2"/>
          <p:cNvSpPr>
            <a:spLocks noGrp="1"/>
          </p:cNvSpPr>
          <p:nvPr>
            <p:ph type="body" idx="1" hasCustomPrompt="1"/>
          </p:nvPr>
        </p:nvSpPr>
        <p:spPr/>
        <p:txBody>
          <a:bodyPr/>
          <a:lstStyle/>
          <a:p>
            <a:pPr lvl="0"/>
            <a:r>
              <a:rPr lang="en-US"/>
              <a:t>Text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6525B2-4347-4F72-BAF7-76B19438D329}" type="datetimeFigureOut">
              <a:rPr lang="en-US" smtClean="0"/>
            </a:fld>
            <a:endParaRPr lang="en-US"/>
          </a:p>
        </p:txBody>
      </p:sp>
      <p:sp>
        <p:nvSpPr>
          <p:cNvPr id="5" name="Foo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F073CC-40D5-4B23-8DF0-9BD0A0C12F2C}" type="slidenum">
              <a:rPr lang="en-US" smtClean="0"/>
            </a:fld>
            <a:endParaRPr lang="en-US"/>
          </a:p>
        </p:txBody>
      </p:sp>
    </p:spTree>
  </p:cSld>
  <p:clrMapOvr>
    <a:masterClrMapping/>
  </p:clrMapOvr>
  <p:transition/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Chinese text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728890" y="456134"/>
            <a:ext cx="10736446" cy="99340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ts val="3430"/>
              </a:lnSpc>
              <a:spcBef>
                <a:spcPts val="0"/>
              </a:spcBef>
              <a:buNone/>
              <a:defRPr sz="3200" baseline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  <a:lvl2pPr marL="593725" indent="0" algn="ctr">
              <a:buNone/>
              <a:defRPr sz="2595"/>
            </a:lvl2pPr>
            <a:lvl3pPr marL="1187450" indent="0" algn="ctr">
              <a:buNone/>
              <a:defRPr sz="2335"/>
            </a:lvl3pPr>
            <a:lvl4pPr marL="1781175" indent="0" algn="ctr">
              <a:buNone/>
              <a:defRPr sz="2080"/>
            </a:lvl4pPr>
            <a:lvl5pPr marL="2374900" indent="0" algn="ctr">
              <a:buNone/>
              <a:defRPr sz="2080"/>
            </a:lvl5pPr>
            <a:lvl6pPr marL="2968625" indent="0" algn="ctr">
              <a:buNone/>
              <a:defRPr sz="2080"/>
            </a:lvl6pPr>
            <a:lvl7pPr marL="3561715" indent="0" algn="ctr">
              <a:buNone/>
              <a:defRPr sz="2080"/>
            </a:lvl7pPr>
            <a:lvl8pPr marL="4155440" indent="0" algn="ctr">
              <a:buNone/>
              <a:defRPr sz="2080"/>
            </a:lvl8pPr>
            <a:lvl9pPr marL="4749165" indent="0" algn="ctr">
              <a:buNone/>
              <a:defRPr sz="2080"/>
            </a:lvl9pPr>
          </a:lstStyle>
          <a:p>
            <a:r>
              <a:rPr lang="zh-CN" altLang="en-US" dirty="0"/>
              <a:t>单击此处添加标题</a:t>
            </a:r>
            <a:endParaRPr lang="en-US" dirty="0"/>
          </a:p>
        </p:txBody>
      </p:sp>
      <p:sp>
        <p:nvSpPr>
          <p:cNvPr id="7" name="Content Placeholder 2"/>
          <p:cNvSpPr>
            <a:spLocks noGrp="1"/>
          </p:cNvSpPr>
          <p:nvPr>
            <p:ph idx="10" hasCustomPrompt="1"/>
          </p:nvPr>
        </p:nvSpPr>
        <p:spPr>
          <a:xfrm>
            <a:off x="736621" y="1501989"/>
            <a:ext cx="10729365" cy="4690459"/>
          </a:xfrm>
          <a:prstGeom prst="rect">
            <a:avLst/>
          </a:prstGeom>
        </p:spPr>
        <p:txBody>
          <a:bodyPr lIns="0" tIns="0" rIns="0" bIns="0"/>
          <a:lstStyle>
            <a:lvl1pPr marL="12065" indent="0">
              <a:lnSpc>
                <a:spcPct val="100000"/>
              </a:lnSpc>
              <a:spcBef>
                <a:spcPts val="0"/>
              </a:spcBef>
              <a:buFontTx/>
              <a:buNone/>
              <a:tabLst>
                <a:tab pos="1207770" algn="ctr"/>
              </a:tabLst>
              <a:defRPr sz="1800" baseline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90204" pitchFamily="34" charset="0"/>
              </a:defRPr>
            </a:lvl1pPr>
            <a:lvl2pPr marL="525780" indent="-170815">
              <a:buFont typeface="Arial" panose="020B0604020202090204" pitchFamily="34" charset="0"/>
              <a:buChar char="•"/>
              <a:tabLst>
                <a:tab pos="1207770" algn="ctr"/>
              </a:tabLst>
              <a:defRPr sz="1300" baseline="0"/>
            </a:lvl2pPr>
            <a:lvl3pPr marL="525780" indent="-170815">
              <a:buFont typeface="Arial" panose="020B0604020202090204" pitchFamily="34" charset="0"/>
              <a:buChar char="•"/>
              <a:tabLst>
                <a:tab pos="1207770" algn="ctr"/>
              </a:tabLst>
              <a:defRPr sz="1300" baseline="0"/>
            </a:lvl3pPr>
            <a:lvl4pPr marL="525780" indent="-170815">
              <a:buFont typeface="Arial" panose="020B0604020202090204" pitchFamily="34" charset="0"/>
              <a:buChar char="•"/>
              <a:tabLst>
                <a:tab pos="1207770" algn="ctr"/>
              </a:tabLst>
              <a:defRPr sz="1300" baseline="0"/>
            </a:lvl4pPr>
            <a:lvl5pPr marL="525780" indent="-170815">
              <a:buFont typeface="Arial" panose="020B0604020202090204" pitchFamily="34" charset="0"/>
              <a:buChar char="•"/>
              <a:tabLst>
                <a:tab pos="1207770" algn="ctr"/>
              </a:tabLst>
              <a:defRPr sz="1300" baseline="0"/>
            </a:lvl5pPr>
          </a:lstStyle>
          <a:p>
            <a:pPr lvl="0"/>
            <a:r>
              <a:rPr lang="zh-CN" altLang="en-US" dirty="0"/>
              <a:t>单击此处添加文本</a:t>
            </a:r>
            <a:endParaRPr lang="en-US" dirty="0"/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探索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图片 10"/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8667"/>
          <a:stretch>
            <a:fillRect/>
          </a:stretch>
        </p:blipFill>
        <p:spPr>
          <a:xfrm>
            <a:off x="0" y="0"/>
            <a:ext cx="12201691" cy="5594695"/>
          </a:xfrm>
          <a:prstGeom prst="rect">
            <a:avLst/>
          </a:prstGeom>
        </p:spPr>
      </p:pic>
      <p:sp>
        <p:nvSpPr>
          <p:cNvPr id="7" name="L 形 6"/>
          <p:cNvSpPr/>
          <p:nvPr userDrawn="1"/>
        </p:nvSpPr>
        <p:spPr>
          <a:xfrm rot="5400000">
            <a:off x="7851080" y="2130562"/>
            <a:ext cx="700777" cy="717936"/>
          </a:xfrm>
          <a:prstGeom prst="corner">
            <a:avLst>
              <a:gd name="adj1" fmla="val 3243"/>
              <a:gd name="adj2" fmla="val 3048"/>
            </a:avLst>
          </a:prstGeom>
          <a:solidFill>
            <a:srgbClr val="C7000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9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" name="Title 1"/>
          <p:cNvSpPr>
            <a:spLocks noGrp="1"/>
          </p:cNvSpPr>
          <p:nvPr>
            <p:ph type="ctrTitle" hasCustomPrompt="1"/>
          </p:nvPr>
        </p:nvSpPr>
        <p:spPr>
          <a:xfrm>
            <a:off x="898668" y="907092"/>
            <a:ext cx="6557418" cy="690255"/>
          </a:xfrm>
          <a:prstGeom prst="rect">
            <a:avLst/>
          </a:prstGeom>
          <a:ln>
            <a:noFill/>
            <a:prstDash val="dash"/>
          </a:ln>
        </p:spPr>
        <p:txBody>
          <a:bodyPr lIns="0" tIns="0" rIns="0" bIns="0" anchor="t">
            <a:normAutofit/>
          </a:bodyPr>
          <a:lstStyle>
            <a:lvl1pPr algn="l">
              <a:defRPr sz="3200" b="0" i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lang="zh-CN" altLang="en-US" dirty="0"/>
              <a:t>单击此处添加标题</a:t>
            </a:r>
            <a:endParaRPr lang="en-US" dirty="0"/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10" hasCustomPrompt="1"/>
          </p:nvPr>
        </p:nvSpPr>
        <p:spPr>
          <a:xfrm>
            <a:off x="928921" y="1949372"/>
            <a:ext cx="6533460" cy="643926"/>
          </a:xfrm>
          <a:prstGeom prst="rect">
            <a:avLst/>
          </a:prstGeom>
        </p:spPr>
        <p:txBody>
          <a:bodyPr lIns="0" tIns="0" rIns="0" bIns="0"/>
          <a:lstStyle>
            <a:lvl1pPr>
              <a:defRPr sz="140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dirty="0"/>
              <a:t>单击此处添加文本</a:t>
            </a:r>
            <a:endParaRPr lang="en-US" dirty="0"/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结束页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 userDrawn="1"/>
        </p:nvSpPr>
        <p:spPr>
          <a:xfrm>
            <a:off x="607265" y="1402064"/>
            <a:ext cx="3919605" cy="8299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4800" dirty="0">
                <a:solidFill>
                  <a:schemeClr val="tx1"/>
                </a:solidFill>
                <a:latin typeface="微软雅黑" panose="020B0503020204020204" pitchFamily="34" charset="-122"/>
              </a:rPr>
              <a:t>Thank you.</a:t>
            </a:r>
            <a:endParaRPr lang="en-US" sz="4800" dirty="0">
              <a:solidFill>
                <a:schemeClr val="tx1"/>
              </a:solidFill>
              <a:latin typeface="微软雅黑" panose="020B0503020204020204" pitchFamily="34" charset="-122"/>
            </a:endParaRP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theme" Target="../theme/theme2.xml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slideLayout" Target="../slideLayouts/slideLayout14.xml"/><Relationship Id="rId3" Type="http://schemas.openxmlformats.org/officeDocument/2006/relationships/slideLayout" Target="../slideLayouts/slideLayout15.xml"/><Relationship Id="rId4" Type="http://schemas.openxmlformats.org/officeDocument/2006/relationships/slideLayout" Target="../slideLayouts/slideLayout16.xml"/><Relationship Id="rId5" Type="http://schemas.openxmlformats.org/officeDocument/2006/relationships/slideLayout" Target="../slideLayouts/slideLayout17.xml"/><Relationship Id="rId6" Type="http://schemas.openxmlformats.org/officeDocument/2006/relationships/slideLayout" Target="../slideLayouts/slideLayout18.xml"/><Relationship Id="rId7" Type="http://schemas.openxmlformats.org/officeDocument/2006/relationships/slideLayout" Target="../slideLayouts/slideLayout19.xml"/><Relationship Id="rId8" Type="http://schemas.openxmlformats.org/officeDocument/2006/relationships/slideLayout" Target="../slideLayouts/slideLayout20.xml"/><Relationship Id="rId9" Type="http://schemas.openxmlformats.org/officeDocument/2006/relationships/slideLayout" Target="../slideLayouts/slideLayout21.xml"/><Relationship Id="rId10" Type="http://schemas.openxmlformats.org/officeDocument/2006/relationships/slideLayout" Target="../slideLayouts/slideLayout22.xml"/><Relationship Id="rId11" Type="http://schemas.openxmlformats.org/officeDocument/2006/relationships/slideLayout" Target="../slideLayouts/slideLayout23.xml"/><Relationship Id="rId12" Type="http://schemas.openxmlformats.org/officeDocument/2006/relationships/slideLayout" Target="../slideLayouts/slideLayout24.xml"/><Relationship Id="rId13" Type="http://schemas.openxmlformats.org/officeDocument/2006/relationships/slideLayout" Target="../slideLayouts/slideLayout25.xml"/><Relationship Id="rId14" Type="http://schemas.openxmlformats.org/officeDocument/2006/relationships/slideLayout" Target="../slideLayouts/slideLayout26.xml"/><Relationship Id="rId15" Type="http://schemas.openxmlformats.org/officeDocument/2006/relationships/slideLayout" Target="../slideLayouts/slideLayout27.xml"/><Relationship Id="rId16" Type="http://schemas.openxmlformats.org/officeDocument/2006/relationships/theme" Target="../theme/theme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hape 1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Arial" panose="020B0604020202090204"/>
              <a:buNone/>
              <a:defRPr sz="3300" b="0" i="0" u="none" strike="noStrike" cap="none">
                <a:solidFill>
                  <a:schemeClr val="dk1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7" name="Shape 2"/>
          <p:cNvSpPr txBox="1">
            <a:spLocks noGrp="1"/>
          </p:cNvSpPr>
          <p:nvPr>
            <p:ph type="body" idx="1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marR="0" lvl="0" indent="-36195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 panose="020B0604020202090204"/>
              <a:buChar char="•"/>
              <a:defRPr sz="2100" b="0" i="0" u="none" strike="noStrike" cap="none">
                <a:solidFill>
                  <a:schemeClr val="dk1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604020202090204"/>
              <a:buChar char="•"/>
              <a:defRPr sz="1800" b="0" i="0" u="none" strike="noStrike" cap="none">
                <a:solidFill>
                  <a:schemeClr val="dk1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2pPr>
            <a:lvl3pPr marL="1371600" marR="0" lvl="2" indent="-32385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 panose="020B0604020202090204"/>
              <a:buChar char="•"/>
              <a:defRPr sz="1500" b="0" i="0" u="none" strike="noStrike" cap="none">
                <a:solidFill>
                  <a:schemeClr val="dk1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 panose="020B0604020202090204"/>
              <a:buChar char="•"/>
              <a:defRPr sz="1400" b="0" i="0" u="none" strike="noStrike" cap="none">
                <a:solidFill>
                  <a:schemeClr val="dk1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 panose="020B0604020202090204"/>
              <a:buChar char="•"/>
              <a:defRPr sz="1400" b="0" i="0" u="none" strike="noStrike" cap="none">
                <a:solidFill>
                  <a:schemeClr val="dk1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 panose="020B0604020202090204"/>
              <a:buChar char="•"/>
              <a:defRPr sz="1400" b="0" i="0" u="none" strike="noStrike" cap="none">
                <a:solidFill>
                  <a:schemeClr val="dk1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 panose="020B0604020202090204"/>
              <a:buChar char="•"/>
              <a:defRPr sz="1400" b="0" i="0" u="none" strike="noStrike" cap="none">
                <a:solidFill>
                  <a:schemeClr val="dk1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 panose="020B0604020202090204"/>
              <a:buChar char="•"/>
              <a:defRPr sz="1400" b="0" i="0" u="none" strike="noStrike" cap="none">
                <a:solidFill>
                  <a:schemeClr val="dk1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 panose="020B0604020202090204"/>
              <a:buChar char="•"/>
              <a:defRPr sz="1400" b="0" i="0" u="none" strike="noStrike" cap="none">
                <a:solidFill>
                  <a:schemeClr val="dk1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9pPr>
          </a:lstStyle>
          <a:p/>
        </p:txBody>
      </p:sp>
      <p:sp>
        <p:nvSpPr>
          <p:cNvPr id="8" name="Shape 3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9pPr>
          </a:lstStyle>
          <a:p/>
        </p:txBody>
      </p:sp>
      <p:sp>
        <p:nvSpPr>
          <p:cNvPr id="9" name="Shape 4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100"/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9pPr>
          </a:lstStyle>
          <a:p/>
        </p:txBody>
      </p:sp>
      <p:sp>
        <p:nvSpPr>
          <p:cNvPr id="10" name="Shape 5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1pPr>
            <a:lvl2pPr marL="0" marR="0" lvl="1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2pPr>
            <a:lvl3pPr marL="0" marR="0" lvl="2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3pPr>
            <a:lvl4pPr marL="0" marR="0" lvl="3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4pPr>
            <a:lvl5pPr marL="0" marR="0" lvl="4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5pPr>
            <a:lvl6pPr marL="0" marR="0" lvl="5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6pPr>
            <a:lvl7pPr marL="0" marR="0" lvl="6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7pPr>
            <a:lvl8pPr marL="0" marR="0" lvl="7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8pPr>
            <a:lvl9pPr marL="0" marR="0" lvl="8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</a:fld>
            <a:endParaRPr lang="zh-CN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61" r:id="rId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二级</a:t>
            </a:r>
            <a:endParaRPr lang="zh-CN" altLang="en-US" dirty="0"/>
          </a:p>
          <a:p>
            <a:pPr lvl="2"/>
            <a:r>
              <a:rPr lang="zh-CN" altLang="en-US" dirty="0"/>
              <a:t>三级</a:t>
            </a:r>
            <a:endParaRPr lang="zh-CN" altLang="en-US" dirty="0"/>
          </a:p>
          <a:p>
            <a:pPr lvl="3"/>
            <a:r>
              <a:rPr lang="zh-CN" altLang="en-US" dirty="0"/>
              <a:t>四级</a:t>
            </a:r>
            <a:endParaRPr lang="zh-CN" altLang="en-US" dirty="0"/>
          </a:p>
          <a:p>
            <a:pPr lvl="4"/>
            <a:r>
              <a:rPr lang="zh-CN" altLang="en-US" dirty="0"/>
              <a:t>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fld id="{BC5B3004-400C-43A5-AC96-1EF96FAF3383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endParaRPr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fld id="{2D2F81BE-ADF2-46EA-A947-332EC6F994A9}" type="slidenum">
              <a:rPr lang="zh-CN" altLang="en-US" smtClean="0"/>
            </a:fld>
            <a:endParaRPr lang="zh-CN" alt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3" r:id="rId1"/>
    <p:sldLayoutId id="2147483664" r:id="rId2"/>
    <p:sldLayoutId id="2147483665" r:id="rId3"/>
    <p:sldLayoutId id="2147483666" r:id="rId4"/>
    <p:sldLayoutId id="2147483667" r:id="rId5"/>
    <p:sldLayoutId id="2147483668" r:id="rId6"/>
    <p:sldLayoutId id="2147483669" r:id="rId7"/>
    <p:sldLayoutId id="2147483670" r:id="rId8"/>
    <p:sldLayoutId id="2147483671" r:id="rId9"/>
    <p:sldLayoutId id="2147483672" r:id="rId10"/>
    <p:sldLayoutId id="2147483673" r:id="rId11"/>
    <p:sldLayoutId id="2147483674" r:id="rId12"/>
    <p:sldLayoutId id="2147483675" r:id="rId13"/>
    <p:sldLayoutId id="2147483676" r:id="rId14"/>
    <p:sldLayoutId id="2147483677" r:id="rId1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90204" pitchFamily="34" charset="0"/>
        <a:buChar char="•"/>
        <a:defRPr sz="28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24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3.svg"/><Relationship Id="rId3" Type="http://schemas.openxmlformats.org/officeDocument/2006/relationships/image" Target="../media/image4.png"/><Relationship Id="rId4" Type="http://schemas.openxmlformats.org/officeDocument/2006/relationships/image" Target="../media/image5.svg"/><Relationship Id="rId5" Type="http://schemas.openxmlformats.org/officeDocument/2006/relationships/slideLayout" Target="../slideLayouts/slideLayout12.xml"/><Relationship Id="rId6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tags" Target="../tags/tag1.xml"/><Relationship Id="rId2" Type="http://schemas.openxmlformats.org/officeDocument/2006/relationships/tags" Target="../tags/tag2.xml"/><Relationship Id="rId3" Type="http://schemas.openxmlformats.org/officeDocument/2006/relationships/tags" Target="../tags/tag3.xml"/><Relationship Id="rId4" Type="http://schemas.openxmlformats.org/officeDocument/2006/relationships/tags" Target="../tags/tag4.xml"/><Relationship Id="rId5" Type="http://schemas.openxmlformats.org/officeDocument/2006/relationships/tags" Target="../tags/tag5.xml"/><Relationship Id="rId6" Type="http://schemas.openxmlformats.org/officeDocument/2006/relationships/tags" Target="../tags/tag6.xml"/><Relationship Id="rId7" Type="http://schemas.openxmlformats.org/officeDocument/2006/relationships/tags" Target="../tags/tag7.xml"/><Relationship Id="rId8" Type="http://schemas.openxmlformats.org/officeDocument/2006/relationships/tags" Target="../tags/tag8.xml"/><Relationship Id="rId9" Type="http://schemas.openxmlformats.org/officeDocument/2006/relationships/tags" Target="../tags/tag9.xml"/><Relationship Id="rId10" Type="http://schemas.openxmlformats.org/officeDocument/2006/relationships/tags" Target="../tags/tag10.xml"/><Relationship Id="rId11" Type="http://schemas.openxmlformats.org/officeDocument/2006/relationships/tags" Target="../tags/tag11.xml"/><Relationship Id="rId12" Type="http://schemas.openxmlformats.org/officeDocument/2006/relationships/tags" Target="../tags/tag12.xml"/><Relationship Id="rId13" Type="http://schemas.openxmlformats.org/officeDocument/2006/relationships/tags" Target="../tags/tag13.xml"/><Relationship Id="rId14" Type="http://schemas.openxmlformats.org/officeDocument/2006/relationships/tags" Target="../tags/tag14.xml"/><Relationship Id="rId15" Type="http://schemas.openxmlformats.org/officeDocument/2006/relationships/tags" Target="../tags/tag15.xml"/><Relationship Id="rId16" Type="http://schemas.openxmlformats.org/officeDocument/2006/relationships/tags" Target="../tags/tag16.xml"/><Relationship Id="rId17" Type="http://schemas.openxmlformats.org/officeDocument/2006/relationships/tags" Target="../tags/tag17.xml"/><Relationship Id="rId18" Type="http://schemas.openxmlformats.org/officeDocument/2006/relationships/tags" Target="../tags/tag18.xml"/><Relationship Id="rId19" Type="http://schemas.openxmlformats.org/officeDocument/2006/relationships/tags" Target="../tags/tag19.xml"/><Relationship Id="rId20" Type="http://schemas.openxmlformats.org/officeDocument/2006/relationships/tags" Target="../tags/tag20.xml"/><Relationship Id="rId21" Type="http://schemas.openxmlformats.org/officeDocument/2006/relationships/tags" Target="../tags/tag21.xml"/><Relationship Id="rId22" Type="http://schemas.openxmlformats.org/officeDocument/2006/relationships/tags" Target="../tags/tag22.xml"/><Relationship Id="rId23" Type="http://schemas.openxmlformats.org/officeDocument/2006/relationships/tags" Target="../tags/tag23.xml"/><Relationship Id="rId24" Type="http://schemas.openxmlformats.org/officeDocument/2006/relationships/tags" Target="../tags/tag24.xml"/><Relationship Id="rId25" Type="http://schemas.openxmlformats.org/officeDocument/2006/relationships/tags" Target="../tags/tag25.xml"/><Relationship Id="rId26" Type="http://schemas.openxmlformats.org/officeDocument/2006/relationships/tags" Target="../tags/tag26.xml"/><Relationship Id="rId27" Type="http://schemas.openxmlformats.org/officeDocument/2006/relationships/tags" Target="../tags/tag27.xml"/><Relationship Id="rId28" Type="http://schemas.openxmlformats.org/officeDocument/2006/relationships/tags" Target="../tags/tag28.xml"/><Relationship Id="rId29" Type="http://schemas.openxmlformats.org/officeDocument/2006/relationships/tags" Target="../tags/tag29.xml"/><Relationship Id="rId30" Type="http://schemas.openxmlformats.org/officeDocument/2006/relationships/tags" Target="../tags/tag30.xml"/><Relationship Id="rId31" Type="http://schemas.openxmlformats.org/officeDocument/2006/relationships/tags" Target="../tags/tag31.xml"/><Relationship Id="rId32" Type="http://schemas.openxmlformats.org/officeDocument/2006/relationships/tags" Target="../tags/tag32.xml"/><Relationship Id="rId33" Type="http://schemas.openxmlformats.org/officeDocument/2006/relationships/tags" Target="../tags/tag33.xml"/><Relationship Id="rId34" Type="http://schemas.openxmlformats.org/officeDocument/2006/relationships/tags" Target="../tags/tag34.xml"/><Relationship Id="rId35" Type="http://schemas.openxmlformats.org/officeDocument/2006/relationships/tags" Target="../tags/tag35.xml"/><Relationship Id="rId36" Type="http://schemas.openxmlformats.org/officeDocument/2006/relationships/tags" Target="../tags/tag36.xml"/><Relationship Id="rId37" Type="http://schemas.openxmlformats.org/officeDocument/2006/relationships/tags" Target="../tags/tag37.xml"/><Relationship Id="rId38" Type="http://schemas.openxmlformats.org/officeDocument/2006/relationships/tags" Target="../tags/tag38.xml"/><Relationship Id="rId39" Type="http://schemas.openxmlformats.org/officeDocument/2006/relationships/tags" Target="../tags/tag39.xml"/><Relationship Id="rId40" Type="http://schemas.openxmlformats.org/officeDocument/2006/relationships/tags" Target="../tags/tag40.xml"/><Relationship Id="rId41" Type="http://schemas.openxmlformats.org/officeDocument/2006/relationships/tags" Target="../tags/tag41.xml"/><Relationship Id="rId42" Type="http://schemas.openxmlformats.org/officeDocument/2006/relationships/tags" Target="../tags/tag42.xml"/><Relationship Id="rId43" Type="http://schemas.openxmlformats.org/officeDocument/2006/relationships/tags" Target="../tags/tag43.xml"/><Relationship Id="rId44" Type="http://schemas.openxmlformats.org/officeDocument/2006/relationships/tags" Target="../tags/tag44.xml"/><Relationship Id="rId45" Type="http://schemas.openxmlformats.org/officeDocument/2006/relationships/tags" Target="../tags/tag45.xml"/><Relationship Id="rId46" Type="http://schemas.openxmlformats.org/officeDocument/2006/relationships/tags" Target="../tags/tag46.xml"/><Relationship Id="rId47" Type="http://schemas.openxmlformats.org/officeDocument/2006/relationships/slideLayout" Target="../slideLayouts/slideLayout12.xml"/><Relationship Id="rId48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.cover_title"/>
          <p:cNvSpPr>
            <a:spLocks noGrp="1"/>
          </p:cNvSpPr>
          <p:nvPr>
            <p:ph type="ctrTitle"/>
          </p:nvPr>
        </p:nvSpPr>
        <p:spPr>
          <a:xfrm>
            <a:off x="952265" y="1446177"/>
            <a:ext cx="9262745" cy="690245"/>
          </a:xfrm>
        </p:spPr>
        <p:txBody>
          <a:bodyPr>
            <a:noAutofit/>
          </a:bodyPr>
          <a:lstStyle/>
          <a:p>
            <a:r>
              <a:rPr lang="en-US" altLang="zh-CN" sz="4800" b="1" spc="16" dirty="0">
                <a:cs typeface="等线" panose="02010600030101010101" charset="-122"/>
                <a:sym typeface="+mn-ea"/>
              </a:rPr>
              <a:t>ABCD-RA-项目1119进度报告</a:t>
            </a:r>
            <a:r>
              <a:rPr lang="zh-CN" altLang="en-US" sz="4800" b="1" spc="16" dirty="0">
                <a:cs typeface="等线" panose="02010600030101010101" charset="-122"/>
                <a:sym typeface="+mn-ea"/>
              </a:rPr>
              <a:t/>
            </a:r>
            <a:endParaRPr lang="zh-CN" altLang="en-US" sz="4800" b="1" spc="16" dirty="0">
              <a:cs typeface="等线" panose="02010600030101010101" charset="-122"/>
              <a:sym typeface="+mn-ea"/>
            </a:endParaRPr>
          </a:p>
        </p:txBody>
      </p:sp>
      <p:sp>
        <p:nvSpPr>
          <p:cNvPr id="6" name="text.cover_period"/>
          <p:cNvSpPr>
            <a:spLocks noGrp="1"/>
          </p:cNvSpPr>
          <p:nvPr>
            <p:ph type="body" sz="quarter" idx="10"/>
          </p:nvPr>
        </p:nvSpPr>
        <p:spPr>
          <a:xfrm>
            <a:off x="952265" y="3503642"/>
            <a:ext cx="5034488" cy="381173"/>
          </a:xfrm>
        </p:spPr>
        <p:txBody>
          <a:bodyPr lIns="0" tIns="0" rIns="0" bIns="0">
            <a:noAutofit/>
          </a:bodyPr>
          <a:lstStyle/>
          <a:p>
            <a:pPr marL="0" indent="0">
              <a:buNone/>
            </a:pPr>
            <a:r>
              <a:rPr lang="zh-CN" altLang="en-US" sz="2000" b="1" dirty="0"/>
              <a:t>报告周期：2026-06-01 – 2026-06-07</a:t>
            </a:r>
            <a:r>
              <a:rPr lang="en-US" altLang="zh-CN" sz="2000" b="1" dirty="0"/>
              <a:t/>
            </a:r>
            <a:endParaRPr lang="en-US" altLang="zh-CN" sz="2000" b="1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AutoShape 4"/>
          <p:cNvSpPr/>
          <p:nvPr/>
        </p:nvSpPr>
        <p:spPr>
          <a:xfrm>
            <a:off x="717319" y="2539518"/>
            <a:ext cx="5207000" cy="3405114"/>
          </a:xfrm>
          <a:prstGeom prst="roundRect">
            <a:avLst>
              <a:gd name="adj" fmla="val 0"/>
            </a:avLst>
          </a:prstGeom>
          <a:solidFill>
            <a:srgbClr val="F9FAFB">
              <a:alpha val="100000"/>
            </a:srgbClr>
          </a:solid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9" name="AutoShape 5"/>
          <p:cNvSpPr/>
          <p:nvPr/>
        </p:nvSpPr>
        <p:spPr>
          <a:xfrm>
            <a:off x="717319" y="1402845"/>
            <a:ext cx="989100" cy="779104"/>
          </a:xfrm>
          <a:prstGeom prst="roundRect">
            <a:avLst>
              <a:gd name="adj" fmla="val 0"/>
            </a:avLst>
          </a:prstGeom>
          <a:solidFill>
            <a:srgbClr val="0052CC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" name="text.project_info_title"/>
          <p:cNvSpPr/>
          <p:nvPr/>
        </p:nvSpPr>
        <p:spPr>
          <a:xfrm>
            <a:off x="735142" y="183563"/>
            <a:ext cx="10668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3200" b="1" i="0" u="none" strike="noStrike" dirty="0">
                <a:solidFill>
                  <a:srgbClr val="33333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项目信息概览</a:t>
            </a:r>
            <a:endParaRPr lang="en-US" sz="11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AutoShape 3"/>
          <p:cNvSpPr/>
          <p:nvPr/>
        </p:nvSpPr>
        <p:spPr>
          <a:xfrm>
            <a:off x="717319" y="1012271"/>
            <a:ext cx="10668000" cy="25400"/>
          </a:xfrm>
          <a:prstGeom prst="roundRect">
            <a:avLst>
              <a:gd name="adj" fmla="val 0"/>
            </a:avLst>
          </a:prstGeom>
          <a:solidFill>
            <a:srgbClr val="0052CC"/>
          </a:solidFill>
          <a:ln w="12700" cap="flat" cmpd="sng">
            <a:solidFill>
              <a:srgbClr val="1F0EFA"/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" name="AutoShape 5"/>
          <p:cNvSpPr/>
          <p:nvPr/>
        </p:nvSpPr>
        <p:spPr>
          <a:xfrm>
            <a:off x="717319" y="2544951"/>
            <a:ext cx="5207000" cy="531797"/>
          </a:xfrm>
          <a:prstGeom prst="roundRect">
            <a:avLst>
              <a:gd name="adj" fmla="val 0"/>
            </a:avLst>
          </a:prstGeom>
          <a:solidFill>
            <a:srgbClr val="0052CC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6" name="Picture 6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07819" y="2697351"/>
            <a:ext cx="304800" cy="265899"/>
          </a:xfrm>
          <a:prstGeom prst="rect">
            <a:avLst/>
          </a:prstGeom>
        </p:spPr>
      </p:pic>
      <p:sp>
        <p:nvSpPr>
          <p:cNvPr id="7" name="AutoShape 7"/>
          <p:cNvSpPr/>
          <p:nvPr/>
        </p:nvSpPr>
        <p:spPr>
          <a:xfrm>
            <a:off x="1352319" y="2599721"/>
            <a:ext cx="4318000" cy="443164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1" i="0" u="none" strike="noStrike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项目基本信息</a:t>
            </a:r>
            <a:endParaRPr lang="en-US" sz="11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9" name="Connector 9"/>
          <p:cNvCxnSpPr/>
          <p:nvPr/>
        </p:nvCxnSpPr>
        <p:spPr>
          <a:xfrm>
            <a:off x="913943" y="3771410"/>
            <a:ext cx="4826016" cy="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6350" cap="flat" cmpd="sng">
            <a:solidFill>
              <a:schemeClr val="bg1">
                <a:lumMod val="75000"/>
              </a:schemeClr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10" name="AutoShape 10"/>
          <p:cNvSpPr/>
          <p:nvPr/>
        </p:nvSpPr>
        <p:spPr>
          <a:xfrm>
            <a:off x="868809" y="3159513"/>
            <a:ext cx="1270000" cy="609351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1" i="0" u="none" strike="noStrike" dirty="0">
                <a:solidFill>
                  <a:srgbClr val="33333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项目名称</a:t>
            </a:r>
            <a:endParaRPr lang="en-US" sz="11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12" name="Connector 12"/>
          <p:cNvCxnSpPr/>
          <p:nvPr/>
        </p:nvCxnSpPr>
        <p:spPr>
          <a:xfrm>
            <a:off x="913943" y="4513451"/>
            <a:ext cx="4826016" cy="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6350" cap="flat" cmpd="sng">
            <a:solidFill>
              <a:schemeClr val="bg1">
                <a:lumMod val="75000"/>
              </a:schemeClr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13" name="AutoShape 13"/>
          <p:cNvSpPr/>
          <p:nvPr/>
        </p:nvSpPr>
        <p:spPr>
          <a:xfrm>
            <a:off x="868809" y="3963433"/>
            <a:ext cx="1270000" cy="421006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1" i="0" u="none" strike="noStrike" dirty="0">
                <a:solidFill>
                  <a:srgbClr val="33333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项目编码</a:t>
            </a:r>
            <a:endParaRPr lang="en-US" sz="11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4" name="text.project_name"/>
          <p:cNvSpPr/>
          <p:nvPr/>
        </p:nvSpPr>
        <p:spPr>
          <a:xfrm>
            <a:off x="2138892" y="3113218"/>
            <a:ext cx="3365500" cy="664746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17000"/>
              </a:lnSpc>
              <a:defRPr/>
            </a:pPr>
            <a:r>
              <a:rPr lang="en-US" sz="1600" b="0" i="0" u="none" strike="noStrike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ABCD-RA-项目1119</a:t>
            </a:r>
            <a:r>
              <a:rPr lang="en-US" sz="1600" b="0" i="0" u="none" strike="noStrike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/>
            </a:r>
            <a:r>
              <a:rPr lang="en-US" sz="1600" b="0" i="0" u="none" strike="noStrike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/>
            </a:r>
            <a:endParaRPr lang="en-US" sz="11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5" name="AutoShape 15"/>
          <p:cNvSpPr/>
          <p:nvPr/>
        </p:nvSpPr>
        <p:spPr>
          <a:xfrm>
            <a:off x="868809" y="4532604"/>
            <a:ext cx="1270000" cy="561208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1" i="0" u="none" strike="noStrike" dirty="0">
                <a:solidFill>
                  <a:srgbClr val="33333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客户名称</a:t>
            </a:r>
            <a:endParaRPr lang="en-US" sz="11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6" name="text.project_code"/>
          <p:cNvSpPr/>
          <p:nvPr/>
        </p:nvSpPr>
        <p:spPr>
          <a:xfrm>
            <a:off x="2289796" y="3897841"/>
            <a:ext cx="3365500" cy="545494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17000"/>
              </a:lnSpc>
              <a:defRPr/>
            </a:pPr>
            <a:r>
              <a:rPr lang="en-US" sz="1600" b="0" i="0" u="none" strike="noStrike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CN666771P25119787</a:t>
            </a:r>
            <a:r>
              <a:rPr lang="en-US" sz="1600" b="0" i="0" u="none" strike="noStrike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/>
            </a:r>
            <a:r>
              <a:rPr lang="en-US" sz="1600" b="0" i="0" u="none" strike="noStrike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/>
            </a:r>
            <a:endParaRPr lang="en-US" sz="11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7" name="AutoShape 17"/>
          <p:cNvSpPr/>
          <p:nvPr/>
        </p:nvSpPr>
        <p:spPr>
          <a:xfrm>
            <a:off x="6184207" y="2544951"/>
            <a:ext cx="5207000" cy="3403601"/>
          </a:xfrm>
          <a:prstGeom prst="roundRect">
            <a:avLst>
              <a:gd name="adj" fmla="val 0"/>
            </a:avLst>
          </a:prstGeom>
          <a:solidFill>
            <a:srgbClr val="F9FAFB">
              <a:alpha val="100000"/>
            </a:srgbClr>
          </a:solid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8" name="AutoShape 18"/>
          <p:cNvSpPr/>
          <p:nvPr/>
        </p:nvSpPr>
        <p:spPr>
          <a:xfrm>
            <a:off x="6178319" y="2544951"/>
            <a:ext cx="5207000" cy="531797"/>
          </a:xfrm>
          <a:prstGeom prst="roundRect">
            <a:avLst>
              <a:gd name="adj" fmla="val 0"/>
            </a:avLst>
          </a:prstGeom>
          <a:solidFill>
            <a:srgbClr val="0052CC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19" name="Picture 19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68819" y="2697351"/>
            <a:ext cx="304800" cy="265899"/>
          </a:xfrm>
          <a:prstGeom prst="rect">
            <a:avLst/>
          </a:prstGeom>
        </p:spPr>
      </p:pic>
      <p:sp>
        <p:nvSpPr>
          <p:cNvPr id="20" name="AutoShape 20"/>
          <p:cNvSpPr/>
          <p:nvPr/>
        </p:nvSpPr>
        <p:spPr>
          <a:xfrm>
            <a:off x="6813319" y="2589267"/>
            <a:ext cx="4318000" cy="443164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1" i="0" u="none" strike="noStrike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项目</a:t>
            </a:r>
            <a:r>
              <a:rPr lang="zh-CN" altLang="en-US" sz="1600" b="1" i="0" u="none" strike="noStrike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时间</a:t>
            </a:r>
            <a:r>
              <a:rPr lang="en-US" sz="1600" b="1" i="0" u="none" strike="noStrike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信息</a:t>
            </a:r>
            <a:endParaRPr lang="en-US" sz="11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2" name="AutoShape 22"/>
          <p:cNvSpPr/>
          <p:nvPr/>
        </p:nvSpPr>
        <p:spPr>
          <a:xfrm>
            <a:off x="6368819" y="3159513"/>
            <a:ext cx="1270000" cy="609351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zh-CN" altLang="en-US" sz="1600" b="1" dirty="0">
                <a:solidFill>
                  <a:srgbClr val="333333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Noto Sans SC"/>
              </a:rPr>
              <a:t>计划开始时间</a:t>
            </a:r>
            <a:endParaRPr lang="en-US" sz="11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5" name="AutoShape 25"/>
          <p:cNvSpPr/>
          <p:nvPr/>
        </p:nvSpPr>
        <p:spPr>
          <a:xfrm>
            <a:off x="6368819" y="3963433"/>
            <a:ext cx="1270000" cy="460517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1" i="0" u="none" strike="noStrike" dirty="0">
                <a:solidFill>
                  <a:srgbClr val="33333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计划</a:t>
            </a:r>
            <a:r>
              <a:rPr lang="zh-CN" altLang="en-US" sz="1600" b="1" i="0" u="none" strike="noStrike" dirty="0">
                <a:solidFill>
                  <a:srgbClr val="33333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结束</a:t>
            </a:r>
            <a:r>
              <a:rPr lang="en-US" sz="1600" b="1" i="0" u="none" strike="noStrike" dirty="0">
                <a:solidFill>
                  <a:srgbClr val="33333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时间</a:t>
            </a:r>
            <a:endParaRPr lang="en-US" sz="11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7" name="AutoShape 27"/>
          <p:cNvSpPr/>
          <p:nvPr/>
        </p:nvSpPr>
        <p:spPr>
          <a:xfrm>
            <a:off x="6368819" y="4501914"/>
            <a:ext cx="1270000" cy="664746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1" i="0" u="none" strike="noStrike" dirty="0">
                <a:solidFill>
                  <a:srgbClr val="33333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报告日期</a:t>
            </a:r>
            <a:endParaRPr lang="en-US" sz="11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29" name="Connector 12"/>
          <p:cNvCxnSpPr/>
          <p:nvPr/>
        </p:nvCxnSpPr>
        <p:spPr>
          <a:xfrm>
            <a:off x="913943" y="5168539"/>
            <a:ext cx="4826016" cy="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6350" cap="flat" cmpd="sng">
            <a:solidFill>
              <a:schemeClr val="bg1">
                <a:lumMod val="75000"/>
              </a:schemeClr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30" name="AutoShape 15"/>
          <p:cNvSpPr/>
          <p:nvPr/>
        </p:nvSpPr>
        <p:spPr>
          <a:xfrm>
            <a:off x="868809" y="5248970"/>
            <a:ext cx="1270000" cy="561208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zh-CN" altLang="en-US" sz="1600" b="1" dirty="0">
                <a:solidFill>
                  <a:srgbClr val="333333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Noto Sans SC"/>
              </a:rPr>
              <a:t>项目</a:t>
            </a:r>
            <a:r>
              <a:rPr lang="en-US" altLang="zh-CN" sz="1600" b="1" dirty="0">
                <a:solidFill>
                  <a:srgbClr val="333333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Noto Sans SC"/>
              </a:rPr>
              <a:t>PD</a:t>
            </a:r>
            <a:endParaRPr lang="en-US" sz="11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1" name="text.customer_name"/>
          <p:cNvSpPr/>
          <p:nvPr/>
        </p:nvSpPr>
        <p:spPr>
          <a:xfrm>
            <a:off x="2138629" y="4510131"/>
            <a:ext cx="3365500" cy="664746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17000"/>
              </a:lnSpc>
              <a:defRPr/>
            </a:pPr>
            <a:r>
              <a:rPr lang="en-US" sz="1600" b="0" i="0" u="none" strike="noStrike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张三</a:t>
            </a:r>
            <a:r>
              <a:rPr lang="en-US" sz="1600" b="0" i="0" u="none" strike="noStrike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/>
            </a:r>
            <a:r>
              <a:rPr lang="en-US" sz="1600" b="0" i="0" u="none" strike="noStrike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/>
            </a:r>
            <a:endParaRPr lang="en-US" sz="11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7" name="AutoShape 7"/>
          <p:cNvSpPr/>
          <p:nvPr/>
        </p:nvSpPr>
        <p:spPr>
          <a:xfrm>
            <a:off x="968397" y="1569729"/>
            <a:ext cx="856096" cy="443164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1" i="0" u="none" strike="noStrike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项目</a:t>
            </a:r>
            <a:endParaRPr lang="en-US" sz="1600" b="1" i="0" u="none" strike="noStrike" dirty="0">
              <a:solidFill>
                <a:srgbClr val="FFFFFF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Noto Sans SC"/>
              <a:sym typeface="Noto Sans SC"/>
            </a:endParaRPr>
          </a:p>
          <a:p>
            <a:pPr marL="0" indent="0" algn="l">
              <a:lnSpc>
                <a:spcPct val="125000"/>
              </a:lnSpc>
              <a:defRPr/>
            </a:pPr>
            <a:r>
              <a:rPr lang="zh-CN" altLang="en-US" sz="16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Noto Sans SC"/>
              </a:rPr>
              <a:t>概述</a:t>
            </a:r>
            <a:endParaRPr lang="en-US" sz="11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0" name="AutoShape 4"/>
          <p:cNvSpPr/>
          <p:nvPr/>
        </p:nvSpPr>
        <p:spPr>
          <a:xfrm>
            <a:off x="1706418" y="1412974"/>
            <a:ext cx="9696723" cy="751241"/>
          </a:xfrm>
          <a:prstGeom prst="roundRect">
            <a:avLst>
              <a:gd name="adj" fmla="val 0"/>
            </a:avLst>
          </a:prstGeom>
          <a:solidFill>
            <a:srgbClr val="F9FAFB">
              <a:alpha val="100000"/>
            </a:srgbClr>
          </a:solid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1" name="text.project_manager"/>
          <p:cNvSpPr/>
          <p:nvPr/>
        </p:nvSpPr>
        <p:spPr>
          <a:xfrm>
            <a:off x="2138472" y="5297530"/>
            <a:ext cx="1561558" cy="521377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17000"/>
              </a:lnSpc>
              <a:defRPr/>
            </a:pPr>
            <a:r>
              <a:rPr lang="en-US" sz="1600" b="0" i="0" u="none" strike="noStrike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/>
            </a:r>
            <a:endParaRPr lang="en-US" sz="11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2" name="text.planned_start_date"/>
          <p:cNvSpPr/>
          <p:nvPr/>
        </p:nvSpPr>
        <p:spPr>
          <a:xfrm>
            <a:off x="8328197" y="3159513"/>
            <a:ext cx="2922076" cy="609351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17000"/>
              </a:lnSpc>
              <a:defRPr/>
            </a:pPr>
            <a:r>
              <a:rPr lang="en-US" sz="1600" b="0" i="0" u="none" strike="noStrike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2021-06-26</a:t>
            </a:r>
            <a:r>
              <a:rPr lang="en-US" sz="1600" b="0" i="0" u="none" strike="noStrike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/>
            </a:r>
            <a:r>
              <a:rPr lang="en-US" sz="1600" b="0" i="0" u="none" strike="noStrike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/>
            </a:r>
            <a:endParaRPr lang="en-US" sz="11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44" name="Connector 9"/>
          <p:cNvCxnSpPr/>
          <p:nvPr/>
        </p:nvCxnSpPr>
        <p:spPr>
          <a:xfrm>
            <a:off x="6368819" y="3768864"/>
            <a:ext cx="4826016" cy="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6350" cap="flat" cmpd="sng">
            <a:solidFill>
              <a:schemeClr val="bg1">
                <a:lumMod val="75000"/>
              </a:schemeClr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45" name="Connector 12"/>
          <p:cNvCxnSpPr/>
          <p:nvPr/>
        </p:nvCxnSpPr>
        <p:spPr>
          <a:xfrm>
            <a:off x="6368819" y="4510905"/>
            <a:ext cx="4826016" cy="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6350" cap="flat" cmpd="sng">
            <a:solidFill>
              <a:schemeClr val="bg1">
                <a:lumMod val="75000"/>
              </a:schemeClr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46" name="Connector 12"/>
          <p:cNvCxnSpPr/>
          <p:nvPr/>
        </p:nvCxnSpPr>
        <p:spPr>
          <a:xfrm>
            <a:off x="6368819" y="5165993"/>
            <a:ext cx="4826016" cy="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6350" cap="flat" cmpd="sng">
            <a:solidFill>
              <a:schemeClr val="bg1">
                <a:lumMod val="75000"/>
              </a:schemeClr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48" name="text.planned_end_date"/>
          <p:cNvSpPr/>
          <p:nvPr/>
        </p:nvSpPr>
        <p:spPr>
          <a:xfrm>
            <a:off x="8328197" y="3837168"/>
            <a:ext cx="2866638" cy="664746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17000"/>
              </a:lnSpc>
              <a:defRPr/>
            </a:pPr>
            <a:r>
              <a:rPr lang="en-US" sz="1600" b="0" i="0" u="none" strike="noStrike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2029-07-18</a:t>
            </a:r>
            <a:r>
              <a:rPr lang="en-US" sz="1600" b="0" i="0" u="none" strike="noStrike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/>
            </a:r>
            <a:r>
              <a:rPr lang="en-US" sz="1600" b="0" i="0" u="none" strike="noStrike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/>
            </a:r>
            <a:endParaRPr lang="en-US" sz="11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9" name="text.report_date"/>
          <p:cNvSpPr/>
          <p:nvPr/>
        </p:nvSpPr>
        <p:spPr>
          <a:xfrm>
            <a:off x="8328197" y="4496762"/>
            <a:ext cx="2922076" cy="609351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17000"/>
              </a:lnSpc>
              <a:defRPr/>
            </a:pPr>
            <a:r>
              <a:rPr lang="en-US" sz="1600" b="0" i="0" u="none" strike="noStrike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2026-06-09</a:t>
            </a:r>
            <a:r>
              <a:rPr lang="en-US" sz="1600" b="0" i="0" u="none" strike="noStrike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/>
            </a:r>
            <a:r>
              <a:rPr lang="en-US" sz="1600" b="0" i="0" u="none" strike="noStrike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/>
            </a:r>
            <a:endParaRPr lang="en-US" sz="11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1" name="text.project_overview_summary"/>
          <p:cNvSpPr/>
          <p:nvPr/>
        </p:nvSpPr>
        <p:spPr>
          <a:xfrm>
            <a:off x="1706245" y="1483360"/>
            <a:ext cx="9544685" cy="609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17000"/>
              </a:lnSpc>
              <a:defRPr/>
            </a:pPr>
            <a:r>
              <a:rPr lang="en-US" sz="1600" b="0" i="0" u="none" strike="noStrike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项目进行中，阶段任务持续推进，风险处理中。</a:t>
            </a:r>
            <a:r>
              <a:rPr lang="en-US" sz="1600" b="0" i="0" u="none" strike="noStrike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/>
            </a:r>
            <a:r>
              <a:rPr lang="en-US" sz="1600" b="0" i="0" u="none" strike="noStrike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/>
            </a:r>
            <a:endParaRPr lang="en-US" sz="11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AutoShape 4"/>
          <p:cNvSpPr/>
          <p:nvPr>
            <p:custDataLst>
              <p:tags r:id="rId1"/>
            </p:custDataLst>
          </p:nvPr>
        </p:nvSpPr>
        <p:spPr>
          <a:xfrm>
            <a:off x="679682" y="1520368"/>
            <a:ext cx="3429000" cy="1968500"/>
          </a:xfrm>
          <a:prstGeom prst="roundRect">
            <a:avLst>
              <a:gd name="adj" fmla="val 0"/>
            </a:avLst>
          </a:prstGeom>
          <a:solidFill>
            <a:srgbClr val="F7F8FA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" name="AutoShape 5"/>
          <p:cNvSpPr/>
          <p:nvPr>
            <p:custDataLst>
              <p:tags r:id="rId2"/>
            </p:custDataLst>
          </p:nvPr>
        </p:nvSpPr>
        <p:spPr>
          <a:xfrm>
            <a:off x="717319" y="1527729"/>
            <a:ext cx="76200" cy="1968500"/>
          </a:xfrm>
          <a:prstGeom prst="roundRect">
            <a:avLst>
              <a:gd name="adj" fmla="val 0"/>
            </a:avLst>
          </a:prstGeom>
          <a:solidFill>
            <a:srgbClr val="0052CC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" name="AutoShape 6"/>
          <p:cNvSpPr/>
          <p:nvPr>
            <p:custDataLst>
              <p:tags r:id="rId3"/>
            </p:custDataLst>
          </p:nvPr>
        </p:nvSpPr>
        <p:spPr>
          <a:xfrm>
            <a:off x="971319" y="1718229"/>
            <a:ext cx="2794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0" i="0" u="none" strike="noStrike" dirty="0">
                <a:solidFill>
                  <a:srgbClr val="33333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01 项目状态</a:t>
            </a:r>
            <a:endParaRPr lang="en-US" sz="11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7" name="Connector 7"/>
          <p:cNvCxnSpPr/>
          <p:nvPr>
            <p:custDataLst>
              <p:tags r:id="rId4"/>
            </p:custDataLst>
          </p:nvPr>
        </p:nvCxnSpPr>
        <p:spPr>
          <a:xfrm rot="-14946">
            <a:off x="971333" y="2219879"/>
            <a:ext cx="2921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000000">
                <a:alpha val="8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8" name="text.project_status_value"/>
          <p:cNvSpPr/>
          <p:nvPr>
            <p:custDataLst>
              <p:tags r:id="rId5"/>
            </p:custDataLst>
          </p:nvPr>
        </p:nvSpPr>
        <p:spPr>
          <a:xfrm>
            <a:off x="971319" y="2416729"/>
            <a:ext cx="1905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4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Noto Sans SC"/>
              </a:rPr>
              <a:t>进行中</a:t>
            </a:r>
            <a:endParaRPr lang="en-US" sz="1100" dirty="0">
              <a:solidFill>
                <a:srgbClr val="C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pSp>
        <p:nvGrpSpPr>
          <p:cNvPr id="53" name="组合 52"/>
          <p:cNvGrpSpPr/>
          <p:nvPr>
            <p:custDataLst>
              <p:tags r:id="rId6"/>
            </p:custDataLst>
          </p:nvPr>
        </p:nvGrpSpPr>
        <p:grpSpPr>
          <a:xfrm>
            <a:off x="2926406" y="2480343"/>
            <a:ext cx="1029413" cy="355600"/>
            <a:chOff x="2926406" y="2454829"/>
            <a:chExt cx="1029413" cy="355600"/>
          </a:xfrm>
        </p:grpSpPr>
        <p:sp>
          <p:nvSpPr>
            <p:cNvPr id="9" name="AutoShape 9"/>
            <p:cNvSpPr/>
            <p:nvPr>
              <p:custDataLst>
                <p:tags r:id="rId7"/>
              </p:custDataLst>
            </p:nvPr>
          </p:nvSpPr>
          <p:spPr>
            <a:xfrm>
              <a:off x="2939819" y="2480229"/>
              <a:ext cx="1016000" cy="330200"/>
            </a:xfrm>
            <a:prstGeom prst="roundRect">
              <a:avLst>
                <a:gd name="adj" fmla="val 0"/>
              </a:avLst>
            </a:prstGeom>
            <a:solidFill>
              <a:srgbClr val="28A745">
                <a:alpha val="100000"/>
              </a:srgbClr>
            </a:solidFill>
            <a:ln w="25400" cap="flat" cmpd="sng">
              <a:noFill/>
              <a:prstDash val="solid"/>
              <a:round/>
            </a:ln>
          </p:spPr>
          <p:txBody>
            <a:bodyPr vert="horz" wrap="square" lIns="63500" tIns="63500" rIns="63500" bIns="63500" rtlCol="0" anchor="ctr"/>
            <a:lstStyle/>
            <a:p>
              <a:pPr algn="ctr">
                <a:defRPr/>
              </a:pPr>
              <a:endParaRPr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0" name="AutoShape 10"/>
            <p:cNvSpPr/>
            <p:nvPr>
              <p:custDataLst>
                <p:tags r:id="rId8"/>
              </p:custDataLst>
            </p:nvPr>
          </p:nvSpPr>
          <p:spPr>
            <a:xfrm>
              <a:off x="2926406" y="2454829"/>
              <a:ext cx="1016000" cy="330200"/>
            </a:xfrm>
            <a:prstGeom prst="rect">
              <a:avLst/>
            </a:prstGeom>
            <a:noFill/>
            <a:ln w="12700" cap="flat" cmpd="sng">
              <a:noFill/>
              <a:prstDash val="solid"/>
              <a:round/>
            </a:ln>
          </p:spPr>
          <p:txBody>
            <a:bodyPr vert="horz" wrap="square" lIns="0" tIns="0" rIns="0" bIns="0" rtlCol="0" anchor="ctr" anchorCtr="0"/>
            <a:lstStyle/>
            <a:p>
              <a:pPr marL="0" indent="0" algn="ctr">
                <a:lnSpc>
                  <a:spcPct val="125000"/>
                </a:lnSpc>
                <a:defRPr/>
              </a:pPr>
              <a:r>
                <a:rPr lang="en-US" sz="1400" b="1" i="0" u="none" strike="noStrike" dirty="0">
                  <a:solidFill>
                    <a:srgbClr val="FFFFFF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Noto Sans SC"/>
                  <a:sym typeface="Noto Sans SC"/>
                </a:rPr>
                <a:t>状态xx</a:t>
              </a:r>
              <a:endParaRPr lang="en-US" sz="1100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sp>
        <p:nvSpPr>
          <p:cNvPr id="11" name="AutoShape 11"/>
          <p:cNvSpPr/>
          <p:nvPr>
            <p:custDataLst>
              <p:tags r:id="rId9"/>
            </p:custDataLst>
          </p:nvPr>
        </p:nvSpPr>
        <p:spPr>
          <a:xfrm>
            <a:off x="717319" y="3877229"/>
            <a:ext cx="3429000" cy="1968500"/>
          </a:xfrm>
          <a:prstGeom prst="roundRect">
            <a:avLst>
              <a:gd name="adj" fmla="val 0"/>
            </a:avLst>
          </a:prstGeom>
          <a:solidFill>
            <a:srgbClr val="F7F8FA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2" name="AutoShape 12"/>
          <p:cNvSpPr/>
          <p:nvPr>
            <p:custDataLst>
              <p:tags r:id="rId10"/>
            </p:custDataLst>
          </p:nvPr>
        </p:nvSpPr>
        <p:spPr>
          <a:xfrm>
            <a:off x="717319" y="3877229"/>
            <a:ext cx="76200" cy="1968500"/>
          </a:xfrm>
          <a:prstGeom prst="roundRect">
            <a:avLst>
              <a:gd name="adj" fmla="val 0"/>
            </a:avLst>
          </a:prstGeom>
          <a:solidFill>
            <a:srgbClr val="0052CC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3" name="AutoShape 13"/>
          <p:cNvSpPr/>
          <p:nvPr>
            <p:custDataLst>
              <p:tags r:id="rId11"/>
            </p:custDataLst>
          </p:nvPr>
        </p:nvSpPr>
        <p:spPr>
          <a:xfrm>
            <a:off x="971319" y="4067729"/>
            <a:ext cx="2794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0" i="0" u="none" strike="noStrike" dirty="0">
                <a:solidFill>
                  <a:srgbClr val="33333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04 </a:t>
            </a:r>
            <a:r>
              <a:rPr lang="zh-CN" altLang="en-US" sz="1600" b="0" i="0" u="none" strike="noStrike" dirty="0">
                <a:solidFill>
                  <a:srgbClr val="33333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技术状态</a:t>
            </a:r>
            <a:endParaRPr lang="en-US" sz="11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14" name="Connector 14"/>
          <p:cNvCxnSpPr/>
          <p:nvPr>
            <p:custDataLst>
              <p:tags r:id="rId12"/>
            </p:custDataLst>
          </p:nvPr>
        </p:nvCxnSpPr>
        <p:spPr>
          <a:xfrm rot="-14946">
            <a:off x="971333" y="4569379"/>
            <a:ext cx="2921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000000">
                <a:alpha val="8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6" name="AutoShape 16"/>
          <p:cNvSpPr/>
          <p:nvPr>
            <p:custDataLst>
              <p:tags r:id="rId13"/>
            </p:custDataLst>
          </p:nvPr>
        </p:nvSpPr>
        <p:spPr>
          <a:xfrm>
            <a:off x="2939819" y="4829729"/>
            <a:ext cx="1016000" cy="330200"/>
          </a:xfrm>
          <a:prstGeom prst="roundRect">
            <a:avLst>
              <a:gd name="adj" fmla="val 0"/>
            </a:avLst>
          </a:prstGeom>
          <a:solidFill>
            <a:srgbClr val="28A745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7" name="shape.technical_status_badge"/>
          <p:cNvSpPr/>
          <p:nvPr>
            <p:custDataLst>
              <p:tags r:id="rId14"/>
            </p:custDataLst>
          </p:nvPr>
        </p:nvSpPr>
        <p:spPr>
          <a:xfrm>
            <a:off x="2939819" y="4829729"/>
            <a:ext cx="1016000" cy="330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zh-CN" altLang="en-US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Noto Sans SC"/>
              </a:rPr>
              <a:t>状态</a:t>
            </a:r>
            <a:r>
              <a:rPr lang="en-US" altLang="zh-CN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Noto Sans SC"/>
              </a:rPr>
              <a:t>xx</a:t>
            </a:r>
            <a:endParaRPr lang="en-US" sz="11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8" name="AutoShape 18"/>
          <p:cNvSpPr/>
          <p:nvPr>
            <p:custDataLst>
              <p:tags r:id="rId15"/>
            </p:custDataLst>
          </p:nvPr>
        </p:nvSpPr>
        <p:spPr>
          <a:xfrm>
            <a:off x="4400319" y="1527729"/>
            <a:ext cx="3429000" cy="1968500"/>
          </a:xfrm>
          <a:prstGeom prst="roundRect">
            <a:avLst>
              <a:gd name="adj" fmla="val 0"/>
            </a:avLst>
          </a:prstGeom>
          <a:solidFill>
            <a:srgbClr val="F7F8FA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9" name="AutoShape 19"/>
          <p:cNvSpPr/>
          <p:nvPr>
            <p:custDataLst>
              <p:tags r:id="rId16"/>
            </p:custDataLst>
          </p:nvPr>
        </p:nvSpPr>
        <p:spPr>
          <a:xfrm>
            <a:off x="4400319" y="1527729"/>
            <a:ext cx="76200" cy="1968500"/>
          </a:xfrm>
          <a:prstGeom prst="roundRect">
            <a:avLst>
              <a:gd name="adj" fmla="val 0"/>
            </a:avLst>
          </a:prstGeom>
          <a:solidFill>
            <a:srgbClr val="0052CC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0" name="AutoShape 20"/>
          <p:cNvSpPr/>
          <p:nvPr>
            <p:custDataLst>
              <p:tags r:id="rId17"/>
            </p:custDataLst>
          </p:nvPr>
        </p:nvSpPr>
        <p:spPr>
          <a:xfrm>
            <a:off x="4654319" y="1718229"/>
            <a:ext cx="2794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0" i="0" u="none" strike="noStrike" dirty="0">
                <a:solidFill>
                  <a:srgbClr val="33333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02 </a:t>
            </a:r>
            <a:r>
              <a:rPr lang="zh-CN" altLang="en-US" sz="1600" b="0" i="0" u="none" strike="noStrike" dirty="0">
                <a:solidFill>
                  <a:srgbClr val="33333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进度状态</a:t>
            </a:r>
            <a:endParaRPr lang="en-US" sz="11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21" name="Connector 21"/>
          <p:cNvCxnSpPr/>
          <p:nvPr>
            <p:custDataLst>
              <p:tags r:id="rId18"/>
            </p:custDataLst>
          </p:nvPr>
        </p:nvCxnSpPr>
        <p:spPr>
          <a:xfrm rot="-14946">
            <a:off x="4654333" y="2219879"/>
            <a:ext cx="2921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000000">
                <a:alpha val="8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5" name="AutoShape 25"/>
          <p:cNvSpPr/>
          <p:nvPr>
            <p:custDataLst>
              <p:tags r:id="rId19"/>
            </p:custDataLst>
          </p:nvPr>
        </p:nvSpPr>
        <p:spPr>
          <a:xfrm>
            <a:off x="4400319" y="3877229"/>
            <a:ext cx="3429000" cy="1968500"/>
          </a:xfrm>
          <a:prstGeom prst="roundRect">
            <a:avLst>
              <a:gd name="adj" fmla="val 0"/>
            </a:avLst>
          </a:prstGeom>
          <a:solidFill>
            <a:srgbClr val="F7F8FA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6" name="AutoShape 26"/>
          <p:cNvSpPr/>
          <p:nvPr>
            <p:custDataLst>
              <p:tags r:id="rId20"/>
            </p:custDataLst>
          </p:nvPr>
        </p:nvSpPr>
        <p:spPr>
          <a:xfrm>
            <a:off x="4400319" y="3877229"/>
            <a:ext cx="76200" cy="1968500"/>
          </a:xfrm>
          <a:prstGeom prst="roundRect">
            <a:avLst>
              <a:gd name="adj" fmla="val 0"/>
            </a:avLst>
          </a:prstGeom>
          <a:solidFill>
            <a:srgbClr val="0052CC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7" name="AutoShape 27"/>
          <p:cNvSpPr/>
          <p:nvPr>
            <p:custDataLst>
              <p:tags r:id="rId21"/>
            </p:custDataLst>
          </p:nvPr>
        </p:nvSpPr>
        <p:spPr>
          <a:xfrm>
            <a:off x="4654319" y="4067729"/>
            <a:ext cx="2794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0" i="0" u="none" strike="noStrike" dirty="0">
                <a:solidFill>
                  <a:srgbClr val="33333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05 </a:t>
            </a:r>
            <a:r>
              <a:rPr lang="zh-CN" altLang="en-US" sz="1600" b="0" i="0" u="none" strike="noStrike" dirty="0">
                <a:solidFill>
                  <a:srgbClr val="33333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资源状态</a:t>
            </a:r>
            <a:endParaRPr lang="en-US" sz="11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28" name="Connector 28"/>
          <p:cNvCxnSpPr/>
          <p:nvPr>
            <p:custDataLst>
              <p:tags r:id="rId22"/>
            </p:custDataLst>
          </p:nvPr>
        </p:nvCxnSpPr>
        <p:spPr>
          <a:xfrm rot="-14946">
            <a:off x="4654333" y="4569379"/>
            <a:ext cx="2921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000000">
                <a:alpha val="8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9" name="text.progress_status_value"/>
          <p:cNvSpPr/>
          <p:nvPr>
            <p:custDataLst>
              <p:tags r:id="rId23"/>
            </p:custDataLst>
          </p:nvPr>
        </p:nvSpPr>
        <p:spPr>
          <a:xfrm>
            <a:off x="4784326" y="2365929"/>
            <a:ext cx="1905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altLang="zh-CN" sz="2400" b="1" dirty="0">
                <a:solidFill>
                  <a:srgbClr val="33333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存在风险</a:t>
            </a:r>
            <a:endParaRPr lang="en-US" sz="11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2" name="AutoShape 32"/>
          <p:cNvSpPr/>
          <p:nvPr>
            <p:custDataLst>
              <p:tags r:id="rId24"/>
            </p:custDataLst>
          </p:nvPr>
        </p:nvSpPr>
        <p:spPr>
          <a:xfrm>
            <a:off x="8083319" y="1527729"/>
            <a:ext cx="3429000" cy="1968500"/>
          </a:xfrm>
          <a:prstGeom prst="roundRect">
            <a:avLst>
              <a:gd name="adj" fmla="val 0"/>
            </a:avLst>
          </a:prstGeom>
          <a:solidFill>
            <a:srgbClr val="F7F8FA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3" name="AutoShape 33"/>
          <p:cNvSpPr/>
          <p:nvPr>
            <p:custDataLst>
              <p:tags r:id="rId25"/>
            </p:custDataLst>
          </p:nvPr>
        </p:nvSpPr>
        <p:spPr>
          <a:xfrm>
            <a:off x="8083319" y="1527729"/>
            <a:ext cx="76200" cy="1968500"/>
          </a:xfrm>
          <a:prstGeom prst="roundRect">
            <a:avLst>
              <a:gd name="adj" fmla="val 0"/>
            </a:avLst>
          </a:prstGeom>
          <a:solidFill>
            <a:srgbClr val="0052CC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4" name="AutoShape 34"/>
          <p:cNvSpPr/>
          <p:nvPr>
            <p:custDataLst>
              <p:tags r:id="rId26"/>
            </p:custDataLst>
          </p:nvPr>
        </p:nvSpPr>
        <p:spPr>
          <a:xfrm>
            <a:off x="8337319" y="1718229"/>
            <a:ext cx="2794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0" i="0" u="none" strike="noStrike" dirty="0">
                <a:solidFill>
                  <a:srgbClr val="33333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03 </a:t>
            </a:r>
            <a:r>
              <a:rPr lang="zh-CN" altLang="en-US" sz="1600" b="0" i="0" u="none" strike="noStrike" dirty="0">
                <a:solidFill>
                  <a:srgbClr val="33333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项目进度</a:t>
            </a:r>
            <a:endParaRPr lang="en-US" sz="11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35" name="Connector 35"/>
          <p:cNvCxnSpPr/>
          <p:nvPr>
            <p:custDataLst>
              <p:tags r:id="rId27"/>
            </p:custDataLst>
          </p:nvPr>
        </p:nvCxnSpPr>
        <p:spPr>
          <a:xfrm rot="-14946">
            <a:off x="8337333" y="2219879"/>
            <a:ext cx="2921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000000">
                <a:alpha val="8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6" name="text.project_progress_value"/>
          <p:cNvSpPr/>
          <p:nvPr>
            <p:custDataLst>
              <p:tags r:id="rId28"/>
            </p:custDataLst>
          </p:nvPr>
        </p:nvSpPr>
        <p:spPr>
          <a:xfrm>
            <a:off x="8337318" y="2416729"/>
            <a:ext cx="2231885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zh-CN" altLang="en-US" sz="2400" b="1" i="0" u="none" strike="noStrike" dirty="0">
                <a:solidFill>
                  <a:srgbClr val="33333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累积完成 13%</a:t>
            </a:r>
            <a:r>
              <a:rPr lang="en-US" sz="2400" b="1" i="0" u="none" strike="noStrike" dirty="0">
                <a:solidFill>
                  <a:srgbClr val="33333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/>
            </a:r>
            <a:r>
              <a:rPr lang="en-US" altLang="zh-CN" sz="2400" b="1" i="0" u="none" strike="noStrike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/>
            </a:r>
            <a:r>
              <a:rPr lang="en-US" sz="2400" b="1" i="0" u="none" strike="noStrike" dirty="0">
                <a:solidFill>
                  <a:srgbClr val="33333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/>
            </a:r>
            <a:endParaRPr lang="en-US" sz="11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pSp>
        <p:nvGrpSpPr>
          <p:cNvPr id="57" name="组合 56"/>
          <p:cNvGrpSpPr/>
          <p:nvPr>
            <p:custDataLst>
              <p:tags r:id="rId29"/>
            </p:custDataLst>
          </p:nvPr>
        </p:nvGrpSpPr>
        <p:grpSpPr>
          <a:xfrm>
            <a:off x="10510870" y="2481468"/>
            <a:ext cx="1016000" cy="353350"/>
            <a:chOff x="10510870" y="2520808"/>
            <a:chExt cx="1016000" cy="353350"/>
          </a:xfrm>
        </p:grpSpPr>
        <p:sp>
          <p:nvSpPr>
            <p:cNvPr id="37" name="AutoShape 37"/>
            <p:cNvSpPr/>
            <p:nvPr>
              <p:custDataLst>
                <p:tags r:id="rId30"/>
              </p:custDataLst>
            </p:nvPr>
          </p:nvSpPr>
          <p:spPr>
            <a:xfrm>
              <a:off x="10528348" y="2543958"/>
              <a:ext cx="946333" cy="330200"/>
            </a:xfrm>
            <a:prstGeom prst="roundRect">
              <a:avLst>
                <a:gd name="adj" fmla="val 0"/>
              </a:avLst>
            </a:prstGeom>
            <a:solidFill>
              <a:srgbClr val="28A745">
                <a:alpha val="100000"/>
              </a:srgbClr>
            </a:solidFill>
            <a:ln w="25400" cap="flat" cmpd="sng">
              <a:noFill/>
              <a:prstDash val="solid"/>
              <a:round/>
            </a:ln>
          </p:spPr>
          <p:txBody>
            <a:bodyPr vert="horz" wrap="square" lIns="63500" tIns="63500" rIns="63500" bIns="63500" rtlCol="0" anchor="ctr"/>
            <a:lstStyle/>
            <a:p>
              <a:pPr algn="ctr">
                <a:defRPr/>
              </a:pPr>
              <a:endParaRPr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38" name="AutoShape 38"/>
            <p:cNvSpPr/>
            <p:nvPr>
              <p:custDataLst>
                <p:tags r:id="rId31"/>
              </p:custDataLst>
            </p:nvPr>
          </p:nvSpPr>
          <p:spPr>
            <a:xfrm>
              <a:off x="10510870" y="2520808"/>
              <a:ext cx="1016000" cy="330200"/>
            </a:xfrm>
            <a:prstGeom prst="rect">
              <a:avLst/>
            </a:prstGeom>
            <a:noFill/>
            <a:ln w="12700" cap="flat" cmpd="sng">
              <a:noFill/>
              <a:prstDash val="solid"/>
              <a:round/>
            </a:ln>
          </p:spPr>
          <p:txBody>
            <a:bodyPr vert="horz" wrap="square" lIns="0" tIns="0" rIns="0" bIns="0" rtlCol="0" anchor="ctr" anchorCtr="0"/>
            <a:lstStyle/>
            <a:p>
              <a:pPr marL="0" indent="0" algn="ctr">
                <a:lnSpc>
                  <a:spcPct val="125000"/>
                </a:lnSpc>
                <a:defRPr/>
              </a:pPr>
              <a:r>
                <a:rPr lang="zh-CN" altLang="en-US" b="1" dirty="0">
                  <a:solidFill>
                    <a:srgbClr val="FFFFFF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Noto Sans SC"/>
                </a:rPr>
                <a:t>进度</a:t>
              </a:r>
              <a:r>
                <a:rPr lang="en-US" altLang="zh-CN" b="1" dirty="0">
                  <a:solidFill>
                    <a:srgbClr val="FFFFFF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Noto Sans SC"/>
                </a:rPr>
                <a:t>xx</a:t>
              </a:r>
              <a:endParaRPr lang="en-US" sz="1100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sp>
        <p:nvSpPr>
          <p:cNvPr id="39" name="AutoShape 39"/>
          <p:cNvSpPr/>
          <p:nvPr>
            <p:custDataLst>
              <p:tags r:id="rId32"/>
            </p:custDataLst>
          </p:nvPr>
        </p:nvSpPr>
        <p:spPr>
          <a:xfrm>
            <a:off x="8083319" y="3877229"/>
            <a:ext cx="3429000" cy="1968500"/>
          </a:xfrm>
          <a:prstGeom prst="roundRect">
            <a:avLst>
              <a:gd name="adj" fmla="val 0"/>
            </a:avLst>
          </a:prstGeom>
          <a:solidFill>
            <a:srgbClr val="F7F8FA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0" name="AutoShape 40"/>
          <p:cNvSpPr/>
          <p:nvPr>
            <p:custDataLst>
              <p:tags r:id="rId33"/>
            </p:custDataLst>
          </p:nvPr>
        </p:nvSpPr>
        <p:spPr>
          <a:xfrm>
            <a:off x="8083319" y="3877229"/>
            <a:ext cx="76200" cy="1968500"/>
          </a:xfrm>
          <a:prstGeom prst="roundRect">
            <a:avLst>
              <a:gd name="adj" fmla="val 0"/>
            </a:avLst>
          </a:prstGeom>
          <a:solidFill>
            <a:srgbClr val="0052CC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1" name="AutoShape 41"/>
          <p:cNvSpPr/>
          <p:nvPr>
            <p:custDataLst>
              <p:tags r:id="rId34"/>
            </p:custDataLst>
          </p:nvPr>
        </p:nvSpPr>
        <p:spPr>
          <a:xfrm>
            <a:off x="8337319" y="4067729"/>
            <a:ext cx="2794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0" i="0" u="none" strike="noStrike" dirty="0">
                <a:solidFill>
                  <a:srgbClr val="33333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06 </a:t>
            </a:r>
            <a:r>
              <a:rPr lang="zh-CN" altLang="en-US" sz="1600" dirty="0">
                <a:solidFill>
                  <a:srgbClr val="33333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经营状态</a:t>
            </a:r>
            <a:endParaRPr lang="en-US" sz="11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42" name="Connector 42"/>
          <p:cNvCxnSpPr/>
          <p:nvPr>
            <p:custDataLst>
              <p:tags r:id="rId35"/>
            </p:custDataLst>
          </p:nvPr>
        </p:nvCxnSpPr>
        <p:spPr>
          <a:xfrm rot="-14946">
            <a:off x="8337333" y="4569379"/>
            <a:ext cx="2921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000000">
                <a:alpha val="8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3" name="text.business_status_value"/>
          <p:cNvSpPr/>
          <p:nvPr>
            <p:custDataLst>
              <p:tags r:id="rId36"/>
            </p:custDataLst>
          </p:nvPr>
        </p:nvSpPr>
        <p:spPr>
          <a:xfrm>
            <a:off x="8362719" y="4804329"/>
            <a:ext cx="1905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400" b="1" i="0" u="none" strike="noStrike" dirty="0">
                <a:solidFill>
                  <a:srgbClr val="33333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预算使用率 </a:t>
            </a:r>
            <a:r>
              <a:rPr lang="en-US" altLang="zh-CN" sz="2400" b="1" i="0" u="none" strike="noStrike" dirty="0">
                <a:solidFill>
                  <a:srgbClr val="33333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xx</a:t>
            </a:r>
            <a:r>
              <a:rPr lang="en-US" sz="2400" b="1" i="0" u="none" strike="noStrike" dirty="0">
                <a:solidFill>
                  <a:srgbClr val="33333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%</a:t>
            </a:r>
            <a:endParaRPr lang="en-US" sz="11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pSp>
        <p:nvGrpSpPr>
          <p:cNvPr id="58" name="组合 57"/>
          <p:cNvGrpSpPr/>
          <p:nvPr>
            <p:custDataLst>
              <p:tags r:id="rId37"/>
            </p:custDataLst>
          </p:nvPr>
        </p:nvGrpSpPr>
        <p:grpSpPr>
          <a:xfrm>
            <a:off x="10481429" y="4829729"/>
            <a:ext cx="1016000" cy="330200"/>
            <a:chOff x="10481429" y="4829729"/>
            <a:chExt cx="1016000" cy="330200"/>
          </a:xfrm>
        </p:grpSpPr>
        <p:sp>
          <p:nvSpPr>
            <p:cNvPr id="44" name="AutoShape 44"/>
            <p:cNvSpPr/>
            <p:nvPr>
              <p:custDataLst>
                <p:tags r:id="rId38"/>
              </p:custDataLst>
            </p:nvPr>
          </p:nvSpPr>
          <p:spPr>
            <a:xfrm>
              <a:off x="10481429" y="4829729"/>
              <a:ext cx="1016000" cy="330200"/>
            </a:xfrm>
            <a:prstGeom prst="roundRect">
              <a:avLst>
                <a:gd name="adj" fmla="val 0"/>
              </a:avLst>
            </a:prstGeom>
            <a:solidFill>
              <a:srgbClr val="FFC107">
                <a:alpha val="100000"/>
              </a:srgbClr>
            </a:solidFill>
            <a:ln w="25400" cap="flat" cmpd="sng">
              <a:noFill/>
              <a:prstDash val="solid"/>
              <a:round/>
            </a:ln>
          </p:spPr>
          <p:txBody>
            <a:bodyPr vert="horz" wrap="square" lIns="63500" tIns="63500" rIns="63500" bIns="63500" rtlCol="0" anchor="ctr"/>
            <a:lstStyle/>
            <a:p>
              <a:pPr algn="ctr">
                <a:defRPr/>
              </a:pPr>
              <a:endParaRPr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45" name="AutoShape 45"/>
            <p:cNvSpPr/>
            <p:nvPr>
              <p:custDataLst>
                <p:tags r:id="rId39"/>
              </p:custDataLst>
            </p:nvPr>
          </p:nvSpPr>
          <p:spPr>
            <a:xfrm>
              <a:off x="10481429" y="4829729"/>
              <a:ext cx="1016000" cy="330200"/>
            </a:xfrm>
            <a:prstGeom prst="rect">
              <a:avLst/>
            </a:prstGeom>
            <a:noFill/>
            <a:ln w="12700" cap="flat" cmpd="sng">
              <a:noFill/>
              <a:prstDash val="solid"/>
              <a:round/>
            </a:ln>
          </p:spPr>
          <p:txBody>
            <a:bodyPr vert="horz" wrap="square" lIns="0" tIns="0" rIns="0" bIns="0" rtlCol="0" anchor="ctr" anchorCtr="0"/>
            <a:lstStyle/>
            <a:p>
              <a:pPr algn="ctr">
                <a:lnSpc>
                  <a:spcPct val="125000"/>
                </a:lnSpc>
                <a:defRPr/>
              </a:pPr>
              <a:r>
                <a:rPr lang="zh-CN" altLang="en-US" b="1" dirty="0">
                  <a:solidFill>
                    <a:srgbClr val="FFFFFF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需要关注</a:t>
              </a:r>
              <a:endParaRPr lang="en-US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sp>
        <p:nvSpPr>
          <p:cNvPr id="46" name="text.dashboard_title"/>
          <p:cNvSpPr/>
          <p:nvPr/>
        </p:nvSpPr>
        <p:spPr>
          <a:xfrm>
            <a:off x="735142" y="183563"/>
            <a:ext cx="10668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3200" b="1" i="0" u="none" strike="noStrike" dirty="0">
                <a:solidFill>
                  <a:srgbClr val="33333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项目</a:t>
            </a:r>
            <a:r>
              <a:rPr lang="zh-CN" altLang="en-US" sz="3200" b="1" i="0" u="none" strike="noStrike" dirty="0">
                <a:solidFill>
                  <a:srgbClr val="33333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仪表盘</a:t>
            </a:r>
            <a:endParaRPr lang="en-US" sz="11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7" name="AutoShape 3"/>
          <p:cNvSpPr/>
          <p:nvPr/>
        </p:nvSpPr>
        <p:spPr>
          <a:xfrm>
            <a:off x="717319" y="1012271"/>
            <a:ext cx="10668000" cy="25400"/>
          </a:xfrm>
          <a:prstGeom prst="roundRect">
            <a:avLst>
              <a:gd name="adj" fmla="val 0"/>
            </a:avLst>
          </a:prstGeom>
          <a:solidFill>
            <a:srgbClr val="0052CC"/>
          </a:solidFill>
          <a:ln w="12700" cap="flat" cmpd="sng">
            <a:solidFill>
              <a:srgbClr val="1F0EFA"/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2" name="text.technical_status_value"/>
          <p:cNvSpPr/>
          <p:nvPr>
            <p:custDataLst>
              <p:tags r:id="rId40"/>
            </p:custDataLst>
          </p:nvPr>
        </p:nvSpPr>
        <p:spPr>
          <a:xfrm>
            <a:off x="971319" y="4892097"/>
            <a:ext cx="1919547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zh-CN" altLang="en-US" sz="2400" b="1" dirty="0">
                <a:solidFill>
                  <a:srgbClr val="33333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技术满足度</a:t>
            </a:r>
            <a:r>
              <a:rPr lang="en-US" altLang="zh-CN" sz="2400" b="1" dirty="0">
                <a:solidFill>
                  <a:srgbClr val="33333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xx</a:t>
            </a:r>
            <a:r>
              <a:rPr lang="en-US" sz="2400" b="1" i="0" u="none" strike="noStrike" dirty="0">
                <a:solidFill>
                  <a:srgbClr val="33333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%</a:t>
            </a:r>
            <a:endParaRPr lang="en-US" sz="11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9" name="AutoShape 23"/>
          <p:cNvSpPr/>
          <p:nvPr>
            <p:custDataLst>
              <p:tags r:id="rId41"/>
            </p:custDataLst>
          </p:nvPr>
        </p:nvSpPr>
        <p:spPr>
          <a:xfrm>
            <a:off x="6622819" y="4815897"/>
            <a:ext cx="1016000" cy="330200"/>
          </a:xfrm>
          <a:prstGeom prst="roundRect">
            <a:avLst>
              <a:gd name="adj" fmla="val 0"/>
            </a:avLst>
          </a:prstGeom>
          <a:solidFill>
            <a:srgbClr val="FFC107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0" name="shape.resource_status_badge"/>
          <p:cNvSpPr/>
          <p:nvPr>
            <p:custDataLst>
              <p:tags r:id="rId42"/>
            </p:custDataLst>
          </p:nvPr>
        </p:nvSpPr>
        <p:spPr>
          <a:xfrm>
            <a:off x="6622819" y="4815897"/>
            <a:ext cx="1016000" cy="330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1400" b="1" i="0" u="none" strike="noStrike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需要关注</a:t>
            </a:r>
            <a:endParaRPr lang="en-US" sz="11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2" name="shape.progress_status_badge"/>
          <p:cNvSpPr/>
          <p:nvPr/>
        </p:nvSpPr>
        <p:spPr>
          <a:xfrm>
            <a:off x="6459223" y="2473879"/>
            <a:ext cx="1016000" cy="330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1400" b="1" i="0" u="none" strike="noStrike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状态正常</a:t>
            </a:r>
            <a:endParaRPr lang="en-US" sz="11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pSp>
        <p:nvGrpSpPr>
          <p:cNvPr id="54" name="组合 53"/>
          <p:cNvGrpSpPr/>
          <p:nvPr>
            <p:custDataLst>
              <p:tags r:id="rId43"/>
            </p:custDataLst>
          </p:nvPr>
        </p:nvGrpSpPr>
        <p:grpSpPr>
          <a:xfrm>
            <a:off x="6446323" y="2480343"/>
            <a:ext cx="1029413" cy="355600"/>
            <a:chOff x="2926406" y="2454829"/>
            <a:chExt cx="1029413" cy="355600"/>
          </a:xfrm>
        </p:grpSpPr>
        <p:sp>
          <p:nvSpPr>
            <p:cNvPr id="55" name="AutoShape 9"/>
            <p:cNvSpPr/>
            <p:nvPr>
              <p:custDataLst>
                <p:tags r:id="rId44"/>
              </p:custDataLst>
            </p:nvPr>
          </p:nvSpPr>
          <p:spPr>
            <a:xfrm>
              <a:off x="2939819" y="2480229"/>
              <a:ext cx="1016000" cy="330200"/>
            </a:xfrm>
            <a:prstGeom prst="roundRect">
              <a:avLst>
                <a:gd name="adj" fmla="val 0"/>
              </a:avLst>
            </a:prstGeom>
            <a:solidFill>
              <a:srgbClr val="28A745">
                <a:alpha val="100000"/>
              </a:srgbClr>
            </a:solidFill>
            <a:ln w="25400" cap="flat" cmpd="sng">
              <a:noFill/>
              <a:prstDash val="solid"/>
              <a:round/>
            </a:ln>
          </p:spPr>
          <p:txBody>
            <a:bodyPr vert="horz" wrap="square" lIns="63500" tIns="63500" rIns="63500" bIns="63500" rtlCol="0" anchor="ctr"/>
            <a:lstStyle/>
            <a:p>
              <a:pPr algn="ctr">
                <a:defRPr/>
              </a:pPr>
              <a:endParaRPr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56" name="AutoShape 10"/>
            <p:cNvSpPr/>
            <p:nvPr>
              <p:custDataLst>
                <p:tags r:id="rId45"/>
              </p:custDataLst>
            </p:nvPr>
          </p:nvSpPr>
          <p:spPr>
            <a:xfrm>
              <a:off x="2926406" y="2454829"/>
              <a:ext cx="1016000" cy="330200"/>
            </a:xfrm>
            <a:prstGeom prst="rect">
              <a:avLst/>
            </a:prstGeom>
            <a:noFill/>
            <a:ln w="12700" cap="flat" cmpd="sng">
              <a:noFill/>
              <a:prstDash val="solid"/>
              <a:round/>
            </a:ln>
          </p:spPr>
          <p:txBody>
            <a:bodyPr vert="horz" wrap="square" lIns="0" tIns="0" rIns="0" bIns="0" rtlCol="0" anchor="ctr" anchorCtr="0"/>
            <a:lstStyle/>
            <a:p>
              <a:pPr marL="0" indent="0" algn="ctr">
                <a:lnSpc>
                  <a:spcPct val="125000"/>
                </a:lnSpc>
                <a:defRPr/>
              </a:pPr>
              <a:r>
                <a:rPr lang="en-US" sz="1400" b="1" i="0" u="none" strike="noStrike" dirty="0">
                  <a:solidFill>
                    <a:srgbClr val="FFFFFF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Noto Sans SC"/>
                  <a:sym typeface="Noto Sans SC"/>
                </a:rPr>
                <a:t>状态xx</a:t>
              </a:r>
              <a:endParaRPr lang="en-US" sz="1100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sp>
        <p:nvSpPr>
          <p:cNvPr id="15" name="text.resource_status_value"/>
          <p:cNvSpPr/>
          <p:nvPr>
            <p:custDataLst>
              <p:tags r:id="rId46"/>
            </p:custDataLst>
          </p:nvPr>
        </p:nvSpPr>
        <p:spPr>
          <a:xfrm>
            <a:off x="4628919" y="4726997"/>
            <a:ext cx="1905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zh-CN" altLang="en-US" sz="2400" b="1" dirty="0">
                <a:solidFill>
                  <a:srgbClr val="333333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Noto Sans SC"/>
              </a:rPr>
              <a:t>资源到位</a:t>
            </a:r>
            <a:r>
              <a:rPr lang="en-US" altLang="zh-CN" sz="2400" b="1" dirty="0">
                <a:solidFill>
                  <a:srgbClr val="333333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Noto Sans SC"/>
              </a:rPr>
              <a:t>xx%</a:t>
            </a:r>
            <a:endParaRPr lang="en-US" sz="11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AutoShape 4"/>
          <p:cNvSpPr/>
          <p:nvPr/>
        </p:nvSpPr>
        <p:spPr>
          <a:xfrm>
            <a:off x="717319" y="1595120"/>
            <a:ext cx="76200" cy="4064000"/>
          </a:xfrm>
          <a:prstGeom prst="roundRect">
            <a:avLst>
              <a:gd name="adj" fmla="val 0"/>
            </a:avLst>
          </a:prstGeom>
          <a:solidFill>
            <a:srgbClr val="0052CC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" name="AutoShape 5"/>
          <p:cNvSpPr/>
          <p:nvPr/>
        </p:nvSpPr>
        <p:spPr>
          <a:xfrm>
            <a:off x="971319" y="1489700"/>
            <a:ext cx="4318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800" b="1" i="0" u="none" strike="noStrike" dirty="0">
                <a:solidFill>
                  <a:srgbClr val="0052C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项目整体概况</a:t>
            </a:r>
            <a:endParaRPr lang="en-US" sz="11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6" name="Connector 6"/>
          <p:cNvCxnSpPr/>
          <p:nvPr/>
        </p:nvCxnSpPr>
        <p:spPr>
          <a:xfrm rot="-10110">
            <a:off x="971329" y="2033270"/>
            <a:ext cx="4318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6350" cap="flat" cmpd="sng">
            <a:solidFill>
              <a:schemeClr val="bg1">
                <a:lumMod val="75000"/>
              </a:schemeClr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7" name="text.overall_progress_summary"/>
          <p:cNvSpPr/>
          <p:nvPr/>
        </p:nvSpPr>
        <p:spPr>
          <a:xfrm>
            <a:off x="971319" y="2217420"/>
            <a:ext cx="4318000" cy="190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altLang="zh-CN" sz="1800" b="0" i="0" u="none" strike="noStrike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项目进度13%，调测与验收任务持续进行。</a:t>
            </a:r>
            <a:endParaRPr lang="en-US" dirty="0">
              <a:solidFill>
                <a:srgbClr val="C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" name="AutoShape 8"/>
          <p:cNvSpPr/>
          <p:nvPr/>
        </p:nvSpPr>
        <p:spPr>
          <a:xfrm>
            <a:off x="971319" y="4516120"/>
            <a:ext cx="4318000" cy="1143000"/>
          </a:xfrm>
          <a:prstGeom prst="roundRect">
            <a:avLst>
              <a:gd name="adj" fmla="val 0"/>
            </a:avLst>
          </a:prstGeom>
          <a:solidFill>
            <a:srgbClr val="0052CC">
              <a:alpha val="5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" name="text.key_conclusion"/>
          <p:cNvSpPr/>
          <p:nvPr/>
        </p:nvSpPr>
        <p:spPr>
          <a:xfrm>
            <a:off x="1098319" y="4681220"/>
            <a:ext cx="4064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17000"/>
              </a:lnSpc>
              <a:defRPr/>
            </a:pPr>
            <a:r>
              <a:rPr lang="en-US" b="1" i="0" u="none" strike="noStrike" dirty="0">
                <a:solidFill>
                  <a:srgbClr val="0052C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关键结论：项目进度缓慢，大量待分配任务，风险问题需尽快处理。</a:t>
            </a:r>
            <a:r>
              <a:rPr lang="en-US" altLang="zh-CN" sz="1200" b="0" i="0" u="none" strike="noStrike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/>
            </a:r>
            <a:endParaRPr lang="en-US" b="0" i="0" u="none" strike="noStrike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Noto Sans SC"/>
              <a:sym typeface="Noto Sans SC"/>
            </a:endParaRPr>
          </a:p>
        </p:txBody>
      </p:sp>
      <p:sp>
        <p:nvSpPr>
          <p:cNvPr id="10" name="AutoShape 10"/>
          <p:cNvSpPr/>
          <p:nvPr/>
        </p:nvSpPr>
        <p:spPr>
          <a:xfrm>
            <a:off x="6096000" y="1709420"/>
            <a:ext cx="4826000" cy="2413000"/>
          </a:xfrm>
          <a:prstGeom prst="roundRect">
            <a:avLst>
              <a:gd name="adj" fmla="val 0"/>
            </a:avLst>
          </a:prstGeom>
          <a:solidFill>
            <a:srgbClr val="0052CC">
              <a:alpha val="4000"/>
            </a:srgbClr>
          </a:solidFill>
          <a:ln w="50800" cap="flat" cmpd="sng">
            <a:solidFill>
              <a:srgbClr val="0052CC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1" name="AutoShape 11"/>
          <p:cNvSpPr/>
          <p:nvPr/>
        </p:nvSpPr>
        <p:spPr>
          <a:xfrm>
            <a:off x="6350000" y="1899920"/>
            <a:ext cx="4318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800" b="1" i="0" u="none" strike="noStrike" dirty="0">
                <a:solidFill>
                  <a:srgbClr val="33333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本期关键进展</a:t>
            </a:r>
            <a:endParaRPr lang="en-US" sz="11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2" name="text.key_progress"/>
          <p:cNvSpPr/>
          <p:nvPr/>
        </p:nvSpPr>
        <p:spPr>
          <a:xfrm>
            <a:off x="6350000" y="2407920"/>
            <a:ext cx="4318000" cy="1587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/>
          <a:lstStyle/>
          <a:p>
            <a:pPr>
              <a:lnSpc>
                <a:spcPct val="125000"/>
              </a:lnSpc>
              <a:defRPr/>
            </a:pPr>
            <a:r>
              <a:rPr lang="en-US" altLang="zh-CN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Noto Sans SC"/>
              </a:rPr>
              <a:t>本期完成前置学习、设计、安装及验收部分任务，调测与移交进行中。</a:t>
            </a:r>
            <a:endParaRPr lang="en-US" dirty="0">
              <a:solidFill>
                <a:srgbClr val="C00000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Noto Sans SC"/>
            </a:endParaRPr>
          </a:p>
        </p:txBody>
      </p:sp>
      <p:sp>
        <p:nvSpPr>
          <p:cNvPr id="13" name="AutoShape 13"/>
          <p:cNvSpPr/>
          <p:nvPr/>
        </p:nvSpPr>
        <p:spPr>
          <a:xfrm>
            <a:off x="6096000" y="4516120"/>
            <a:ext cx="4826000" cy="1143000"/>
          </a:xfrm>
          <a:prstGeom prst="roundRect">
            <a:avLst>
              <a:gd name="adj" fmla="val 0"/>
            </a:avLst>
          </a:prstGeom>
          <a:solidFill>
            <a:srgbClr val="0052CC">
              <a:alpha val="4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4" name="AutoShape 14"/>
          <p:cNvSpPr/>
          <p:nvPr/>
        </p:nvSpPr>
        <p:spPr>
          <a:xfrm>
            <a:off x="6255789" y="4560455"/>
            <a:ext cx="4318000" cy="355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zh-CN" altLang="en-US" sz="1600" b="1" i="0" u="none" strike="noStrike" dirty="0">
                <a:solidFill>
                  <a:srgbClr val="33333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风险及问题</a:t>
            </a:r>
            <a:r>
              <a:rPr lang="en-US" sz="1600" b="1" i="0" u="none" strike="noStrike" dirty="0">
                <a:solidFill>
                  <a:srgbClr val="33333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管理</a:t>
            </a:r>
            <a:endParaRPr lang="en-US" sz="11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5" name="text.risk_issue_summary"/>
          <p:cNvSpPr/>
          <p:nvPr/>
        </p:nvSpPr>
        <p:spPr>
          <a:xfrm>
            <a:off x="6255788" y="4887653"/>
            <a:ext cx="4477789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17000"/>
              </a:lnSpc>
              <a:defRPr/>
            </a:pPr>
            <a:r>
              <a:rPr lang="en-US" sz="1200" b="0" i="0" u="none" strike="noStrike" dirty="0">
                <a:solidFill>
                  <a:srgbClr val="5555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本期成功关闭 0 个问题或风险，现有 7 个问题或风险在处理中。</a:t>
            </a:r>
            <a:r>
              <a:rPr lang="en-US" altLang="zh-CN" sz="1200" b="0" i="0" u="none" strike="noStrike" dirty="0"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/>
            </a:r>
            <a:r>
              <a:rPr lang="en-US" sz="1200" b="0" i="0" u="none" strike="noStrike" dirty="0">
                <a:solidFill>
                  <a:srgbClr val="5555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/>
            </a:r>
            <a:r>
              <a:rPr lang="zh-CN" altLang="en-US" sz="1200" b="0" i="0" u="none" strike="noStrike" dirty="0">
                <a:solidFill>
                  <a:srgbClr val="5555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/>
            </a:r>
            <a:r>
              <a:rPr lang="en-US" sz="1200" b="0" i="0" u="none" strike="noStrike" dirty="0">
                <a:solidFill>
                  <a:srgbClr val="5555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/>
            </a:r>
            <a:r>
              <a:rPr lang="zh-CN" altLang="en-US" sz="1200" dirty="0">
                <a:solidFill>
                  <a:srgbClr val="5555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/>
            </a:r>
            <a:r>
              <a:rPr lang="en-US" sz="1200" b="0" i="0" u="none" strike="noStrike" dirty="0">
                <a:solidFill>
                  <a:srgbClr val="5555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/>
            </a:r>
            <a:r>
              <a:rPr lang="en-US" altLang="zh-CN" sz="1200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/>
            </a:r>
            <a:r>
              <a:rPr lang="en-US" altLang="zh-CN" sz="1200" dirty="0">
                <a:solidFill>
                  <a:srgbClr val="5555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/>
            </a:r>
            <a:r>
              <a:rPr lang="en-US" sz="1200" b="0" i="0" u="none" strike="noStrike" dirty="0">
                <a:solidFill>
                  <a:srgbClr val="5555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/>
            </a:r>
            <a:r>
              <a:rPr lang="zh-CN" altLang="en-US" sz="1200" b="0" i="0" u="none" strike="noStrike" dirty="0">
                <a:solidFill>
                  <a:srgbClr val="5555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/>
            </a:r>
            <a:endParaRPr lang="en-US" sz="11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6" name="text.overall_progress_title"/>
          <p:cNvSpPr/>
          <p:nvPr/>
        </p:nvSpPr>
        <p:spPr>
          <a:xfrm>
            <a:off x="735142" y="183563"/>
            <a:ext cx="10668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3200" b="1" i="0" u="none" strike="noStrike" dirty="0">
                <a:solidFill>
                  <a:srgbClr val="33333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项目</a:t>
            </a:r>
            <a:r>
              <a:rPr lang="zh-CN" altLang="en-US" sz="3200" b="1" i="0" u="none" strike="noStrike" dirty="0">
                <a:solidFill>
                  <a:srgbClr val="33333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整体进展</a:t>
            </a:r>
            <a:endParaRPr lang="en-US" sz="11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7" name="AutoShape 3"/>
          <p:cNvSpPr/>
          <p:nvPr/>
        </p:nvSpPr>
        <p:spPr>
          <a:xfrm>
            <a:off x="717319" y="1012271"/>
            <a:ext cx="10668000" cy="25400"/>
          </a:xfrm>
          <a:prstGeom prst="roundRect">
            <a:avLst>
              <a:gd name="adj" fmla="val 0"/>
            </a:avLst>
          </a:prstGeom>
          <a:solidFill>
            <a:srgbClr val="0052CC"/>
          </a:solidFill>
          <a:ln w="12700" cap="flat" cmpd="sng">
            <a:solidFill>
              <a:srgbClr val="1F0EFA"/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6" name="table.delivery_plan"/>
          <p:cNvGraphicFramePr>
            <a:graphicFrameLocks noGrp="1"/>
          </p:cNvGraphicFramePr>
          <p:nvPr/>
        </p:nvGraphicFramePr>
        <p:xfrm>
          <a:off x="655554" y="2577148"/>
          <a:ext cx="10795000" cy="10034560"/>
        </p:xfrm>
        <a:graphic>
          <a:graphicData uri="http://schemas.openxmlformats.org/drawingml/2006/table">
            <a:tbl>
              <a:tblPr>
                <a:effectLst/>
              </a:tblPr>
              <a:tblGrid>
                <a:gridCol w="1383836"/>
                <a:gridCol w="1634837"/>
                <a:gridCol w="2111432"/>
                <a:gridCol w="1473895"/>
                <a:gridCol w="1397000"/>
                <a:gridCol w="1397000"/>
                <a:gridCol w="1397000"/>
              </a:tblGrid>
              <a:tr h="313580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900" b="1" i="0" u="none" strike="noStrike" dirty="0">
                          <a:solidFill>
                            <a:srgbClr val="0052CC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阶段名称</a:t>
                      </a:r>
                      <a:endParaRPr lang="en-US" sz="900" dirty="0"/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2CC">
                        <a:alpha val="1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900" b="1" i="0" u="none" strike="noStrike" dirty="0">
                          <a:solidFill>
                            <a:srgbClr val="0052CC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任务名称</a:t>
                      </a:r>
                      <a:r>
                        <a:rPr lang="zh-CN" altLang="en-US" sz="900" b="1" i="0" u="none" strike="noStrike" dirty="0">
                          <a:solidFill>
                            <a:srgbClr val="0052CC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/>
                      </a:r>
                      <a:endParaRPr lang="en-US" sz="900" dirty="0"/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2CC">
                        <a:alpha val="1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900" b="1" i="0" u="none" strike="noStrike" dirty="0">
                          <a:solidFill>
                            <a:srgbClr val="0052CC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产品线</a:t>
                      </a:r>
                      <a:endParaRPr lang="en-US" sz="900" dirty="0"/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2CC">
                        <a:alpha val="1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900" b="1" i="0" u="none" strike="noStrike" dirty="0">
                          <a:solidFill>
                            <a:srgbClr val="0052CC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任务状态</a:t>
                      </a:r>
                      <a:endParaRPr lang="en-US" sz="900" dirty="0"/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2CC">
                        <a:alpha val="1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900" b="1" i="0" u="none" strike="noStrike" dirty="0">
                          <a:solidFill>
                            <a:srgbClr val="0052CC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计划完成时间</a:t>
                      </a:r>
                      <a:r>
                        <a:rPr lang="zh-CN" altLang="en-US" sz="900" b="1" i="0" u="none" strike="noStrike" dirty="0">
                          <a:solidFill>
                            <a:srgbClr val="0052CC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/>
                      </a:r>
                      <a:endParaRPr lang="en-US" sz="900" dirty="0"/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2CC">
                        <a:alpha val="1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900" b="1" i="0" u="none" strike="noStrike" dirty="0">
                          <a:solidFill>
                            <a:srgbClr val="0052CC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实际完成时间</a:t>
                      </a:r>
                      <a:r>
                        <a:rPr lang="zh-CN" altLang="en-US" sz="900" b="1" i="0" u="none" strike="noStrike" dirty="0">
                          <a:solidFill>
                            <a:srgbClr val="0052CC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/>
                      </a:r>
                      <a:endParaRPr lang="en-US" sz="900" dirty="0"/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2CC">
                        <a:alpha val="1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900" b="1" i="0" u="none" strike="noStrike" dirty="0">
                          <a:solidFill>
                            <a:srgbClr val="0052CC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责任人</a:t>
                      </a:r>
                      <a:endParaRPr lang="en-US" sz="900" dirty="0"/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2CC">
                        <a:alpha val="10000"/>
                      </a:srgbClr>
                    </a:solidFill>
                  </a:tcPr>
                </a:tc>
              </a:tr>
              <a:tr h="313580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zh-CN" altLang="en-US" sz="900" b="0" i="0" u="none" strike="noStrike" dirty="0">
                          <a:solidFill>
                            <a:srgbClr val="333333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Noto Sans SC"/>
                        </a:rPr>
                        <a:t>前置学习</a:t>
                      </a:r>
                      <a:endParaRPr lang="en-US" sz="9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zh-CN" altLang="en-US" sz="900" b="0" i="0" u="none" strike="noStrike" dirty="0">
                          <a:solidFill>
                            <a:srgbClr val="333333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Noto Sans SC"/>
                        </a:rPr>
                        <a:t>前置学习</a:t>
                      </a:r>
                      <a:endParaRPr lang="en-US" sz="9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altLang="zh-CN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/>
                      </a:r>
                      <a:endParaRPr lang="en-US" sz="900" dirty="0">
                        <a:solidFill>
                          <a:srgbClr val="C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900" b="1" i="0" u="none" strike="noStrike" dirty="0">
                          <a:solidFill>
                            <a:srgbClr val="666666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>待分配</a:t>
                      </a:r>
                      <a:endParaRPr lang="en-US" sz="900" b="1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altLang="zh-CN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>2026-06-25</a:t>
                      </a:r>
                      <a:r>
                        <a:rPr lang="en-US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/>
                      </a:r>
                      <a:r>
                        <a:rPr lang="en-US" altLang="zh-CN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/>
                      </a:r>
                      <a:r>
                        <a:rPr lang="en-US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/>
                      </a:r>
                      <a:r>
                        <a:rPr lang="en-US" altLang="zh-CN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/>
                      </a:r>
                      <a:endParaRPr lang="en-US" sz="900" dirty="0">
                        <a:solidFill>
                          <a:srgbClr val="C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altLang="zh-CN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/>
                      </a:r>
                      <a:endParaRPr lang="en-US" altLang="zh-CN" sz="900" dirty="0">
                        <a:solidFill>
                          <a:srgbClr val="C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altLang="zh-CN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>jinhuawei_003</a:t>
                      </a:r>
                      <a:endParaRPr lang="en-US" sz="900" dirty="0">
                        <a:solidFill>
                          <a:srgbClr val="C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13580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zh-CN" altLang="en-US" sz="900" b="0" i="0" u="none" strike="noStrike" dirty="0">
                          <a:solidFill>
                            <a:srgbClr val="333333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Noto Sans SC"/>
                        </a:rPr>
                        <a:t>前置学习</a:t>
                      </a:r>
                      <a:endParaRPr lang="en-US" sz="9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zh-CN" altLang="en-US" sz="900" b="0" i="0" u="none" strike="noStrike" dirty="0">
                          <a:solidFill>
                            <a:srgbClr val="333333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Noto Sans SC"/>
                        </a:rPr>
                        <a:t>测试验证2222</a:t>
                      </a:r>
                      <a:endParaRPr lang="en-US" sz="9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altLang="zh-CN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/>
                      </a:r>
                      <a:endParaRPr lang="en-US" altLang="zh-CN" sz="900" dirty="0">
                        <a:solidFill>
                          <a:srgbClr val="C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altLang="zh-CN" sz="900" b="1" i="0" u="none" strike="noStrike" dirty="0">
                          <a:solidFill>
                            <a:srgbClr val="666666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>待分配</a:t>
                      </a:r>
                      <a:endParaRPr lang="en-US" altLang="zh-CN" sz="900" b="1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altLang="zh-CN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/>
                      </a:r>
                      <a:r>
                        <a:rPr lang="en-US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/>
                      </a:r>
                      <a:r>
                        <a:rPr lang="en-US" altLang="zh-CN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/>
                      </a:r>
                      <a:r>
                        <a:rPr lang="en-US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/>
                      </a:r>
                      <a:r>
                        <a:rPr lang="en-US" altLang="zh-CN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/>
                      </a:r>
                      <a:endParaRPr lang="en-US" sz="900" dirty="0">
                        <a:solidFill>
                          <a:srgbClr val="C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altLang="zh-CN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/>
                      </a:r>
                      <a:endParaRPr lang="en-US" altLang="zh-CN" sz="900" dirty="0">
                        <a:solidFill>
                          <a:srgbClr val="C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altLang="zh-CN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>jinhuawei_003</a:t>
                      </a:r>
                      <a:endParaRPr lang="en-US" sz="900" dirty="0">
                        <a:solidFill>
                          <a:srgbClr val="C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13580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zh-CN" altLang="en-US" sz="9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前置学习</a:t>
                      </a:r>
                      <a:endParaRPr lang="en-US" sz="9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zh-CN" altLang="en-US" sz="9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gyf_test</a:t>
                      </a:r>
                      <a:endParaRPr lang="en-US" sz="9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90204"/>
                        <a:buNone/>
                        <a:defRPr/>
                      </a:pPr>
                      <a:r>
                        <a:rPr lang="en-US" altLang="zh-CN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/>
                      </a:r>
                      <a:endParaRPr lang="en-US" altLang="zh-CN" sz="900" dirty="0">
                        <a:solidFill>
                          <a:srgbClr val="C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altLang="zh-CN" sz="900" b="1" i="0" u="none" strike="noStrike" dirty="0">
                          <a:solidFill>
                            <a:srgbClr val="10B9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>已完成</a:t>
                      </a:r>
                      <a:endParaRPr lang="en-US" altLang="zh-CN" sz="900" b="1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altLang="zh-CN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>2026-06-05</a:t>
                      </a:r>
                      <a:r>
                        <a:rPr lang="en-US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/>
                      </a:r>
                      <a:r>
                        <a:rPr lang="en-US" altLang="zh-CN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/>
                      </a:r>
                      <a:r>
                        <a:rPr lang="en-US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/>
                      </a:r>
                      <a:r>
                        <a:rPr lang="en-US" altLang="zh-CN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/>
                      </a:r>
                      <a:endParaRPr lang="en-US" sz="900" dirty="0">
                        <a:solidFill>
                          <a:srgbClr val="C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altLang="zh-CN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>2026-06-02</a:t>
                      </a:r>
                      <a:endParaRPr lang="en-US" altLang="zh-CN" sz="900" dirty="0">
                        <a:solidFill>
                          <a:srgbClr val="C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altLang="zh-CN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>jinhuawei</a:t>
                      </a:r>
                      <a:endParaRPr lang="en-US" sz="900" dirty="0">
                        <a:solidFill>
                          <a:srgbClr val="C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13580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zh-CN" altLang="en-US" sz="9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勘测</a:t>
                      </a:r>
                      <a:endParaRPr lang="en-US" sz="9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zh-CN" altLang="en-US" sz="9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工程勘测</a:t>
                      </a:r>
                      <a:endParaRPr lang="en-US" sz="9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altLang="zh-CN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/>
                      </a:r>
                      <a:endParaRPr lang="en-US" sz="900" dirty="0">
                        <a:solidFill>
                          <a:srgbClr val="C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altLang="zh-CN" sz="900" b="1" i="0" u="none" strike="noStrike" dirty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>未开始</a:t>
                      </a:r>
                      <a:endParaRPr lang="en-US" altLang="zh-CN" sz="900" b="1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altLang="zh-CN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>2025-12-10</a:t>
                      </a:r>
                      <a:r>
                        <a:rPr lang="en-US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/>
                      </a:r>
                      <a:r>
                        <a:rPr lang="en-US" altLang="zh-CN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/>
                      </a:r>
                      <a:r>
                        <a:rPr lang="en-US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/>
                      </a:r>
                      <a:r>
                        <a:rPr lang="en-US" altLang="zh-CN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/>
                      </a:r>
                      <a:endParaRPr lang="en-US" sz="900" dirty="0">
                        <a:solidFill>
                          <a:srgbClr val="C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altLang="zh-CN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/>
                      </a:r>
                      <a:endParaRPr lang="en-US" altLang="zh-CN" sz="900" dirty="0">
                        <a:solidFill>
                          <a:srgbClr val="C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altLang="zh-CN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>jinhuawei_003</a:t>
                      </a:r>
                      <a:endParaRPr lang="en-US" sz="900" dirty="0">
                        <a:solidFill>
                          <a:srgbClr val="C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13580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zh-CN" altLang="en-US" sz="9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勘测</a:t>
                      </a:r>
                      <a:endParaRPr lang="en-US" sz="9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zh-CN" altLang="en-US" sz="9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发送到发送到</a:t>
                      </a:r>
                      <a:endParaRPr lang="en-US" sz="9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altLang="zh-CN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/>
                      </a:r>
                      <a:endParaRPr lang="en-US" altLang="zh-CN" sz="900" dirty="0">
                        <a:solidFill>
                          <a:srgbClr val="C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altLang="zh-CN" sz="900" b="1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>进行中</a:t>
                      </a:r>
                      <a:endParaRPr lang="en-US" altLang="zh-CN" sz="900" b="1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altLang="zh-CN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>2021-07-15</a:t>
                      </a:r>
                      <a:r>
                        <a:rPr lang="en-US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/>
                      </a:r>
                      <a:r>
                        <a:rPr lang="en-US" altLang="zh-CN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/>
                      </a:r>
                      <a:r>
                        <a:rPr lang="en-US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/>
                      </a:r>
                      <a:r>
                        <a:rPr lang="en-US" altLang="zh-CN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/>
                      </a:r>
                      <a:endParaRPr lang="en-US" sz="900" dirty="0">
                        <a:solidFill>
                          <a:srgbClr val="C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altLang="zh-CN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/>
                      </a:r>
                      <a:endParaRPr lang="en-US" altLang="zh-CN" sz="900" dirty="0">
                        <a:solidFill>
                          <a:srgbClr val="C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altLang="zh-CN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>jinhuawei_003</a:t>
                      </a:r>
                      <a:endParaRPr lang="en-US" sz="900" dirty="0">
                        <a:solidFill>
                          <a:srgbClr val="C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13580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zh-CN" altLang="en-US" sz="9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设 计</a:t>
                      </a:r>
                      <a:endParaRPr lang="en-US" sz="9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zh-CN" altLang="en-US" sz="9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低阶设计</a:t>
                      </a:r>
                      <a:endParaRPr lang="en-US" sz="9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90204"/>
                        <a:buNone/>
                        <a:defRPr/>
                      </a:pPr>
                      <a:r>
                        <a:rPr lang="en-US" altLang="zh-CN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/>
                      </a:r>
                      <a:endParaRPr lang="en-US" altLang="zh-CN" sz="900" dirty="0">
                        <a:solidFill>
                          <a:srgbClr val="C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90204"/>
                        <a:buNone/>
                        <a:defRPr/>
                      </a:pPr>
                      <a:r>
                        <a:rPr lang="zh-CN" altLang="en-US" sz="900" b="1" dirty="0">
                          <a:solidFill>
                            <a:srgbClr val="666666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待分配</a:t>
                      </a:r>
                      <a:endParaRPr lang="en-US" altLang="zh-CN" sz="900" b="1" dirty="0">
                        <a:solidFill>
                          <a:srgbClr val="C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altLang="zh-CN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/>
                      </a:r>
                      <a:r>
                        <a:rPr lang="en-US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/>
                      </a:r>
                      <a:r>
                        <a:rPr lang="en-US" altLang="zh-CN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/>
                      </a:r>
                      <a:r>
                        <a:rPr lang="en-US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/>
                      </a:r>
                      <a:r>
                        <a:rPr lang="en-US" altLang="zh-CN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/>
                      </a:r>
                      <a:endParaRPr lang="en-US" sz="900" dirty="0">
                        <a:solidFill>
                          <a:srgbClr val="C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altLang="zh-CN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/>
                      </a:r>
                      <a:endParaRPr lang="en-US" altLang="zh-CN" sz="900" dirty="0">
                        <a:solidFill>
                          <a:srgbClr val="C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altLang="zh-CN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>暂未分配</a:t>
                      </a:r>
                      <a:endParaRPr lang="en-US" sz="900" dirty="0">
                        <a:solidFill>
                          <a:srgbClr val="C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13580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zh-CN" altLang="en-US" sz="9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设 计</a:t>
                      </a:r>
                      <a:endParaRPr lang="en-US" sz="9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zh-CN" altLang="en-US" sz="9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测试1136</a:t>
                      </a:r>
                      <a:endParaRPr lang="en-US" sz="9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altLang="zh-CN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/>
                      </a:r>
                      <a:endParaRPr lang="en-US" sz="900" dirty="0">
                        <a:solidFill>
                          <a:srgbClr val="C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90204"/>
                        <a:buNone/>
                        <a:defRPr/>
                      </a:pPr>
                      <a:r>
                        <a:rPr lang="zh-CN" altLang="en-US" sz="900" b="1" dirty="0">
                          <a:solidFill>
                            <a:srgbClr val="10B9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已完成</a:t>
                      </a:r>
                      <a:endParaRPr lang="en-US" altLang="zh-CN" sz="900" b="1" dirty="0">
                        <a:solidFill>
                          <a:srgbClr val="C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altLang="zh-CN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>2026-06-26</a:t>
                      </a:r>
                      <a:r>
                        <a:rPr lang="en-US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/>
                      </a:r>
                      <a:r>
                        <a:rPr lang="en-US" altLang="zh-CN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/>
                      </a:r>
                      <a:r>
                        <a:rPr lang="en-US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/>
                      </a:r>
                      <a:r>
                        <a:rPr lang="en-US" altLang="zh-CN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/>
                      </a:r>
                      <a:endParaRPr lang="en-US" sz="900" dirty="0">
                        <a:solidFill>
                          <a:srgbClr val="C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altLang="zh-CN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>2026-06-03</a:t>
                      </a:r>
                      <a:endParaRPr lang="en-US" altLang="zh-CN" sz="900" dirty="0">
                        <a:solidFill>
                          <a:srgbClr val="C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altLang="zh-CN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>jinhuawei</a:t>
                      </a:r>
                      <a:endParaRPr lang="en-US" sz="900" dirty="0">
                        <a:solidFill>
                          <a:srgbClr val="C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13580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zh-CN" altLang="en-US" sz="9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设 计</a:t>
                      </a:r>
                      <a:endParaRPr lang="en-US" sz="9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zh-CN" altLang="en-US" sz="9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测试1138</a:t>
                      </a:r>
                      <a:r>
                        <a:rPr lang="en-US" altLang="zh-CN" sz="9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/>
                      </a:r>
                      <a:r>
                        <a:rPr lang="zh-CN" altLang="en-US" sz="9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/>
                      </a:r>
                      <a:endParaRPr lang="en-US" sz="9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altLang="zh-CN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/>
                      </a:r>
                      <a:endParaRPr lang="en-US" altLang="zh-CN" sz="900" dirty="0">
                        <a:solidFill>
                          <a:srgbClr val="C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90204"/>
                        <a:buNone/>
                        <a:defRPr/>
                      </a:pPr>
                      <a:r>
                        <a:rPr lang="zh-CN" altLang="en-US" sz="900" b="1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进行中</a:t>
                      </a:r>
                      <a:endParaRPr lang="en-US" altLang="zh-CN" sz="900" b="1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altLang="zh-CN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>2026-06-28</a:t>
                      </a:r>
                      <a:r>
                        <a:rPr lang="en-US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/>
                      </a:r>
                      <a:r>
                        <a:rPr lang="en-US" altLang="zh-CN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/>
                      </a:r>
                      <a:r>
                        <a:rPr lang="en-US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/>
                      </a:r>
                      <a:r>
                        <a:rPr lang="en-US" altLang="zh-CN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/>
                      </a:r>
                      <a:endParaRPr lang="en-US" sz="900" dirty="0">
                        <a:solidFill>
                          <a:srgbClr val="C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altLang="zh-CN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/>
                      </a:r>
                      <a:endParaRPr lang="en-US" altLang="zh-CN" sz="900" dirty="0">
                        <a:solidFill>
                          <a:srgbClr val="C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altLang="zh-CN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>jinhuawei</a:t>
                      </a:r>
                      <a:endParaRPr lang="en-US" sz="900" dirty="0">
                        <a:solidFill>
                          <a:srgbClr val="C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13580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zh-CN" altLang="en-US" sz="9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安装</a:t>
                      </a:r>
                      <a:endParaRPr lang="en-US" sz="9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zh-CN" altLang="en-US" sz="9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到货验收（可选）</a:t>
                      </a:r>
                      <a:endParaRPr lang="en-US" sz="9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90204"/>
                        <a:buNone/>
                        <a:defRPr/>
                      </a:pPr>
                      <a:r>
                        <a:rPr lang="en-US" altLang="zh-CN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/>
                      </a:r>
                      <a:endParaRPr lang="en-US" altLang="zh-CN" sz="900" dirty="0">
                        <a:solidFill>
                          <a:srgbClr val="C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90204"/>
                        <a:buNone/>
                        <a:defRPr/>
                      </a:pPr>
                      <a:r>
                        <a:rPr lang="zh-CN" altLang="en-US" sz="900" b="1" dirty="0">
                          <a:solidFill>
                            <a:srgbClr val="10B9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已完成</a:t>
                      </a:r>
                      <a:endParaRPr lang="en-US" altLang="zh-CN" sz="900" b="1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altLang="zh-CN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>2026-06-06</a:t>
                      </a:r>
                      <a:r>
                        <a:rPr lang="en-US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/>
                      </a:r>
                      <a:r>
                        <a:rPr lang="en-US" altLang="zh-CN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/>
                      </a:r>
                      <a:r>
                        <a:rPr lang="en-US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/>
                      </a:r>
                      <a:r>
                        <a:rPr lang="en-US" altLang="zh-CN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/>
                      </a:r>
                      <a:endParaRPr lang="en-US" sz="900" dirty="0">
                        <a:solidFill>
                          <a:srgbClr val="C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altLang="zh-CN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>2026-06-04</a:t>
                      </a:r>
                      <a:endParaRPr lang="en-US" altLang="zh-CN" sz="900" dirty="0">
                        <a:solidFill>
                          <a:srgbClr val="C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altLang="zh-CN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>jinhuawei_003</a:t>
                      </a:r>
                      <a:endParaRPr lang="en-US" sz="900" dirty="0">
                        <a:solidFill>
                          <a:srgbClr val="C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13580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zh-CN" altLang="en-US" sz="9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安装</a:t>
                      </a:r>
                      <a:endParaRPr lang="en-US" sz="9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zh-CN" altLang="en-US" sz="9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入场确认</a:t>
                      </a:r>
                      <a:endParaRPr lang="en-US" sz="9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90204"/>
                        <a:buNone/>
                        <a:defRPr/>
                      </a:pPr>
                      <a:r>
                        <a:rPr lang="zh-CN" altLang="en-US" sz="9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/>
                      </a:r>
                      <a:endParaRPr lang="en-US" altLang="zh-CN" sz="9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90204"/>
                        <a:buNone/>
                        <a:defRPr/>
                      </a:pPr>
                      <a:r>
                        <a:rPr lang="zh-CN" altLang="en-US" sz="900" dirty="0" b="1">
                          <a:solidFill>
                            <a:srgbClr val="666666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待分配</a:t>
                      </a:r>
                      <a:endParaRPr lang="en-US" altLang="zh-CN" sz="900" b="1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zh-CN" altLang="en-US" sz="9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/>
                      </a:r>
                      <a:endParaRPr lang="en-US" sz="9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zh-CN" altLang="en-US" sz="9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/>
                      </a:r>
                      <a:endParaRPr lang="en-US" altLang="zh-CN" sz="9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zh-CN" altLang="en-US" sz="9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暂未分配</a:t>
                      </a:r>
                      <a:endParaRPr lang="en-US" sz="9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13580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zh-CN" altLang="en-US" sz="9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安装</a:t>
                      </a:r>
                      <a:endParaRPr lang="en-US" sz="9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zh-CN" altLang="en-US" sz="9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ddd</a:t>
                      </a:r>
                      <a:endParaRPr lang="en-US" sz="9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90204"/>
                        <a:buNone/>
                        <a:defRPr/>
                      </a:pPr>
                      <a:r>
                        <a:rPr lang="zh-CN" altLang="en-US" sz="9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/>
                      </a:r>
                      <a:endParaRPr lang="en-US" altLang="zh-CN" sz="9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90204"/>
                        <a:buNone/>
                        <a:defRPr/>
                      </a:pPr>
                      <a:r>
                        <a:rPr lang="zh-CN" altLang="en-US" sz="900" dirty="0" b="1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进行中</a:t>
                      </a:r>
                      <a:endParaRPr lang="en-US" altLang="zh-CN" sz="900" b="1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zh-CN" altLang="en-US" sz="9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2025-12-18</a:t>
                      </a:r>
                      <a:endParaRPr lang="en-US" sz="9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zh-CN" altLang="en-US" sz="9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/>
                      </a:r>
                      <a:endParaRPr lang="en-US" altLang="zh-CN" sz="9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zh-CN" altLang="en-US" sz="9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jinhuawei_003</a:t>
                      </a:r>
                      <a:endParaRPr lang="en-US" sz="9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13580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zh-CN" altLang="en-US" sz="9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安装</a:t>
                      </a:r>
                      <a:endParaRPr lang="en-US" sz="9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zh-CN" altLang="en-US" sz="9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硬件质量检查</a:t>
                      </a:r>
                      <a:endParaRPr lang="en-US" sz="9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90204"/>
                        <a:buNone/>
                        <a:defRPr/>
                      </a:pPr>
                      <a:r>
                        <a:rPr lang="zh-CN" altLang="en-US" sz="9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/>
                      </a:r>
                      <a:endParaRPr lang="en-US" altLang="zh-CN" sz="9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90204"/>
                        <a:buNone/>
                        <a:defRPr/>
                      </a:pPr>
                      <a:r>
                        <a:rPr lang="zh-CN" altLang="en-US" sz="900" dirty="0" b="1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未开始</a:t>
                      </a:r>
                      <a:endParaRPr lang="en-US" altLang="zh-CN" sz="900" b="1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zh-CN" altLang="en-US" sz="9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2026-06-24</a:t>
                      </a:r>
                      <a:endParaRPr lang="en-US" sz="9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zh-CN" altLang="en-US" sz="9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/>
                      </a:r>
                      <a:endParaRPr lang="en-US" altLang="zh-CN" sz="9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zh-CN" altLang="en-US" sz="9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jinhuawei</a:t>
                      </a:r>
                      <a:endParaRPr lang="en-US" sz="9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13580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zh-CN" altLang="en-US" sz="9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调测</a:t>
                      </a:r>
                      <a:endParaRPr lang="en-US" sz="9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zh-CN" altLang="en-US" sz="9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开局配置</a:t>
                      </a:r>
                      <a:endParaRPr lang="en-US" sz="9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90204"/>
                        <a:buNone/>
                        <a:defRPr/>
                      </a:pPr>
                      <a:r>
                        <a:rPr lang="zh-CN" altLang="en-US" sz="9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/>
                      </a:r>
                      <a:endParaRPr lang="en-US" altLang="zh-CN" sz="9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90204"/>
                        <a:buNone/>
                        <a:defRPr/>
                      </a:pPr>
                      <a:r>
                        <a:rPr lang="zh-CN" altLang="en-US" sz="900" dirty="0" b="1">
                          <a:solidFill>
                            <a:srgbClr val="666666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待分配</a:t>
                      </a:r>
                      <a:endParaRPr lang="en-US" altLang="zh-CN" sz="900" b="1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zh-CN" altLang="en-US" sz="9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2026-06-09</a:t>
                      </a:r>
                      <a:endParaRPr lang="en-US" sz="9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zh-CN" altLang="en-US" sz="9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/>
                      </a:r>
                      <a:endParaRPr lang="en-US" altLang="zh-CN" sz="9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zh-CN" altLang="en-US" sz="9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暂未分配</a:t>
                      </a:r>
                      <a:endParaRPr lang="en-US" sz="9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13580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zh-CN" altLang="en-US" sz="9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调测</a:t>
                      </a:r>
                      <a:endParaRPr lang="en-US" sz="9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zh-CN" altLang="en-US" sz="9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场景业务配置</a:t>
                      </a:r>
                      <a:endParaRPr lang="en-US" sz="9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90204"/>
                        <a:buNone/>
                        <a:defRPr/>
                      </a:pPr>
                      <a:r>
                        <a:rPr lang="zh-CN" altLang="en-US" sz="9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/>
                      </a:r>
                      <a:endParaRPr lang="en-US" altLang="zh-CN" sz="9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90204"/>
                        <a:buNone/>
                        <a:defRPr/>
                      </a:pPr>
                      <a:r>
                        <a:rPr lang="zh-CN" altLang="en-US" sz="900" dirty="0" b="1">
                          <a:solidFill>
                            <a:srgbClr val="666666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待分配</a:t>
                      </a:r>
                      <a:endParaRPr lang="en-US" altLang="zh-CN" sz="900" b="1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zh-CN" altLang="en-US" sz="9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/>
                      </a:r>
                      <a:endParaRPr lang="en-US" sz="9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zh-CN" altLang="en-US" sz="9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/>
                      </a:r>
                      <a:endParaRPr lang="en-US" altLang="zh-CN" sz="9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zh-CN" altLang="en-US" sz="9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暂未分配</a:t>
                      </a:r>
                      <a:endParaRPr lang="en-US" sz="9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13580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zh-CN" altLang="en-US" sz="9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调测</a:t>
                      </a:r>
                      <a:endParaRPr lang="en-US" sz="9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zh-CN" altLang="en-US" sz="9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对接配置（可选）</a:t>
                      </a:r>
                      <a:endParaRPr lang="en-US" sz="9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90204"/>
                        <a:buNone/>
                        <a:defRPr/>
                      </a:pPr>
                      <a:r>
                        <a:rPr lang="zh-CN" altLang="en-US" sz="9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/>
                      </a:r>
                      <a:endParaRPr lang="en-US" altLang="zh-CN" sz="9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90204"/>
                        <a:buNone/>
                        <a:defRPr/>
                      </a:pPr>
                      <a:r>
                        <a:rPr lang="zh-CN" altLang="en-US" sz="900" dirty="0" b="1">
                          <a:solidFill>
                            <a:srgbClr val="666666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待分配</a:t>
                      </a:r>
                      <a:endParaRPr lang="en-US" altLang="zh-CN" sz="900" b="1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zh-CN" altLang="en-US" sz="9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/>
                      </a:r>
                      <a:endParaRPr lang="en-US" sz="9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zh-CN" altLang="en-US" sz="9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/>
                      </a:r>
                      <a:endParaRPr lang="en-US" altLang="zh-CN" sz="9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zh-CN" altLang="en-US" sz="9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暂未分配</a:t>
                      </a:r>
                      <a:endParaRPr lang="en-US" sz="9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13580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zh-CN" altLang="en-US" sz="9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调测</a:t>
                      </a:r>
                      <a:endParaRPr lang="en-US" sz="9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zh-CN" altLang="en-US" sz="9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cvvzxcvzxc</a:t>
                      </a:r>
                      <a:endParaRPr lang="en-US" sz="9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90204"/>
                        <a:buNone/>
                        <a:defRPr/>
                      </a:pPr>
                      <a:r>
                        <a:rPr lang="zh-CN" altLang="en-US" sz="9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/>
                      </a:r>
                      <a:endParaRPr lang="en-US" altLang="zh-CN" sz="9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90204"/>
                        <a:buNone/>
                        <a:defRPr/>
                      </a:pPr>
                      <a:r>
                        <a:rPr lang="zh-CN" altLang="en-US" sz="900" dirty="0" b="1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进行中</a:t>
                      </a:r>
                      <a:endParaRPr lang="en-US" altLang="zh-CN" sz="900" b="1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zh-CN" altLang="en-US" sz="9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2026-06-26</a:t>
                      </a:r>
                      <a:endParaRPr lang="en-US" sz="9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zh-CN" altLang="en-US" sz="9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/>
                      </a:r>
                      <a:endParaRPr lang="en-US" altLang="zh-CN" sz="9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zh-CN" altLang="en-US" sz="9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jinhuawei</a:t>
                      </a:r>
                      <a:endParaRPr lang="en-US" sz="9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13580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zh-CN" altLang="en-US" sz="9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调测</a:t>
                      </a:r>
                      <a:endParaRPr lang="en-US" sz="9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zh-CN" altLang="en-US" sz="9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阿萨德ASD</a:t>
                      </a:r>
                      <a:endParaRPr lang="en-US" sz="9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90204"/>
                        <a:buNone/>
                        <a:defRPr/>
                      </a:pPr>
                      <a:r>
                        <a:rPr lang="zh-CN" altLang="en-US" sz="9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/>
                      </a:r>
                      <a:endParaRPr lang="en-US" altLang="zh-CN" sz="9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90204"/>
                        <a:buNone/>
                        <a:defRPr/>
                      </a:pPr>
                      <a:r>
                        <a:rPr lang="zh-CN" altLang="en-US" sz="900" dirty="0" b="1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未开始</a:t>
                      </a:r>
                      <a:endParaRPr lang="en-US" altLang="zh-CN" sz="900" b="1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zh-CN" altLang="en-US" sz="9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2029-07-18</a:t>
                      </a:r>
                      <a:endParaRPr lang="en-US" sz="9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zh-CN" altLang="en-US" sz="9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/>
                      </a:r>
                      <a:endParaRPr lang="en-US" altLang="zh-CN" sz="9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zh-CN" altLang="en-US" sz="9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jinhuawei</a:t>
                      </a:r>
                      <a:endParaRPr lang="en-US" sz="9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13580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zh-CN" altLang="en-US" sz="9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调测</a:t>
                      </a:r>
                      <a:endParaRPr lang="en-US" sz="9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zh-CN" altLang="en-US" sz="9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配置检查</a:t>
                      </a:r>
                      <a:endParaRPr lang="en-US" sz="9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90204"/>
                        <a:buNone/>
                        <a:defRPr/>
                      </a:pPr>
                      <a:r>
                        <a:rPr lang="zh-CN" altLang="en-US" sz="9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/>
                      </a:r>
                      <a:endParaRPr lang="en-US" altLang="zh-CN" sz="9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90204"/>
                        <a:buNone/>
                        <a:defRPr/>
                      </a:pPr>
                      <a:r>
                        <a:rPr lang="zh-CN" altLang="en-US" sz="900" dirty="0" b="1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进行中</a:t>
                      </a:r>
                      <a:endParaRPr lang="en-US" altLang="zh-CN" sz="900" b="1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zh-CN" altLang="en-US" sz="9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2026-06-14</a:t>
                      </a:r>
                      <a:endParaRPr lang="en-US" sz="9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zh-CN" altLang="en-US" sz="9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/>
                      </a:r>
                      <a:endParaRPr lang="en-US" altLang="zh-CN" sz="9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zh-CN" altLang="en-US" sz="9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jinhuawei</a:t>
                      </a:r>
                      <a:endParaRPr lang="en-US" sz="9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13580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zh-CN" altLang="en-US" sz="9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调测</a:t>
                      </a:r>
                      <a:endParaRPr lang="en-US" sz="9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zh-CN" altLang="en-US" sz="9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配置检查</a:t>
                      </a:r>
                      <a:endParaRPr lang="en-US" sz="9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90204"/>
                        <a:buNone/>
                        <a:defRPr/>
                      </a:pPr>
                      <a:r>
                        <a:rPr lang="zh-CN" altLang="en-US" sz="9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/>
                      </a:r>
                      <a:endParaRPr lang="en-US" altLang="zh-CN" sz="9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90204"/>
                        <a:buNone/>
                        <a:defRPr/>
                      </a:pPr>
                      <a:r>
                        <a:rPr lang="zh-CN" altLang="en-US" sz="900" dirty="0" b="1">
                          <a:solidFill>
                            <a:srgbClr val="666666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待分配</a:t>
                      </a:r>
                      <a:endParaRPr lang="en-US" altLang="zh-CN" sz="900" b="1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zh-CN" altLang="en-US" sz="9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/>
                      </a:r>
                      <a:endParaRPr lang="en-US" sz="9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zh-CN" altLang="en-US" sz="9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/>
                      </a:r>
                      <a:endParaRPr lang="en-US" altLang="zh-CN" sz="9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zh-CN" altLang="en-US" sz="9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暂未分配</a:t>
                      </a:r>
                      <a:endParaRPr lang="en-US" sz="9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13580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zh-CN" altLang="en-US" sz="9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移交&amp;培训</a:t>
                      </a:r>
                      <a:endParaRPr lang="en-US" sz="9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zh-CN" altLang="en-US" sz="9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系统移交</a:t>
                      </a:r>
                      <a:endParaRPr lang="en-US" sz="9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90204"/>
                        <a:buNone/>
                        <a:defRPr/>
                      </a:pPr>
                      <a:r>
                        <a:rPr lang="zh-CN" altLang="en-US" sz="9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/>
                      </a:r>
                      <a:endParaRPr lang="en-US" altLang="zh-CN" sz="9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90204"/>
                        <a:buNone/>
                        <a:defRPr/>
                      </a:pPr>
                      <a:r>
                        <a:rPr lang="zh-CN" altLang="en-US" sz="900" dirty="0" b="1">
                          <a:solidFill>
                            <a:srgbClr val="666666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待分配</a:t>
                      </a:r>
                      <a:endParaRPr lang="en-US" altLang="zh-CN" sz="900" b="1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zh-CN" altLang="en-US" sz="9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/>
                      </a:r>
                      <a:endParaRPr lang="en-US" sz="9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zh-CN" altLang="en-US" sz="9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/>
                      </a:r>
                      <a:endParaRPr lang="en-US" altLang="zh-CN" sz="9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zh-CN" altLang="en-US" sz="9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暂未分配</a:t>
                      </a:r>
                      <a:endParaRPr lang="en-US" sz="9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13580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zh-CN" altLang="en-US" sz="9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移交&amp;培训</a:t>
                      </a:r>
                      <a:endParaRPr lang="en-US" sz="9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zh-CN" altLang="en-US" sz="9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文档移交</a:t>
                      </a:r>
                      <a:endParaRPr lang="en-US" sz="9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90204"/>
                        <a:buNone/>
                        <a:defRPr/>
                      </a:pPr>
                      <a:r>
                        <a:rPr lang="zh-CN" altLang="en-US" sz="9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/>
                      </a:r>
                      <a:endParaRPr lang="en-US" altLang="zh-CN" sz="9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90204"/>
                        <a:buNone/>
                        <a:defRPr/>
                      </a:pPr>
                      <a:r>
                        <a:rPr lang="zh-CN" altLang="en-US" sz="900" dirty="0" b="1">
                          <a:solidFill>
                            <a:srgbClr val="666666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待分配</a:t>
                      </a:r>
                      <a:endParaRPr lang="en-US" altLang="zh-CN" sz="900" b="1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zh-CN" altLang="en-US" sz="9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/>
                      </a:r>
                      <a:endParaRPr lang="en-US" sz="9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zh-CN" altLang="en-US" sz="9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/>
                      </a:r>
                      <a:endParaRPr lang="en-US" altLang="zh-CN" sz="9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zh-CN" altLang="en-US" sz="9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暂未分配</a:t>
                      </a:r>
                      <a:endParaRPr lang="en-US" sz="9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13580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zh-CN" altLang="en-US" sz="9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移交&amp;培训</a:t>
                      </a:r>
                      <a:endParaRPr lang="en-US" sz="9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zh-CN" altLang="en-US" sz="9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技能传递</a:t>
                      </a:r>
                      <a:endParaRPr lang="en-US" sz="9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90204"/>
                        <a:buNone/>
                        <a:defRPr/>
                      </a:pPr>
                      <a:r>
                        <a:rPr lang="zh-CN" altLang="en-US" sz="9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/>
                      </a:r>
                      <a:endParaRPr lang="en-US" altLang="zh-CN" sz="9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90204"/>
                        <a:buNone/>
                        <a:defRPr/>
                      </a:pPr>
                      <a:r>
                        <a:rPr lang="zh-CN" altLang="en-US" sz="900" dirty="0" b="1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进行中</a:t>
                      </a:r>
                      <a:endParaRPr lang="en-US" altLang="zh-CN" sz="900" b="1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zh-CN" altLang="en-US" sz="9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2026-07-09</a:t>
                      </a:r>
                      <a:endParaRPr lang="en-US" sz="9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zh-CN" altLang="en-US" sz="9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/>
                      </a:r>
                      <a:endParaRPr lang="en-US" altLang="zh-CN" sz="9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zh-CN" altLang="en-US" sz="9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jinhuawei</a:t>
                      </a:r>
                      <a:endParaRPr lang="en-US" sz="9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13580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zh-CN" altLang="en-US" sz="9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验收</a:t>
                      </a:r>
                      <a:endParaRPr lang="en-US" sz="9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zh-CN" altLang="en-US" sz="9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功能验收</a:t>
                      </a:r>
                      <a:endParaRPr lang="en-US" sz="9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90204"/>
                        <a:buNone/>
                        <a:defRPr/>
                      </a:pPr>
                      <a:r>
                        <a:rPr lang="zh-CN" altLang="en-US" sz="9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/>
                      </a:r>
                      <a:endParaRPr lang="en-US" altLang="zh-CN" sz="9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90204"/>
                        <a:buNone/>
                        <a:defRPr/>
                      </a:pPr>
                      <a:r>
                        <a:rPr lang="zh-CN" altLang="en-US" sz="900" dirty="0" b="1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进行中</a:t>
                      </a:r>
                      <a:endParaRPr lang="en-US" altLang="zh-CN" sz="900" b="1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zh-CN" altLang="en-US" sz="9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2025-11-22</a:t>
                      </a:r>
                      <a:endParaRPr lang="en-US" sz="9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zh-CN" altLang="en-US" sz="9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/>
                      </a:r>
                      <a:endParaRPr lang="en-US" altLang="zh-CN" sz="9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zh-CN" altLang="en-US" sz="9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jinhuawei</a:t>
                      </a:r>
                      <a:endParaRPr lang="en-US" sz="9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13580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zh-CN" altLang="en-US" sz="9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验收</a:t>
                      </a:r>
                      <a:endParaRPr lang="en-US" sz="9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zh-CN" altLang="en-US" sz="9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活动验证0001-0001-0002-0003</a:t>
                      </a:r>
                      <a:endParaRPr lang="en-US" sz="9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90204"/>
                        <a:buNone/>
                        <a:defRPr/>
                      </a:pPr>
                      <a:r>
                        <a:rPr lang="zh-CN" altLang="en-US" sz="9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/>
                      </a:r>
                      <a:endParaRPr lang="en-US" altLang="zh-CN" sz="9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90204"/>
                        <a:buNone/>
                        <a:defRPr/>
                      </a:pPr>
                      <a:r>
                        <a:rPr lang="zh-CN" altLang="en-US" sz="900" dirty="0" b="1">
                          <a:solidFill>
                            <a:srgbClr val="10B9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已完成</a:t>
                      </a:r>
                      <a:endParaRPr lang="en-US" altLang="zh-CN" sz="900" b="1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zh-CN" altLang="en-US" sz="9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2025-12-30</a:t>
                      </a:r>
                      <a:endParaRPr lang="en-US" sz="9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zh-CN" altLang="en-US" sz="9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2025-11-21</a:t>
                      </a:r>
                      <a:endParaRPr lang="en-US" altLang="zh-CN" sz="9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zh-CN" altLang="en-US" sz="9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jinhuawei_003</a:t>
                      </a:r>
                      <a:endParaRPr lang="en-US" sz="9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13580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zh-CN" altLang="en-US" sz="9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验收</a:t>
                      </a:r>
                      <a:endParaRPr lang="en-US" sz="9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zh-CN" altLang="en-US" sz="9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试运行（可选）</a:t>
                      </a:r>
                      <a:endParaRPr lang="en-US" sz="9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90204"/>
                        <a:buNone/>
                        <a:defRPr/>
                      </a:pPr>
                      <a:r>
                        <a:rPr lang="zh-CN" altLang="en-US" sz="9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/>
                      </a:r>
                      <a:endParaRPr lang="en-US" altLang="zh-CN" sz="9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90204"/>
                        <a:buNone/>
                        <a:defRPr/>
                      </a:pPr>
                      <a:r>
                        <a:rPr lang="zh-CN" altLang="en-US" sz="900" dirty="0" b="1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未开始</a:t>
                      </a:r>
                      <a:endParaRPr lang="en-US" altLang="zh-CN" sz="900" b="1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zh-CN" altLang="en-US" sz="9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2025-11-28</a:t>
                      </a:r>
                      <a:endParaRPr lang="en-US" sz="9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zh-CN" altLang="en-US" sz="9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/>
                      </a:r>
                      <a:endParaRPr lang="en-US" altLang="zh-CN" sz="9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zh-CN" altLang="en-US" sz="9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jinhuawei_003</a:t>
                      </a:r>
                      <a:endParaRPr lang="en-US" sz="9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13580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zh-CN" altLang="en-US" sz="9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验收</a:t>
                      </a:r>
                      <a:endParaRPr lang="en-US" sz="9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zh-CN" altLang="en-US" sz="9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基本验收</a:t>
                      </a:r>
                      <a:endParaRPr lang="en-US" sz="9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90204"/>
                        <a:buNone/>
                        <a:defRPr/>
                      </a:pPr>
                      <a:r>
                        <a:rPr lang="zh-CN" altLang="en-US" sz="9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/>
                      </a:r>
                      <a:endParaRPr lang="en-US" altLang="zh-CN" sz="9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90204"/>
                        <a:buNone/>
                        <a:defRPr/>
                      </a:pPr>
                      <a:r>
                        <a:rPr lang="zh-CN" altLang="en-US" sz="900" dirty="0" b="1">
                          <a:solidFill>
                            <a:srgbClr val="666666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待分配</a:t>
                      </a:r>
                      <a:endParaRPr lang="en-US" altLang="zh-CN" sz="900" b="1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zh-CN" altLang="en-US" sz="9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/>
                      </a:r>
                      <a:endParaRPr lang="en-US" sz="9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zh-CN" altLang="en-US" sz="9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/>
                      </a:r>
                      <a:endParaRPr lang="en-US" altLang="zh-CN" sz="9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zh-CN" altLang="en-US" sz="9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暂未分配</a:t>
                      </a:r>
                      <a:endParaRPr lang="en-US" sz="9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13580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zh-CN" altLang="en-US" sz="9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验收</a:t>
                      </a:r>
                      <a:endParaRPr lang="en-US" sz="9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zh-CN" altLang="en-US" sz="9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功能验收</a:t>
                      </a:r>
                      <a:endParaRPr lang="en-US" sz="9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90204"/>
                        <a:buNone/>
                        <a:defRPr/>
                      </a:pPr>
                      <a:r>
                        <a:rPr lang="zh-CN" altLang="en-US" sz="9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/>
                      </a:r>
                      <a:endParaRPr lang="en-US" altLang="zh-CN" sz="9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90204"/>
                        <a:buNone/>
                        <a:defRPr/>
                      </a:pPr>
                      <a:r>
                        <a:rPr lang="zh-CN" altLang="en-US" sz="900" dirty="0" b="1">
                          <a:solidFill>
                            <a:srgbClr val="666666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待分配</a:t>
                      </a:r>
                      <a:endParaRPr lang="en-US" altLang="zh-CN" sz="900" b="1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zh-CN" altLang="en-US" sz="9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/>
                      </a:r>
                      <a:endParaRPr lang="en-US" sz="9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zh-CN" altLang="en-US" sz="9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/>
                      </a:r>
                      <a:endParaRPr lang="en-US" altLang="zh-CN" sz="9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zh-CN" altLang="en-US" sz="9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暂未分配</a:t>
                      </a:r>
                      <a:endParaRPr lang="en-US" sz="9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13580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zh-CN" altLang="en-US" sz="9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验收</a:t>
                      </a:r>
                      <a:endParaRPr lang="en-US" sz="9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zh-CN" altLang="en-US" sz="9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终验（可选）</a:t>
                      </a:r>
                      <a:endParaRPr lang="en-US" sz="9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90204"/>
                        <a:buNone/>
                        <a:defRPr/>
                      </a:pPr>
                      <a:r>
                        <a:rPr lang="zh-CN" altLang="en-US" sz="9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/>
                      </a:r>
                      <a:endParaRPr lang="en-US" altLang="zh-CN" sz="9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90204"/>
                        <a:buNone/>
                        <a:defRPr/>
                      </a:pPr>
                      <a:r>
                        <a:rPr lang="zh-CN" altLang="en-US" sz="900" dirty="0" b="1">
                          <a:solidFill>
                            <a:srgbClr val="666666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待分配</a:t>
                      </a:r>
                      <a:endParaRPr lang="en-US" altLang="zh-CN" sz="900" b="1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zh-CN" altLang="en-US" sz="9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/>
                      </a:r>
                      <a:endParaRPr lang="en-US" sz="9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zh-CN" altLang="en-US" sz="9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/>
                      </a:r>
                      <a:endParaRPr lang="en-US" altLang="zh-CN" sz="9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zh-CN" altLang="en-US" sz="9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暂未分配</a:t>
                      </a:r>
                      <a:endParaRPr lang="en-US" sz="9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13580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zh-CN" altLang="en-US" sz="9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验收</a:t>
                      </a:r>
                      <a:endParaRPr lang="en-US" sz="9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zh-CN" altLang="en-US" sz="9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终验</a:t>
                      </a:r>
                      <a:endParaRPr lang="en-US" sz="9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90204"/>
                        <a:buNone/>
                        <a:defRPr/>
                      </a:pPr>
                      <a:r>
                        <a:rPr lang="zh-CN" altLang="en-US" sz="9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/>
                      </a:r>
                      <a:endParaRPr lang="en-US" altLang="zh-CN" sz="9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90204"/>
                        <a:buNone/>
                        <a:defRPr/>
                      </a:pPr>
                      <a:r>
                        <a:rPr lang="zh-CN" altLang="en-US" sz="900" dirty="0" b="1">
                          <a:solidFill>
                            <a:srgbClr val="666666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待分配</a:t>
                      </a:r>
                      <a:endParaRPr lang="en-US" altLang="zh-CN" sz="900" b="1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zh-CN" altLang="en-US" sz="9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/>
                      </a:r>
                      <a:endParaRPr lang="en-US" sz="9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zh-CN" altLang="en-US" sz="9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/>
                      </a:r>
                      <a:endParaRPr lang="en-US" altLang="zh-CN" sz="9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zh-CN" altLang="en-US" sz="9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暂未分配</a:t>
                      </a:r>
                      <a:endParaRPr lang="en-US" sz="9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13580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zh-CN" altLang="en-US" sz="9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维护</a:t>
                      </a:r>
                      <a:endParaRPr lang="en-US" sz="9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zh-CN" altLang="en-US" sz="9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日常维护</a:t>
                      </a:r>
                      <a:endParaRPr lang="en-US" sz="9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90204"/>
                        <a:buNone/>
                        <a:defRPr/>
                      </a:pPr>
                      <a:r>
                        <a:rPr lang="zh-CN" altLang="en-US" sz="9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/>
                      </a:r>
                      <a:endParaRPr lang="en-US" altLang="zh-CN" sz="9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90204"/>
                        <a:buNone/>
                        <a:defRPr/>
                      </a:pPr>
                      <a:r>
                        <a:rPr lang="zh-CN" altLang="en-US" sz="900" dirty="0" b="1">
                          <a:solidFill>
                            <a:srgbClr val="666666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待分配</a:t>
                      </a:r>
                      <a:endParaRPr lang="en-US" altLang="zh-CN" sz="900" b="1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zh-CN" altLang="en-US" sz="9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/>
                      </a:r>
                      <a:endParaRPr lang="en-US" sz="9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zh-CN" altLang="en-US" sz="9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/>
                      </a:r>
                      <a:endParaRPr lang="en-US" altLang="zh-CN" sz="9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zh-CN" altLang="en-US" sz="9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暂未分配</a:t>
                      </a:r>
                      <a:endParaRPr lang="en-US" sz="9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13580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zh-CN" altLang="en-US" sz="9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维护</a:t>
                      </a:r>
                      <a:endParaRPr lang="en-US" sz="9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zh-CN" altLang="en-US" sz="9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故障处理</a:t>
                      </a:r>
                      <a:endParaRPr lang="en-US" sz="9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90204"/>
                        <a:buNone/>
                        <a:defRPr/>
                      </a:pPr>
                      <a:r>
                        <a:rPr lang="zh-CN" altLang="en-US" sz="9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/>
                      </a:r>
                      <a:endParaRPr lang="en-US" altLang="zh-CN" sz="9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90204"/>
                        <a:buNone/>
                        <a:defRPr/>
                      </a:pPr>
                      <a:r>
                        <a:rPr lang="zh-CN" altLang="en-US" sz="900" dirty="0" b="1">
                          <a:solidFill>
                            <a:srgbClr val="666666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待分配</a:t>
                      </a:r>
                      <a:endParaRPr lang="en-US" altLang="zh-CN" sz="900" b="1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zh-CN" altLang="en-US" sz="9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/>
                      </a:r>
                      <a:endParaRPr lang="en-US" sz="9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zh-CN" altLang="en-US" sz="9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/>
                      </a:r>
                      <a:endParaRPr lang="en-US" altLang="zh-CN" sz="9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zh-CN" altLang="en-US" sz="9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暂未分配</a:t>
                      </a:r>
                      <a:endParaRPr lang="en-US" sz="9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7" name="text.delivery_plan_title"/>
          <p:cNvSpPr/>
          <p:nvPr/>
        </p:nvSpPr>
        <p:spPr>
          <a:xfrm>
            <a:off x="735142" y="183563"/>
            <a:ext cx="10668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3200" b="1" i="0" u="none" strike="noStrike" dirty="0">
                <a:solidFill>
                  <a:srgbClr val="33333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项目</a:t>
            </a:r>
            <a:r>
              <a:rPr lang="zh-CN" altLang="en-US" sz="3200" b="1" dirty="0">
                <a:solidFill>
                  <a:srgbClr val="33333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交付计划</a:t>
            </a:r>
            <a:endParaRPr lang="en-US" sz="11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8" name="AutoShape 3"/>
          <p:cNvSpPr/>
          <p:nvPr/>
        </p:nvSpPr>
        <p:spPr>
          <a:xfrm>
            <a:off x="717319" y="940225"/>
            <a:ext cx="10668000" cy="25400"/>
          </a:xfrm>
          <a:prstGeom prst="roundRect">
            <a:avLst>
              <a:gd name="adj" fmla="val 0"/>
            </a:avLst>
          </a:prstGeom>
          <a:solidFill>
            <a:srgbClr val="0052CC"/>
          </a:solidFill>
          <a:ln w="12700" cap="flat" cmpd="sng">
            <a:solidFill>
              <a:srgbClr val="1F0EFA"/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19" name="milestone.delivery.line"/>
          <p:cNvCxnSpPr/>
          <p:nvPr/>
        </p:nvCxnSpPr>
        <p:spPr>
          <a:xfrm>
            <a:off x="1067034" y="1710690"/>
            <a:ext cx="9940057" cy="0"/>
          </a:xfrm>
          <a:prstGeom prst="line">
            <a:avLst/>
          </a:prstGeom>
          <a:ln w="19050">
            <a:solidFill>
              <a:srgbClr val="4454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milestone.delivery.item_1.date"/>
          <p:cNvSpPr txBox="1"/>
          <p:nvPr/>
        </p:nvSpPr>
        <p:spPr>
          <a:xfrm>
            <a:off x="357030" y="1290066"/>
            <a:ext cx="1420008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C00000"/>
                </a:solidFill>
              </a:rPr>
              <a:t>06-25</a:t>
            </a:r>
          </a:p>
        </p:txBody>
      </p:sp>
      <p:sp>
        <p:nvSpPr>
          <p:cNvPr id="21" name="milestone.delivery.item_1.node"/>
          <p:cNvSpPr/>
          <p:nvPr/>
        </p:nvSpPr>
        <p:spPr>
          <a:xfrm>
            <a:off x="966450" y="1610106"/>
            <a:ext cx="201168" cy="201168"/>
          </a:xfrm>
          <a:prstGeom prst="ellipse">
            <a:avLst/>
          </a:prstGeom>
          <a:solidFill>
            <a:srgbClr val="0052C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milestone.delivery.item_1.node.inner"/>
          <p:cNvSpPr/>
          <p:nvPr/>
        </p:nvSpPr>
        <p:spPr>
          <a:xfrm>
            <a:off x="1014731" y="1658387"/>
            <a:ext cx="104606" cy="104606"/>
          </a:xfrm>
          <a:prstGeom prst="ellipse">
            <a:avLst/>
          </a:prstGeom>
          <a:solidFill>
            <a:srgbClr val="FFFFFF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milestone.delivery.item_1.label"/>
          <p:cNvSpPr txBox="1"/>
          <p:nvPr/>
        </p:nvSpPr>
        <p:spPr>
          <a:xfrm>
            <a:off x="357030" y="1841449"/>
            <a:ext cx="1420008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666666"/>
                </a:solidFill>
              </a:rPr>
              <a:t>前置学习</a:t>
            </a:r>
          </a:p>
        </p:txBody>
      </p:sp>
      <p:sp>
        <p:nvSpPr>
          <p:cNvPr id="24" name="milestone.delivery.item_2.date"/>
          <p:cNvSpPr txBox="1"/>
          <p:nvPr/>
        </p:nvSpPr>
        <p:spPr>
          <a:xfrm>
            <a:off x="2013706" y="1290066"/>
            <a:ext cx="1420008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C00000"/>
                </a:solidFill>
              </a:rPr>
              <a:t>12-10</a:t>
            </a:r>
          </a:p>
        </p:txBody>
      </p:sp>
      <p:sp>
        <p:nvSpPr>
          <p:cNvPr id="25" name="milestone.delivery.item_2.node"/>
          <p:cNvSpPr/>
          <p:nvPr/>
        </p:nvSpPr>
        <p:spPr>
          <a:xfrm>
            <a:off x="2623126" y="1610106"/>
            <a:ext cx="201168" cy="201168"/>
          </a:xfrm>
          <a:prstGeom prst="ellipse">
            <a:avLst/>
          </a:prstGeom>
          <a:solidFill>
            <a:srgbClr val="0052C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milestone.delivery.item_2.node.inner"/>
          <p:cNvSpPr/>
          <p:nvPr/>
        </p:nvSpPr>
        <p:spPr>
          <a:xfrm>
            <a:off x="2671407" y="1658387"/>
            <a:ext cx="104606" cy="104606"/>
          </a:xfrm>
          <a:prstGeom prst="ellipse">
            <a:avLst/>
          </a:prstGeom>
          <a:solidFill>
            <a:srgbClr val="FFFFFF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milestone.delivery.item_2.label"/>
          <p:cNvSpPr txBox="1"/>
          <p:nvPr/>
        </p:nvSpPr>
        <p:spPr>
          <a:xfrm>
            <a:off x="2013706" y="1841449"/>
            <a:ext cx="1420008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666666"/>
                </a:solidFill>
              </a:rPr>
              <a:t>勘测</a:t>
            </a:r>
          </a:p>
        </p:txBody>
      </p:sp>
      <p:sp>
        <p:nvSpPr>
          <p:cNvPr id="28" name="milestone.delivery.item_3.date"/>
          <p:cNvSpPr txBox="1"/>
          <p:nvPr/>
        </p:nvSpPr>
        <p:spPr>
          <a:xfrm>
            <a:off x="3670382" y="1290066"/>
            <a:ext cx="1420008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C00000"/>
                </a:solidFill>
              </a:rPr>
              <a:t>06-28</a:t>
            </a:r>
          </a:p>
        </p:txBody>
      </p:sp>
      <p:sp>
        <p:nvSpPr>
          <p:cNvPr id="29" name="milestone.delivery.item_3.node"/>
          <p:cNvSpPr/>
          <p:nvPr/>
        </p:nvSpPr>
        <p:spPr>
          <a:xfrm>
            <a:off x="4279802" y="1610106"/>
            <a:ext cx="201168" cy="201168"/>
          </a:xfrm>
          <a:prstGeom prst="ellipse">
            <a:avLst/>
          </a:prstGeom>
          <a:solidFill>
            <a:srgbClr val="0052C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milestone.delivery.item_3.node.inner"/>
          <p:cNvSpPr/>
          <p:nvPr/>
        </p:nvSpPr>
        <p:spPr>
          <a:xfrm>
            <a:off x="4328083" y="1658387"/>
            <a:ext cx="104606" cy="104606"/>
          </a:xfrm>
          <a:prstGeom prst="ellipse">
            <a:avLst/>
          </a:prstGeom>
          <a:solidFill>
            <a:srgbClr val="FFFFFF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milestone.delivery.item_3.label"/>
          <p:cNvSpPr txBox="1"/>
          <p:nvPr/>
        </p:nvSpPr>
        <p:spPr>
          <a:xfrm>
            <a:off x="3670382" y="1841449"/>
            <a:ext cx="1420008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666666"/>
                </a:solidFill>
              </a:rPr>
              <a:t>设 计</a:t>
            </a:r>
          </a:p>
        </p:txBody>
      </p:sp>
      <p:sp>
        <p:nvSpPr>
          <p:cNvPr id="32" name="milestone.delivery.item_4.date"/>
          <p:cNvSpPr txBox="1"/>
          <p:nvPr/>
        </p:nvSpPr>
        <p:spPr>
          <a:xfrm>
            <a:off x="5327058" y="1290066"/>
            <a:ext cx="1420008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C00000"/>
                </a:solidFill>
              </a:rPr>
              <a:t>06-24</a:t>
            </a:r>
          </a:p>
        </p:txBody>
      </p:sp>
      <p:sp>
        <p:nvSpPr>
          <p:cNvPr id="33" name="milestone.delivery.item_4.node"/>
          <p:cNvSpPr/>
          <p:nvPr/>
        </p:nvSpPr>
        <p:spPr>
          <a:xfrm>
            <a:off x="5936478" y="1610106"/>
            <a:ext cx="201168" cy="201168"/>
          </a:xfrm>
          <a:prstGeom prst="ellipse">
            <a:avLst/>
          </a:prstGeom>
          <a:solidFill>
            <a:srgbClr val="0052C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milestone.delivery.item_4.node.inner"/>
          <p:cNvSpPr/>
          <p:nvPr/>
        </p:nvSpPr>
        <p:spPr>
          <a:xfrm>
            <a:off x="5984759" y="1658387"/>
            <a:ext cx="104606" cy="104606"/>
          </a:xfrm>
          <a:prstGeom prst="ellipse">
            <a:avLst/>
          </a:prstGeom>
          <a:solidFill>
            <a:srgbClr val="FFFFFF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milestone.delivery.item_4.label"/>
          <p:cNvSpPr txBox="1"/>
          <p:nvPr/>
        </p:nvSpPr>
        <p:spPr>
          <a:xfrm>
            <a:off x="5327058" y="1841449"/>
            <a:ext cx="1420008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666666"/>
                </a:solidFill>
              </a:rPr>
              <a:t>安装</a:t>
            </a:r>
          </a:p>
        </p:txBody>
      </p:sp>
      <p:sp>
        <p:nvSpPr>
          <p:cNvPr id="36" name="milestone.delivery.item_5.date"/>
          <p:cNvSpPr txBox="1"/>
          <p:nvPr/>
        </p:nvSpPr>
        <p:spPr>
          <a:xfrm>
            <a:off x="6983735" y="1290066"/>
            <a:ext cx="1420008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C00000"/>
                </a:solidFill>
              </a:rPr>
              <a:t>07-18</a:t>
            </a:r>
          </a:p>
        </p:txBody>
      </p:sp>
      <p:sp>
        <p:nvSpPr>
          <p:cNvPr id="37" name="milestone.delivery.item_5.node"/>
          <p:cNvSpPr/>
          <p:nvPr/>
        </p:nvSpPr>
        <p:spPr>
          <a:xfrm>
            <a:off x="7593155" y="1610106"/>
            <a:ext cx="201168" cy="201168"/>
          </a:xfrm>
          <a:prstGeom prst="ellipse">
            <a:avLst/>
          </a:prstGeom>
          <a:solidFill>
            <a:srgbClr val="0052C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milestone.delivery.item_5.node.inner"/>
          <p:cNvSpPr/>
          <p:nvPr/>
        </p:nvSpPr>
        <p:spPr>
          <a:xfrm>
            <a:off x="7641436" y="1658387"/>
            <a:ext cx="104606" cy="104606"/>
          </a:xfrm>
          <a:prstGeom prst="ellipse">
            <a:avLst/>
          </a:prstGeom>
          <a:solidFill>
            <a:srgbClr val="FFFFFF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milestone.delivery.item_5.label"/>
          <p:cNvSpPr txBox="1"/>
          <p:nvPr/>
        </p:nvSpPr>
        <p:spPr>
          <a:xfrm>
            <a:off x="6983735" y="1841449"/>
            <a:ext cx="1420008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666666"/>
                </a:solidFill>
              </a:rPr>
              <a:t>调测</a:t>
            </a:r>
          </a:p>
        </p:txBody>
      </p:sp>
      <p:sp>
        <p:nvSpPr>
          <p:cNvPr id="40" name="milestone.delivery.item_6.date"/>
          <p:cNvSpPr txBox="1"/>
          <p:nvPr/>
        </p:nvSpPr>
        <p:spPr>
          <a:xfrm>
            <a:off x="8640411" y="1290066"/>
            <a:ext cx="1420008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C00000"/>
                </a:solidFill>
              </a:rPr>
              <a:t>07-09</a:t>
            </a:r>
          </a:p>
        </p:txBody>
      </p:sp>
      <p:sp>
        <p:nvSpPr>
          <p:cNvPr id="41" name="milestone.delivery.item_6.node"/>
          <p:cNvSpPr/>
          <p:nvPr/>
        </p:nvSpPr>
        <p:spPr>
          <a:xfrm>
            <a:off x="9249831" y="1610106"/>
            <a:ext cx="201168" cy="201168"/>
          </a:xfrm>
          <a:prstGeom prst="ellipse">
            <a:avLst/>
          </a:prstGeom>
          <a:solidFill>
            <a:srgbClr val="0052C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milestone.delivery.item_6.node.inner"/>
          <p:cNvSpPr/>
          <p:nvPr/>
        </p:nvSpPr>
        <p:spPr>
          <a:xfrm>
            <a:off x="9298112" y="1658387"/>
            <a:ext cx="104606" cy="104606"/>
          </a:xfrm>
          <a:prstGeom prst="ellipse">
            <a:avLst/>
          </a:prstGeom>
          <a:solidFill>
            <a:srgbClr val="FFFFFF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milestone.delivery.item_6.label"/>
          <p:cNvSpPr txBox="1"/>
          <p:nvPr/>
        </p:nvSpPr>
        <p:spPr>
          <a:xfrm>
            <a:off x="8640411" y="1841449"/>
            <a:ext cx="1420008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666666"/>
                </a:solidFill>
              </a:rPr>
              <a:t>移交&amp;培训</a:t>
            </a:r>
          </a:p>
        </p:txBody>
      </p:sp>
      <p:sp>
        <p:nvSpPr>
          <p:cNvPr id="44" name="milestone.delivery.item_7.date"/>
          <p:cNvSpPr txBox="1"/>
          <p:nvPr/>
        </p:nvSpPr>
        <p:spPr>
          <a:xfrm>
            <a:off x="10297087" y="1290066"/>
            <a:ext cx="1420008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C00000"/>
                </a:solidFill>
              </a:rPr>
              <a:t>12-30</a:t>
            </a:r>
          </a:p>
        </p:txBody>
      </p:sp>
      <p:sp>
        <p:nvSpPr>
          <p:cNvPr id="45" name="milestone.delivery.item_7.node"/>
          <p:cNvSpPr/>
          <p:nvPr/>
        </p:nvSpPr>
        <p:spPr>
          <a:xfrm>
            <a:off x="10906507" y="1610106"/>
            <a:ext cx="201168" cy="201168"/>
          </a:xfrm>
          <a:prstGeom prst="ellipse">
            <a:avLst/>
          </a:prstGeom>
          <a:solidFill>
            <a:srgbClr val="0052C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milestone.delivery.item_7.node.inner"/>
          <p:cNvSpPr/>
          <p:nvPr/>
        </p:nvSpPr>
        <p:spPr>
          <a:xfrm>
            <a:off x="10954788" y="1658387"/>
            <a:ext cx="104606" cy="104606"/>
          </a:xfrm>
          <a:prstGeom prst="ellipse">
            <a:avLst/>
          </a:prstGeom>
          <a:solidFill>
            <a:srgbClr val="FFFFFF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milestone.delivery.item_7.label"/>
          <p:cNvSpPr txBox="1"/>
          <p:nvPr/>
        </p:nvSpPr>
        <p:spPr>
          <a:xfrm>
            <a:off x="10297087" y="1841449"/>
            <a:ext cx="1420008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666666"/>
                </a:solidFill>
              </a:rPr>
              <a:t>验收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ext.top_issues_title"/>
          <p:cNvSpPr/>
          <p:nvPr/>
        </p:nvSpPr>
        <p:spPr>
          <a:xfrm>
            <a:off x="735142" y="183563"/>
            <a:ext cx="10668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altLang="zh-CN" sz="3200" b="1" dirty="0">
                <a:solidFill>
                  <a:srgbClr val="333333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Noto Sans SC"/>
              </a:rPr>
              <a:t>TOP</a:t>
            </a:r>
            <a:r>
              <a:rPr lang="zh-CN" altLang="en-US" sz="3200" b="1" dirty="0">
                <a:solidFill>
                  <a:srgbClr val="333333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Noto Sans SC"/>
              </a:rPr>
              <a:t>问题与风险</a:t>
            </a:r>
            <a:endParaRPr lang="en-US" sz="11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7" name="AutoShape 3"/>
          <p:cNvSpPr/>
          <p:nvPr/>
        </p:nvSpPr>
        <p:spPr>
          <a:xfrm>
            <a:off x="717319" y="1012271"/>
            <a:ext cx="10668000" cy="25400"/>
          </a:xfrm>
          <a:prstGeom prst="roundRect">
            <a:avLst>
              <a:gd name="adj" fmla="val 0"/>
            </a:avLst>
          </a:prstGeom>
          <a:solidFill>
            <a:srgbClr val="0052CC"/>
          </a:solidFill>
          <a:ln w="12700" cap="flat" cmpd="sng">
            <a:solidFill>
              <a:srgbClr val="1F0EFA"/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8" name="top_issues.cards.item_1.card"/>
          <p:cNvSpPr/>
          <p:nvPr/>
        </p:nvSpPr>
        <p:spPr>
          <a:xfrm>
            <a:off x="701102" y="1179536"/>
            <a:ext cx="10668000" cy="1578627"/>
          </a:xfrm>
          <a:prstGeom prst="rect">
            <a:avLst/>
          </a:prstGeom>
          <a:solidFill>
            <a:srgbClr val="FFFFFF"/>
          </a:solidFill>
          <a:ln>
            <a:solidFill>
              <a:srgbClr val="E6EA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op_issues.cards.item_1.strip"/>
          <p:cNvSpPr/>
          <p:nvPr/>
        </p:nvSpPr>
        <p:spPr>
          <a:xfrm>
            <a:off x="701102" y="1179536"/>
            <a:ext cx="73152" cy="1578627"/>
          </a:xfrm>
          <a:prstGeom prst="rect">
            <a:avLst/>
          </a:prstGeom>
          <a:solidFill>
            <a:srgbClr val="D64545"/>
          </a:solidFill>
          <a:ln>
            <a:solidFill>
              <a:srgbClr val="D645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op_issues.cards.item_1.severity"/>
          <p:cNvSpPr txBox="1"/>
          <p:nvPr/>
        </p:nvSpPr>
        <p:spPr>
          <a:xfrm>
            <a:off x="883982" y="1432116"/>
            <a:ext cx="640080" cy="56830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800" b="1">
                <a:solidFill>
                  <a:srgbClr val="D64545"/>
                </a:solidFill>
              </a:rPr>
              <a:t>紧急</a:t>
            </a:r>
          </a:p>
        </p:txBody>
      </p:sp>
      <p:sp>
        <p:nvSpPr>
          <p:cNvPr id="21" name="top_issues.cards.item_1.description"/>
          <p:cNvSpPr txBox="1"/>
          <p:nvPr/>
        </p:nvSpPr>
        <p:spPr>
          <a:xfrm>
            <a:off x="1524062" y="1368971"/>
            <a:ext cx="9735312" cy="41044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300" b="1">
                <a:solidFill>
                  <a:srgbClr val="0052CC"/>
                </a:solidFill>
              </a:rPr>
              <a:t>问题描述：项目开工25天后，仍未发送开工报告</a:t>
            </a:r>
          </a:p>
        </p:txBody>
      </p:sp>
      <p:sp>
        <p:nvSpPr>
          <p:cNvPr id="22" name="top_issues.cards.item_1.action"/>
          <p:cNvSpPr txBox="1"/>
          <p:nvPr/>
        </p:nvSpPr>
        <p:spPr>
          <a:xfrm>
            <a:off x="1524062" y="1842559"/>
            <a:ext cx="9735312" cy="37887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300" b="1">
                <a:solidFill>
                  <a:srgbClr val="0052CC"/>
                </a:solidFill>
              </a:rPr>
              <a:t>解决措施与进展：待补充处理措施</a:t>
            </a:r>
          </a:p>
        </p:txBody>
      </p:sp>
      <p:sp>
        <p:nvSpPr>
          <p:cNvPr id="23" name="top_issues.cards.item_1.meta"/>
          <p:cNvSpPr txBox="1"/>
          <p:nvPr/>
        </p:nvSpPr>
        <p:spPr>
          <a:xfrm>
            <a:off x="1524062" y="2284574"/>
            <a:ext cx="9735312" cy="34729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200" b="0">
                <a:solidFill>
                  <a:srgbClr val="333333"/>
                </a:solidFill>
              </a:rPr>
              <a:t>责任人：暂未分配   |  状态：处理中  | 计划解决时间：</a:t>
            </a:r>
          </a:p>
        </p:txBody>
      </p:sp>
      <p:sp>
        <p:nvSpPr>
          <p:cNvPr id="24" name="top_issues.cards.item_2.card"/>
          <p:cNvSpPr/>
          <p:nvPr/>
        </p:nvSpPr>
        <p:spPr>
          <a:xfrm>
            <a:off x="701102" y="2867891"/>
            <a:ext cx="10668000" cy="1578627"/>
          </a:xfrm>
          <a:prstGeom prst="rect">
            <a:avLst/>
          </a:prstGeom>
          <a:solidFill>
            <a:srgbClr val="FFFFFF"/>
          </a:solidFill>
          <a:ln>
            <a:solidFill>
              <a:srgbClr val="E6EA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op_issues.cards.item_2.strip"/>
          <p:cNvSpPr/>
          <p:nvPr/>
        </p:nvSpPr>
        <p:spPr>
          <a:xfrm>
            <a:off x="701102" y="2867891"/>
            <a:ext cx="73152" cy="1578627"/>
          </a:xfrm>
          <a:prstGeom prst="rect">
            <a:avLst/>
          </a:prstGeom>
          <a:solidFill>
            <a:srgbClr val="F5C400"/>
          </a:solidFill>
          <a:ln>
            <a:solidFill>
              <a:srgbClr val="F5C4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op_issues.cards.item_2.severity"/>
          <p:cNvSpPr txBox="1"/>
          <p:nvPr/>
        </p:nvSpPr>
        <p:spPr>
          <a:xfrm>
            <a:off x="883982" y="3120471"/>
            <a:ext cx="640080" cy="56830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800" b="1">
                <a:solidFill>
                  <a:srgbClr val="F5C400"/>
                </a:solidFill>
              </a:rPr>
              <a:t>一般</a:t>
            </a:r>
          </a:p>
        </p:txBody>
      </p:sp>
      <p:sp>
        <p:nvSpPr>
          <p:cNvPr id="27" name="top_issues.cards.item_2.description"/>
          <p:cNvSpPr txBox="1"/>
          <p:nvPr/>
        </p:nvSpPr>
        <p:spPr>
          <a:xfrm>
            <a:off x="1524062" y="3057326"/>
            <a:ext cx="9735312" cy="41044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300" b="1">
                <a:solidFill>
                  <a:srgbClr val="0052CC"/>
                </a:solidFill>
              </a:rPr>
              <a:t>问题描述：创建时间2026-06-02 09:04:00，当前进展123456</a:t>
            </a:r>
          </a:p>
        </p:txBody>
      </p:sp>
      <p:sp>
        <p:nvSpPr>
          <p:cNvPr id="28" name="top_issues.cards.item_2.action"/>
          <p:cNvSpPr txBox="1"/>
          <p:nvPr/>
        </p:nvSpPr>
        <p:spPr>
          <a:xfrm>
            <a:off x="1524062" y="3530914"/>
            <a:ext cx="9735312" cy="37887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300" b="1">
                <a:solidFill>
                  <a:srgbClr val="0052CC"/>
                </a:solidFill>
              </a:rPr>
              <a:t>解决措施与进展：待补充处理措施</a:t>
            </a:r>
          </a:p>
        </p:txBody>
      </p:sp>
      <p:sp>
        <p:nvSpPr>
          <p:cNvPr id="29" name="top_issues.cards.item_2.meta"/>
          <p:cNvSpPr txBox="1"/>
          <p:nvPr/>
        </p:nvSpPr>
        <p:spPr>
          <a:xfrm>
            <a:off x="1524062" y="3972929"/>
            <a:ext cx="9735312" cy="34729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200" b="0">
                <a:solidFill>
                  <a:srgbClr val="333333"/>
                </a:solidFill>
              </a:rPr>
              <a:t>责任人：暂未分配   |  状态：处理中  | 计划解决时间：2026-06-17</a:t>
            </a:r>
          </a:p>
        </p:txBody>
      </p:sp>
      <p:sp>
        <p:nvSpPr>
          <p:cNvPr id="30" name="top_issues.cards.item_3.card"/>
          <p:cNvSpPr/>
          <p:nvPr/>
        </p:nvSpPr>
        <p:spPr>
          <a:xfrm>
            <a:off x="701102" y="4556246"/>
            <a:ext cx="10668000" cy="1578627"/>
          </a:xfrm>
          <a:prstGeom prst="rect">
            <a:avLst/>
          </a:prstGeom>
          <a:solidFill>
            <a:srgbClr val="FFFFFF"/>
          </a:solidFill>
          <a:ln>
            <a:solidFill>
              <a:srgbClr val="E6EA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op_issues.cards.item_3.strip"/>
          <p:cNvSpPr/>
          <p:nvPr/>
        </p:nvSpPr>
        <p:spPr>
          <a:xfrm>
            <a:off x="701102" y="4556246"/>
            <a:ext cx="73152" cy="1578627"/>
          </a:xfrm>
          <a:prstGeom prst="rect">
            <a:avLst/>
          </a:prstGeom>
          <a:solidFill>
            <a:srgbClr val="F5C400"/>
          </a:solidFill>
          <a:ln>
            <a:solidFill>
              <a:srgbClr val="F5C4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op_issues.cards.item_3.severity"/>
          <p:cNvSpPr txBox="1"/>
          <p:nvPr/>
        </p:nvSpPr>
        <p:spPr>
          <a:xfrm>
            <a:off x="883982" y="4808826"/>
            <a:ext cx="640080" cy="56830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800" b="1">
                <a:solidFill>
                  <a:srgbClr val="F5C400"/>
                </a:solidFill>
              </a:rPr>
              <a:t>一般</a:t>
            </a:r>
          </a:p>
        </p:txBody>
      </p:sp>
      <p:sp>
        <p:nvSpPr>
          <p:cNvPr id="33" name="top_issues.cards.item_3.description"/>
          <p:cNvSpPr txBox="1"/>
          <p:nvPr/>
        </p:nvSpPr>
        <p:spPr>
          <a:xfrm>
            <a:off x="1524062" y="4745681"/>
            <a:ext cx="9735312" cy="41044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300" b="1">
                <a:solidFill>
                  <a:srgbClr val="0052CC"/>
                </a:solidFill>
              </a:rPr>
              <a:t>问题描述：创建时间2026-06-02 14:53:00，当前进展123</a:t>
            </a:r>
          </a:p>
        </p:txBody>
      </p:sp>
      <p:sp>
        <p:nvSpPr>
          <p:cNvPr id="34" name="top_issues.cards.item_3.action"/>
          <p:cNvSpPr txBox="1"/>
          <p:nvPr/>
        </p:nvSpPr>
        <p:spPr>
          <a:xfrm>
            <a:off x="1524062" y="5219269"/>
            <a:ext cx="9735312" cy="37887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300" b="1">
                <a:solidFill>
                  <a:srgbClr val="0052CC"/>
                </a:solidFill>
              </a:rPr>
              <a:t>解决措施与进展：待补充处理措施</a:t>
            </a:r>
          </a:p>
        </p:txBody>
      </p:sp>
      <p:sp>
        <p:nvSpPr>
          <p:cNvPr id="35" name="top_issues.cards.item_3.meta"/>
          <p:cNvSpPr txBox="1"/>
          <p:nvPr/>
        </p:nvSpPr>
        <p:spPr>
          <a:xfrm>
            <a:off x="1524062" y="5661284"/>
            <a:ext cx="9735312" cy="34729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200" b="0">
                <a:solidFill>
                  <a:srgbClr val="333333"/>
                </a:solidFill>
              </a:rPr>
              <a:t>责任人：暂未分配   |  状态：处理中  | 计划解决时间：2026-06-17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AutoShape 4"/>
          <p:cNvSpPr/>
          <p:nvPr/>
        </p:nvSpPr>
        <p:spPr>
          <a:xfrm>
            <a:off x="717319" y="1881093"/>
            <a:ext cx="10668000" cy="3556000"/>
          </a:xfrm>
          <a:prstGeom prst="roundRect">
            <a:avLst>
              <a:gd name="adj" fmla="val 0"/>
            </a:avLst>
          </a:prstGeom>
          <a:solidFill>
            <a:srgbClr val="0052CC">
              <a:alpha val="4000"/>
            </a:srgbClr>
          </a:solidFill>
          <a:ln w="12700" cap="flat" cmpd="sng">
            <a:solidFill>
              <a:srgbClr val="0052CC">
                <a:alpha val="2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" name="AutoShape 5"/>
          <p:cNvSpPr/>
          <p:nvPr/>
        </p:nvSpPr>
        <p:spPr>
          <a:xfrm>
            <a:off x="717320" y="1881093"/>
            <a:ext cx="147204" cy="3555997"/>
          </a:xfrm>
          <a:prstGeom prst="roundRect">
            <a:avLst>
              <a:gd name="adj" fmla="val 0"/>
            </a:avLst>
          </a:prstGeom>
          <a:solidFill>
            <a:srgbClr val="0052CC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" name="text.next_plan_item"/>
          <p:cNvSpPr/>
          <p:nvPr/>
        </p:nvSpPr>
        <p:spPr>
          <a:xfrm>
            <a:off x="1334770" y="2331720"/>
            <a:ext cx="9610725" cy="294513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800" b="1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1. 开局配置</a:t>
            </a:r>
            <a:r>
              <a:rPr lang="en-US" altLang="zh-CN" sz="18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/>
            </a:r>
            <a:endParaRPr lang="en-US" altLang="zh-CN" sz="1800" b="1" dirty="0">
              <a:solidFill>
                <a:srgbClr val="C00000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Noto Sans SC"/>
              <a:sym typeface="Noto Sans SC"/>
            </a:endParaRPr>
          </a:p>
          <a:p>
            <a:pPr marL="0" indent="0" algn="l">
              <a:lnSpc>
                <a:spcPct val="125000"/>
              </a:lnSpc>
              <a:defRPr/>
            </a:pPr>
            <a:r>
              <a:rPr lang="en-US" altLang="zh-CN" sz="1800" b="1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2. 配置检查</a:t>
            </a:r>
            <a:r>
              <a:rPr lang="en-US" altLang="zh-CN" sz="18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/>
            </a:r>
            <a:endParaRPr lang="en-US" altLang="zh-CN" sz="1100" b="1" i="0" u="none" strike="noStrike" dirty="0">
              <a:solidFill>
                <a:srgbClr val="C00000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Noto Sans SC"/>
              <a:sym typeface="Noto Sans SC"/>
            </a:endParaRPr>
          </a:p>
          <a:p>
            <a:pPr marL="0" indent="0" algn="l">
              <a:lnSpc>
                <a:spcPct val="125000"/>
              </a:lnSpc>
              <a:defRPr/>
            </a:pPr>
            <a:endParaRPr lang="en-US" sz="1100" dirty="0">
              <a:solidFill>
                <a:srgbClr val="C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0" indent="0" algn="l">
              <a:lnSpc>
                <a:spcPct val="125000"/>
              </a:lnSpc>
              <a:defRPr/>
            </a:pPr>
            <a:endParaRPr lang="en-US" sz="1100" dirty="0">
              <a:solidFill>
                <a:srgbClr val="C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2" name="text.next_plan_title"/>
          <p:cNvSpPr/>
          <p:nvPr/>
        </p:nvSpPr>
        <p:spPr>
          <a:xfrm>
            <a:off x="735142" y="183563"/>
            <a:ext cx="10668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zh-CN" altLang="en-US" sz="3200" b="1" dirty="0">
                <a:solidFill>
                  <a:srgbClr val="333333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Noto Sans SC"/>
              </a:rPr>
              <a:t>下期计划</a:t>
            </a:r>
            <a:endParaRPr lang="en-US" sz="11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3" name="AutoShape 3"/>
          <p:cNvSpPr/>
          <p:nvPr/>
        </p:nvSpPr>
        <p:spPr>
          <a:xfrm>
            <a:off x="717319" y="1012271"/>
            <a:ext cx="10668000" cy="25400"/>
          </a:xfrm>
          <a:prstGeom prst="roundRect">
            <a:avLst>
              <a:gd name="adj" fmla="val 0"/>
            </a:avLst>
          </a:prstGeom>
          <a:solidFill>
            <a:srgbClr val="0052CC"/>
          </a:solidFill>
          <a:ln w="12700" cap="flat" cmpd="sng">
            <a:solidFill>
              <a:srgbClr val="1F0EFA"/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.thank_you"/>
          <p:cNvSpPr/>
          <p:nvPr/>
        </p:nvSpPr>
        <p:spPr>
          <a:xfrm>
            <a:off x="0" y="2667000"/>
            <a:ext cx="12192000" cy="1016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6000" b="0" i="0" u="none" strike="noStrike">
                <a:solidFill>
                  <a:srgbClr val="333333"/>
                </a:solidFill>
                <a:latin typeface="Noto Sans SC Light"/>
                <a:ea typeface="Noto Sans SC Light"/>
                <a:cs typeface="Noto Sans SC Light"/>
                <a:sym typeface="Noto Sans SC Light"/>
              </a:rPr>
              <a:t>Thank you.</a:t>
            </a:r>
            <a:endParaRPr lang="en-US" sz="1100"/>
          </a:p>
        </p:txBody>
      </p:sp>
      <p:sp>
        <p:nvSpPr>
          <p:cNvPr id="3" name="AutoShape 3"/>
          <p:cNvSpPr/>
          <p:nvPr/>
        </p:nvSpPr>
        <p:spPr>
          <a:xfrm>
            <a:off x="5715000" y="4191000"/>
            <a:ext cx="762000" cy="50800"/>
          </a:xfrm>
          <a:prstGeom prst="roundRect">
            <a:avLst>
              <a:gd name="adj" fmla="val 0"/>
            </a:avLst>
          </a:prstGeom>
          <a:solidFill>
            <a:srgbClr val="333333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5" name="AutoShape 5"/>
          <p:cNvSpPr/>
          <p:nvPr/>
        </p:nvSpPr>
        <p:spPr>
          <a:xfrm>
            <a:off x="0" y="6667500"/>
            <a:ext cx="12192000" cy="190500"/>
          </a:xfrm>
          <a:prstGeom prst="roundRect">
            <a:avLst>
              <a:gd name="adj" fmla="val 0"/>
            </a:avLst>
          </a:prstGeom>
          <a:solidFill>
            <a:srgbClr val="333333">
              <a:alpha val="5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KSO_WM_DIAGRAM_VIRTUALLY_FRAME" val="{&quot;height&quot;:340.5796062992125,&quot;left&quot;:53.51826771653543,&quot;top&quot;:119.71401574803149,&quot;width&quot;:854.1092913385826}"/>
</p:tagLst>
</file>

<file path=ppt/tags/tag2.xml><?xml version="1.0" encoding="utf-8"?>
<p:tagLst xmlns:p="http://schemas.openxmlformats.org/presentationml/2006/main">
  <p:tag name="KSO_WM_DIAGRAM_VIRTUALLY_FRAME" val="{&quot;height&quot;:340.5796062992125,&quot;left&quot;:53.51826771653543,&quot;top&quot;:119.71401574803149,&quot;width&quot;:854.1092913385826}"/>
</p:tagLst>
</file>

<file path=ppt/tags/tag3.xml><?xml version="1.0" encoding="utf-8"?>
<p:tagLst xmlns:p="http://schemas.openxmlformats.org/presentationml/2006/main">
  <p:tag name="KSO_WM_DIAGRAM_VIRTUALLY_FRAME" val="{&quot;height&quot;:340.5796062992125,&quot;left&quot;:53.51826771653543,&quot;top&quot;:119.71401574803149,&quot;width&quot;:854.1092913385826}"/>
</p:tagLst>
</file>

<file path=ppt/tags/tag4.xml><?xml version="1.0" encoding="utf-8"?>
<p:tagLst xmlns:p="http://schemas.openxmlformats.org/presentationml/2006/main">
  <p:tag name="KSO_WM_DIAGRAM_VIRTUALLY_FRAME" val="{&quot;height&quot;:340.5796062992125,&quot;left&quot;:53.51826771653543,&quot;top&quot;:119.71401574803149,&quot;width&quot;:854.1092913385826}"/>
</p:tagLst>
</file>

<file path=ppt/tags/tag5.xml><?xml version="1.0" encoding="utf-8"?>
<p:tagLst xmlns:p="http://schemas.openxmlformats.org/presentationml/2006/main">
  <p:tag name="KSO_WM_DIAGRAM_VIRTUALLY_FRAME" val="{&quot;height&quot;:340.5796062992125,&quot;left&quot;:53.51826771653543,&quot;top&quot;:119.71401574803149,&quot;width&quot;:854.1092913385826}"/>
</p:tagLst>
</file>

<file path=ppt/tags/tag6.xml><?xml version="1.0" encoding="utf-8"?>
<p:tagLst xmlns:p="http://schemas.openxmlformats.org/presentationml/2006/main">
  <p:tag name="KSO_WM_DIAGRAM_VIRTUALLY_FRAME" val="{&quot;height&quot;:340.5796062992125,&quot;left&quot;:53.51826771653543,&quot;top&quot;:119.71401574803149,&quot;width&quot;:854.1092913385826}"/>
</p:tagLst>
</file>

<file path=ppt/tags/tag7.xml><?xml version="1.0" encoding="utf-8"?>
<p:tagLst xmlns:p="http://schemas.openxmlformats.org/presentationml/2006/main">
  <p:tag name="KSO_WM_DIAGRAM_VIRTUALLY_FRAME" val="{&quot;height&quot;:340.5796062992125,&quot;left&quot;:53.51826771653543,&quot;top&quot;:119.71401574803149,&quot;width&quot;:854.1092913385826}"/>
</p:tagLst>
</file>

<file path=ppt/tags/tag8.xml><?xml version="1.0" encoding="utf-8"?>
<p:tagLst xmlns:p="http://schemas.openxmlformats.org/presentationml/2006/main">
  <p:tag name="KSO_WM_DIAGRAM_VIRTUALLY_FRAME" val="{&quot;height&quot;:340.5796062992125,&quot;left&quot;:53.51826771653543,&quot;top&quot;:119.71401574803149,&quot;width&quot;:854.1092913385826}"/>
</p:tagLst>
</file>

<file path=ppt/tags/tag9.xml><?xml version="1.0" encoding="utf-8"?>
<p:tagLst xmlns:p="http://schemas.openxmlformats.org/presentationml/2006/main">
  <p:tag name="KSO_WM_DIAGRAM_VIRTUALLY_FRAME" val="{&quot;height&quot;:340.5796062992125,&quot;left&quot;:53.51826771653543,&quot;top&quot;:119.71401574803149,&quot;width&quot;:854.1092913385826}"/>
</p:tagLst>
</file>

<file path=ppt/tags/tag10.xml><?xml version="1.0" encoding="utf-8"?>
<p:tagLst xmlns:p="http://schemas.openxmlformats.org/presentationml/2006/main">
  <p:tag name="KSO_WM_DIAGRAM_VIRTUALLY_FRAME" val="{&quot;height&quot;:340.5796062992125,&quot;left&quot;:53.51826771653543,&quot;top&quot;:119.71401574803149,&quot;width&quot;:854.1092913385826}"/>
</p:tagLst>
</file>

<file path=ppt/tags/tag11.xml><?xml version="1.0" encoding="utf-8"?>
<p:tagLst xmlns:p="http://schemas.openxmlformats.org/presentationml/2006/main">
  <p:tag name="KSO_WM_DIAGRAM_VIRTUALLY_FRAME" val="{&quot;height&quot;:340.5796062992125,&quot;left&quot;:53.51826771653543,&quot;top&quot;:119.71401574803149,&quot;width&quot;:854.1092913385826}"/>
</p:tagLst>
</file>

<file path=ppt/tags/tag12.xml><?xml version="1.0" encoding="utf-8"?>
<p:tagLst xmlns:p="http://schemas.openxmlformats.org/presentationml/2006/main">
  <p:tag name="KSO_WM_DIAGRAM_VIRTUALLY_FRAME" val="{&quot;height&quot;:340.5796062992125,&quot;left&quot;:53.51826771653543,&quot;top&quot;:119.71401574803149,&quot;width&quot;:854.1092913385826}"/>
</p:tagLst>
</file>

<file path=ppt/tags/tag13.xml><?xml version="1.0" encoding="utf-8"?>
<p:tagLst xmlns:p="http://schemas.openxmlformats.org/presentationml/2006/main">
  <p:tag name="KSO_WM_DIAGRAM_VIRTUALLY_FRAME" val="{&quot;height&quot;:340.5796062992125,&quot;left&quot;:53.51826771653543,&quot;top&quot;:119.71401574803149,&quot;width&quot;:854.1092913385826}"/>
</p:tagLst>
</file>

<file path=ppt/tags/tag14.xml><?xml version="1.0" encoding="utf-8"?>
<p:tagLst xmlns:p="http://schemas.openxmlformats.org/presentationml/2006/main">
  <p:tag name="KSO_WM_DIAGRAM_VIRTUALLY_FRAME" val="{&quot;height&quot;:340.5796062992125,&quot;left&quot;:53.51826771653543,&quot;top&quot;:119.71401574803149,&quot;width&quot;:854.1092913385826}"/>
</p:tagLst>
</file>

<file path=ppt/tags/tag15.xml><?xml version="1.0" encoding="utf-8"?>
<p:tagLst xmlns:p="http://schemas.openxmlformats.org/presentationml/2006/main">
  <p:tag name="KSO_WM_DIAGRAM_VIRTUALLY_FRAME" val="{&quot;height&quot;:340.5796062992125,&quot;left&quot;:53.51826771653543,&quot;top&quot;:119.71401574803149,&quot;width&quot;:854.1092913385826}"/>
</p:tagLst>
</file>

<file path=ppt/tags/tag16.xml><?xml version="1.0" encoding="utf-8"?>
<p:tagLst xmlns:p="http://schemas.openxmlformats.org/presentationml/2006/main">
  <p:tag name="KSO_WM_DIAGRAM_VIRTUALLY_FRAME" val="{&quot;height&quot;:340.5796062992125,&quot;left&quot;:53.51826771653543,&quot;top&quot;:119.71401574803149,&quot;width&quot;:854.1092913385826}"/>
</p:tagLst>
</file>

<file path=ppt/tags/tag17.xml><?xml version="1.0" encoding="utf-8"?>
<p:tagLst xmlns:p="http://schemas.openxmlformats.org/presentationml/2006/main">
  <p:tag name="KSO_WM_DIAGRAM_VIRTUALLY_FRAME" val="{&quot;height&quot;:340.5796062992125,&quot;left&quot;:53.51826771653543,&quot;top&quot;:119.71401574803149,&quot;width&quot;:854.1092913385826}"/>
</p:tagLst>
</file>

<file path=ppt/tags/tag18.xml><?xml version="1.0" encoding="utf-8"?>
<p:tagLst xmlns:p="http://schemas.openxmlformats.org/presentationml/2006/main">
  <p:tag name="KSO_WM_DIAGRAM_VIRTUALLY_FRAME" val="{&quot;height&quot;:340.5796062992125,&quot;left&quot;:53.51826771653543,&quot;top&quot;:119.71401574803149,&quot;width&quot;:854.1092913385826}"/>
</p:tagLst>
</file>

<file path=ppt/tags/tag19.xml><?xml version="1.0" encoding="utf-8"?>
<p:tagLst xmlns:p="http://schemas.openxmlformats.org/presentationml/2006/main">
  <p:tag name="KSO_WM_DIAGRAM_VIRTUALLY_FRAME" val="{&quot;height&quot;:340.5796062992125,&quot;left&quot;:53.51826771653543,&quot;top&quot;:119.71401574803149,&quot;width&quot;:854.1092913385826}"/>
</p:tagLst>
</file>

<file path=ppt/tags/tag20.xml><?xml version="1.0" encoding="utf-8"?>
<p:tagLst xmlns:p="http://schemas.openxmlformats.org/presentationml/2006/main">
  <p:tag name="KSO_WM_DIAGRAM_VIRTUALLY_FRAME" val="{&quot;height&quot;:340.5796062992125,&quot;left&quot;:53.51826771653543,&quot;top&quot;:119.71401574803149,&quot;width&quot;:854.1092913385826}"/>
</p:tagLst>
</file>

<file path=ppt/tags/tag21.xml><?xml version="1.0" encoding="utf-8"?>
<p:tagLst xmlns:p="http://schemas.openxmlformats.org/presentationml/2006/main">
  <p:tag name="KSO_WM_DIAGRAM_VIRTUALLY_FRAME" val="{&quot;height&quot;:340.5796062992125,&quot;left&quot;:53.51826771653543,&quot;top&quot;:119.71401574803149,&quot;width&quot;:854.1092913385826}"/>
</p:tagLst>
</file>

<file path=ppt/tags/tag22.xml><?xml version="1.0" encoding="utf-8"?>
<p:tagLst xmlns:p="http://schemas.openxmlformats.org/presentationml/2006/main">
  <p:tag name="KSO_WM_DIAGRAM_VIRTUALLY_FRAME" val="{&quot;height&quot;:340.5796062992125,&quot;left&quot;:53.51826771653543,&quot;top&quot;:119.71401574803149,&quot;width&quot;:854.1092913385826}"/>
</p:tagLst>
</file>

<file path=ppt/tags/tag23.xml><?xml version="1.0" encoding="utf-8"?>
<p:tagLst xmlns:p="http://schemas.openxmlformats.org/presentationml/2006/main">
  <p:tag name="KSO_WM_DIAGRAM_VIRTUALLY_FRAME" val="{&quot;height&quot;:340.5796062992125,&quot;left&quot;:53.51826771653543,&quot;top&quot;:119.71401574803149,&quot;width&quot;:854.1092913385826}"/>
</p:tagLst>
</file>

<file path=ppt/tags/tag24.xml><?xml version="1.0" encoding="utf-8"?>
<p:tagLst xmlns:p="http://schemas.openxmlformats.org/presentationml/2006/main">
  <p:tag name="KSO_WM_DIAGRAM_VIRTUALLY_FRAME" val="{&quot;height&quot;:340.5796062992125,&quot;left&quot;:53.51826771653543,&quot;top&quot;:119.71401574803149,&quot;width&quot;:854.1092913385826}"/>
</p:tagLst>
</file>

<file path=ppt/tags/tag25.xml><?xml version="1.0" encoding="utf-8"?>
<p:tagLst xmlns:p="http://schemas.openxmlformats.org/presentationml/2006/main">
  <p:tag name="KSO_WM_DIAGRAM_VIRTUALLY_FRAME" val="{&quot;height&quot;:340.5796062992125,&quot;left&quot;:53.51826771653543,&quot;top&quot;:119.71401574803149,&quot;width&quot;:854.1092913385826}"/>
</p:tagLst>
</file>

<file path=ppt/tags/tag26.xml><?xml version="1.0" encoding="utf-8"?>
<p:tagLst xmlns:p="http://schemas.openxmlformats.org/presentationml/2006/main">
  <p:tag name="KSO_WM_DIAGRAM_VIRTUALLY_FRAME" val="{&quot;height&quot;:340.5796062992125,&quot;left&quot;:53.51826771653543,&quot;top&quot;:119.71401574803149,&quot;width&quot;:854.1092913385826}"/>
</p:tagLst>
</file>

<file path=ppt/tags/tag27.xml><?xml version="1.0" encoding="utf-8"?>
<p:tagLst xmlns:p="http://schemas.openxmlformats.org/presentationml/2006/main">
  <p:tag name="KSO_WM_DIAGRAM_VIRTUALLY_FRAME" val="{&quot;height&quot;:340.5796062992125,&quot;left&quot;:53.51826771653543,&quot;top&quot;:119.71401574803149,&quot;width&quot;:854.1092913385826}"/>
</p:tagLst>
</file>

<file path=ppt/tags/tag28.xml><?xml version="1.0" encoding="utf-8"?>
<p:tagLst xmlns:p="http://schemas.openxmlformats.org/presentationml/2006/main">
  <p:tag name="KSO_WM_DIAGRAM_VIRTUALLY_FRAME" val="{&quot;height&quot;:340.5796062992125,&quot;left&quot;:53.51826771653543,&quot;top&quot;:119.71401574803149,&quot;width&quot;:854.1092913385826}"/>
</p:tagLst>
</file>

<file path=ppt/tags/tag29.xml><?xml version="1.0" encoding="utf-8"?>
<p:tagLst xmlns:p="http://schemas.openxmlformats.org/presentationml/2006/main">
  <p:tag name="KSO_WM_DIAGRAM_VIRTUALLY_FRAME" val="{&quot;height&quot;:340.5796062992125,&quot;left&quot;:53.51826771653543,&quot;top&quot;:119.71401574803149,&quot;width&quot;:854.1092913385826}"/>
</p:tagLst>
</file>

<file path=ppt/tags/tag30.xml><?xml version="1.0" encoding="utf-8"?>
<p:tagLst xmlns:p="http://schemas.openxmlformats.org/presentationml/2006/main">
  <p:tag name="KSO_WM_DIAGRAM_VIRTUALLY_FRAME" val="{&quot;height&quot;:340.5796062992125,&quot;left&quot;:53.51826771653543,&quot;top&quot;:119.71401574803149,&quot;width&quot;:854.1092913385826}"/>
</p:tagLst>
</file>

<file path=ppt/tags/tag31.xml><?xml version="1.0" encoding="utf-8"?>
<p:tagLst xmlns:p="http://schemas.openxmlformats.org/presentationml/2006/main">
  <p:tag name="KSO_WM_DIAGRAM_VIRTUALLY_FRAME" val="{&quot;height&quot;:340.5796062992125,&quot;left&quot;:53.51826771653543,&quot;top&quot;:119.71401574803149,&quot;width&quot;:854.1092913385826}"/>
</p:tagLst>
</file>

<file path=ppt/tags/tag32.xml><?xml version="1.0" encoding="utf-8"?>
<p:tagLst xmlns:p="http://schemas.openxmlformats.org/presentationml/2006/main">
  <p:tag name="KSO_WM_DIAGRAM_VIRTUALLY_FRAME" val="{&quot;height&quot;:340.5796062992125,&quot;left&quot;:53.51826771653543,&quot;top&quot;:119.71401574803149,&quot;width&quot;:854.1092913385826}"/>
</p:tagLst>
</file>

<file path=ppt/tags/tag33.xml><?xml version="1.0" encoding="utf-8"?>
<p:tagLst xmlns:p="http://schemas.openxmlformats.org/presentationml/2006/main">
  <p:tag name="KSO_WM_DIAGRAM_VIRTUALLY_FRAME" val="{&quot;height&quot;:340.5796062992125,&quot;left&quot;:53.51826771653543,&quot;top&quot;:119.71401574803149,&quot;width&quot;:854.1092913385826}"/>
</p:tagLst>
</file>

<file path=ppt/tags/tag34.xml><?xml version="1.0" encoding="utf-8"?>
<p:tagLst xmlns:p="http://schemas.openxmlformats.org/presentationml/2006/main">
  <p:tag name="KSO_WM_DIAGRAM_VIRTUALLY_FRAME" val="{&quot;height&quot;:340.5796062992125,&quot;left&quot;:53.51826771653543,&quot;top&quot;:119.71401574803149,&quot;width&quot;:854.1092913385826}"/>
</p:tagLst>
</file>

<file path=ppt/tags/tag35.xml><?xml version="1.0" encoding="utf-8"?>
<p:tagLst xmlns:p="http://schemas.openxmlformats.org/presentationml/2006/main">
  <p:tag name="KSO_WM_DIAGRAM_VIRTUALLY_FRAME" val="{&quot;height&quot;:340.5796062992125,&quot;left&quot;:53.51826771653543,&quot;top&quot;:119.71401574803149,&quot;width&quot;:854.1092913385826}"/>
</p:tagLst>
</file>

<file path=ppt/tags/tag36.xml><?xml version="1.0" encoding="utf-8"?>
<p:tagLst xmlns:p="http://schemas.openxmlformats.org/presentationml/2006/main">
  <p:tag name="KSO_WM_DIAGRAM_VIRTUALLY_FRAME" val="{&quot;height&quot;:340.5796062992125,&quot;left&quot;:53.51826771653543,&quot;top&quot;:119.71401574803149,&quot;width&quot;:854.1092913385826}"/>
</p:tagLst>
</file>

<file path=ppt/tags/tag37.xml><?xml version="1.0" encoding="utf-8"?>
<p:tagLst xmlns:p="http://schemas.openxmlformats.org/presentationml/2006/main">
  <p:tag name="KSO_WM_DIAGRAM_VIRTUALLY_FRAME" val="{&quot;height&quot;:340.5796062992125,&quot;left&quot;:53.51826771653543,&quot;top&quot;:119.71401574803149,&quot;width&quot;:854.1092913385826}"/>
</p:tagLst>
</file>

<file path=ppt/tags/tag38.xml><?xml version="1.0" encoding="utf-8"?>
<p:tagLst xmlns:p="http://schemas.openxmlformats.org/presentationml/2006/main">
  <p:tag name="KSO_WM_DIAGRAM_VIRTUALLY_FRAME" val="{&quot;height&quot;:340.5796062992125,&quot;left&quot;:53.51826771653543,&quot;top&quot;:119.71401574803149,&quot;width&quot;:854.1092913385826}"/>
</p:tagLst>
</file>

<file path=ppt/tags/tag39.xml><?xml version="1.0" encoding="utf-8"?>
<p:tagLst xmlns:p="http://schemas.openxmlformats.org/presentationml/2006/main">
  <p:tag name="KSO_WM_DIAGRAM_VIRTUALLY_FRAME" val="{&quot;height&quot;:340.5796062992125,&quot;left&quot;:53.51826771653543,&quot;top&quot;:119.71401574803149,&quot;width&quot;:854.1092913385826}"/>
</p:tagLst>
</file>

<file path=ppt/tags/tag40.xml><?xml version="1.0" encoding="utf-8"?>
<p:tagLst xmlns:p="http://schemas.openxmlformats.org/presentationml/2006/main">
  <p:tag name="KSO_WM_DIAGRAM_VIRTUALLY_FRAME" val="{&quot;height&quot;:340.5796062992125,&quot;left&quot;:53.51826771653543,&quot;top&quot;:119.71401574803149,&quot;width&quot;:854.1092913385826}"/>
</p:tagLst>
</file>

<file path=ppt/tags/tag41.xml><?xml version="1.0" encoding="utf-8"?>
<p:tagLst xmlns:p="http://schemas.openxmlformats.org/presentationml/2006/main">
  <p:tag name="KSO_WM_DIAGRAM_VIRTUALLY_FRAME" val="{&quot;height&quot;:340.5796062992125,&quot;left&quot;:53.51826771653543,&quot;top&quot;:119.71401574803149,&quot;width&quot;:854.1092913385826}"/>
</p:tagLst>
</file>

<file path=ppt/tags/tag42.xml><?xml version="1.0" encoding="utf-8"?>
<p:tagLst xmlns:p="http://schemas.openxmlformats.org/presentationml/2006/main">
  <p:tag name="KSO_WM_DIAGRAM_VIRTUALLY_FRAME" val="{&quot;height&quot;:340.5796062992125,&quot;left&quot;:53.51826771653543,&quot;top&quot;:119.71401574803149,&quot;width&quot;:854.1092913385826}"/>
</p:tagLst>
</file>

<file path=ppt/tags/tag43.xml><?xml version="1.0" encoding="utf-8"?>
<p:tagLst xmlns:p="http://schemas.openxmlformats.org/presentationml/2006/main">
  <p:tag name="KSO_WM_DIAGRAM_VIRTUALLY_FRAME" val="{&quot;height&quot;:340.5796062992125,&quot;left&quot;:53.51826771653543,&quot;top&quot;:119.71401574803149,&quot;width&quot;:854.1092913385826}"/>
</p:tagLst>
</file>

<file path=ppt/tags/tag44.xml><?xml version="1.0" encoding="utf-8"?>
<p:tagLst xmlns:p="http://schemas.openxmlformats.org/presentationml/2006/main">
  <p:tag name="KSO_WM_DIAGRAM_VIRTUALLY_FRAME" val="{&quot;height&quot;:340.5796062992125,&quot;left&quot;:53.51826771653543,&quot;top&quot;:119.71401574803149,&quot;width&quot;:854.1092913385826}"/>
</p:tagLst>
</file>

<file path=ppt/tags/tag45.xml><?xml version="1.0" encoding="utf-8"?>
<p:tagLst xmlns:p="http://schemas.openxmlformats.org/presentationml/2006/main">
  <p:tag name="KSO_WM_DIAGRAM_VIRTUALLY_FRAME" val="{&quot;height&quot;:340.5796062992125,&quot;left&quot;:53.51826771653543,&quot;top&quot;:119.71401574803149,&quot;width&quot;:854.1092913385826}"/>
</p:tagLst>
</file>

<file path=ppt/tags/tag46.xml><?xml version="1.0" encoding="utf-8"?>
<p:tagLst xmlns:p="http://schemas.openxmlformats.org/presentationml/2006/main">
  <p:tag name="KSO_WM_DIAGRAM_VIRTUALLY_FRAME" val="{&quot;height&quot;:340.5796062992125,&quot;left&quot;:53.51826771653543,&quot;top&quot;:119.71401574803149,&quot;width&quot;:854.1092913385826}"/>
</p:tagLst>
</file>

<file path=ppt/theme/theme1.xml><?xml version="1.0" encoding="utf-8"?>
<a:theme xmlns:a="http://schemas.openxmlformats.org/drawingml/2006/main" name="Office 主题​​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默认主题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1_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主题​​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691</Words>
  <Application>WPS 演示</Application>
  <PresentationFormat>宽屏</PresentationFormat>
  <Paragraphs>254</Paragraphs>
  <Slides>8</Slides>
  <Notes>8</Notes>
  <HiddenSlides>0</HiddenSlides>
  <MMClips>0</MMClips>
  <ScaleCrop>false</ScaleCrop>
  <HeadingPairs>
    <vt:vector size="6" baseType="variant">
      <vt:variant>
        <vt:lpstr>已用的字体</vt:lpstr>
      </vt:variant>
      <vt:variant>
        <vt:i4>20</vt:i4>
      </vt:variant>
      <vt:variant>
        <vt:lpstr>主题</vt:lpstr>
      </vt:variant>
      <vt:variant>
        <vt:i4>3</vt:i4>
      </vt:variant>
      <vt:variant>
        <vt:lpstr>幻灯片标题</vt:lpstr>
      </vt:variant>
      <vt:variant>
        <vt:i4>8</vt:i4>
      </vt:variant>
    </vt:vector>
  </HeadingPairs>
  <TitlesOfParts>
    <vt:vector size="31" baseType="lpstr">
      <vt:lpstr>Arial</vt:lpstr>
      <vt:lpstr>宋体</vt:lpstr>
      <vt:lpstr>Wingdings</vt:lpstr>
      <vt:lpstr>Arial</vt:lpstr>
      <vt:lpstr>微软雅黑</vt:lpstr>
      <vt:lpstr>汉仪旗黑</vt:lpstr>
      <vt:lpstr>等线</vt:lpstr>
      <vt:lpstr>汉仪中等线KW</vt:lpstr>
      <vt:lpstr>Noto Sans SC</vt:lpstr>
      <vt:lpstr>Thonburi</vt:lpstr>
      <vt:lpstr>Noto Sans SC Light</vt:lpstr>
      <vt:lpstr>宋体</vt:lpstr>
      <vt:lpstr>Arial Unicode MS</vt:lpstr>
      <vt:lpstr>等线 Light</vt:lpstr>
      <vt:lpstr>Noto Sans SC</vt:lpstr>
      <vt:lpstr>Noto Sans SC Light</vt:lpstr>
      <vt:lpstr>微软雅黑</vt:lpstr>
      <vt:lpstr>等线</vt:lpstr>
      <vt:lpstr>汉仪书宋二KW</vt:lpstr>
      <vt:lpstr>苹方-简</vt:lpstr>
      <vt:lpstr>Office 主题​​</vt:lpstr>
      <vt:lpstr>默认主题</vt:lpstr>
      <vt:lpstr>1_Office 主题​​</vt:lpstr>
      <vt:lpstr>xx进度报告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Zengqingquan (Levie)</dc:creator>
  <cp:lastModifiedBy>4pb</cp:lastModifiedBy>
  <cp:revision>170</cp:revision>
  <dcterms:created xsi:type="dcterms:W3CDTF">2026-06-11T17:26:19Z</dcterms:created>
  <dcterms:modified xsi:type="dcterms:W3CDTF">2026-06-11T17:26:19Z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>{"Label":"1","ContentProducer":"001191110102MACQD9K64010000","ProduceID":"7648955276263459768","ReservedCode1":"","ContentPropagator":"","PropagateID":"","ReservedCode2":""}</vt:lpwstr>
  </property>
  <property fmtid="{D5CDD505-2E9C-101B-9397-08002B2CF9AE}" pid="3" name="KSOProductBuildVer">
    <vt:lpwstr>2052-12.1.26016.26016</vt:lpwstr>
  </property>
  <property fmtid="{D5CDD505-2E9C-101B-9397-08002B2CF9AE}" pid="4" name="ICV">
    <vt:lpwstr>B165E6AAC88E2D8B1FEE2A6A9196E763_42</vt:lpwstr>
  </property>
</Properties>
</file>