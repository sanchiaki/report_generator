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decorative_bar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.cover_title"/>
          <p:cNvSpPr txBox="1"/>
          <p:nvPr/>
        </p:nvSpPr>
        <p:spPr>
          <a:xfrm>
            <a:off x="713232" y="2148840"/>
            <a:ext cx="7772400" cy="6858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xxx项目进展报告</a:t>
            </a:r>
          </a:p>
        </p:txBody>
      </p:sp>
      <p:sp>
        <p:nvSpPr>
          <p:cNvPr id="6" name="text.cover_period"/>
          <p:cNvSpPr txBox="1"/>
          <p:nvPr/>
        </p:nvSpPr>
        <p:spPr>
          <a:xfrm>
            <a:off x="749808" y="3063240"/>
            <a:ext cx="5669280" cy="34747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600" b="0">
                <a:solidFill>
                  <a:srgbClr val="DCEBFF"/>
                </a:solidFill>
                <a:latin typeface="Arial"/>
              </a:rPr>
              <a:t>报告周期：2025-12-14至2025-12-25</a:t>
            </a:r>
          </a:p>
        </p:txBody>
      </p:sp>
      <p:sp>
        <p:nvSpPr>
          <p:cNvPr id="7" name="text.cover_report_date"/>
          <p:cNvSpPr txBox="1"/>
          <p:nvPr/>
        </p:nvSpPr>
        <p:spPr>
          <a:xfrm>
            <a:off x="749808" y="3566160"/>
            <a:ext cx="3657600" cy="329184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300" b="0">
                <a:solidFill>
                  <a:srgbClr val="BBD7FF"/>
                </a:solidFill>
                <a:latin typeface="Arial"/>
              </a:rPr>
              <a:t>报告日期：2025-12-25</a:t>
            </a:r>
          </a:p>
        </p:txBody>
      </p:sp>
      <p:sp>
        <p:nvSpPr>
          <p:cNvPr id="8" name="static.cover_label"/>
          <p:cNvSpPr txBox="1"/>
          <p:nvPr/>
        </p:nvSpPr>
        <p:spPr>
          <a:xfrm>
            <a:off x="8686800" y="658368"/>
            <a:ext cx="2286000" cy="292608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  <a:latin typeface="Arial"/>
              </a:rPr>
              <a:t>PROJECT PROGRESS</a:t>
            </a:r>
          </a:p>
        </p:txBody>
      </p:sp>
      <p:sp>
        <p:nvSpPr>
          <p:cNvPr id="9" name="static.circle"/>
          <p:cNvSpPr/>
          <p:nvPr/>
        </p:nvSpPr>
        <p:spPr>
          <a:xfrm>
            <a:off x="9235440" y="2057400"/>
            <a:ext cx="1051560" cy="1051560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ic.circle"/>
          <p:cNvSpPr/>
          <p:nvPr/>
        </p:nvSpPr>
        <p:spPr>
          <a:xfrm>
            <a:off x="10058400" y="2606040"/>
            <a:ext cx="1691640" cy="16916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ic.circle"/>
          <p:cNvSpPr/>
          <p:nvPr/>
        </p:nvSpPr>
        <p:spPr>
          <a:xfrm>
            <a:off x="8458200" y="3291840"/>
            <a:ext cx="685800" cy="68580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项目信息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项目信息</a:t>
            </a:r>
          </a:p>
        </p:txBody>
      </p:sp>
      <p:sp>
        <p:nvSpPr>
          <p:cNvPr id="5" name="static.subtitle.项目信息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基础项目信息由 JSON 写入，模板字段和样式保持固定。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.project_info"/>
          <p:cNvGraphicFramePr>
            <a:graphicFrameLocks noGrp="1"/>
          </p:cNvGraphicFramePr>
          <p:nvPr/>
        </p:nvGraphicFramePr>
        <p:xfrm>
          <a:off x="749808" y="1389888"/>
          <a:ext cx="106984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字段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内容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项目名称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xxx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项目编号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PRJ-2025-1225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客户名称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示例客户集团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项目经理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张明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计划开始时间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2025-12-14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计划结束时间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2025-12-25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报告日期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2025-12-25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项目仪表盘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项目仪表盘</a:t>
            </a:r>
          </a:p>
        </p:txBody>
      </p:sp>
      <p:sp>
        <p:nvSpPr>
          <p:cNvPr id="5" name="static.subtitle.项目仪表盘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关键状态汇总。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.project_dashboard"/>
          <p:cNvGraphicFramePr>
            <a:graphicFrameLocks noGrp="1"/>
          </p:cNvGraphicFramePr>
          <p:nvPr/>
        </p:nvGraphicFramePr>
        <p:xfrm>
          <a:off x="749808" y="1389888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指标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项目状态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正常推进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项目进度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进度状态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轻微提前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技术状态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方案稳定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资源状态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资源充足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经营状态</a:t>
                      </a:r>
                    </a:p>
                  </a:txBody>
                  <a:tcPr marL="73152" marR="73152" marT="36576" marB="36576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成本可控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项目整体进展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项目整体进展</a:t>
            </a:r>
          </a:p>
        </p:txBody>
      </p:sp>
      <p:sp>
        <p:nvSpPr>
          <p:cNvPr id="5" name="static.subtitle.项目整体进展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本页保留模板中的摘要文本样式和进展表样式。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.overall_progress_summary"/>
          <p:cNvSpPr txBox="1"/>
          <p:nvPr/>
        </p:nvSpPr>
        <p:spPr>
          <a:xfrm>
            <a:off x="749808" y="1325880"/>
            <a:ext cx="10698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none" anchor="ctr" lIns="137160" rIns="13716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本周期完成核心功能联调、客户验收环境部署和关键问题闭环。整体进度符合计划，后续重点是完成用户验收测试和上线准备。</a:t>
            </a:r>
          </a:p>
        </p:txBody>
      </p:sp>
      <p:graphicFrame>
        <p:nvGraphicFramePr>
          <p:cNvPr id="10" name="table.overall_progress"/>
          <p:cNvGraphicFramePr>
            <a:graphicFrameLocks noGrp="1"/>
          </p:cNvGraphicFramePr>
          <p:nvPr/>
        </p:nvGraphicFramePr>
        <p:xfrm>
          <a:off x="749808" y="2240280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115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进展项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完成情况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说明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需求确认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全部完成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客户已确认本期范围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系统联调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完成 90%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进行中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剩余报表导出兼容性验证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验收准备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完成 70%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进行中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测试记录和验收材料整理中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项目交付计划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项目交付计划</a:t>
            </a:r>
          </a:p>
        </p:txBody>
      </p:sp>
      <p:sp>
        <p:nvSpPr>
          <p:cNvPr id="5" name="static.subtitle.项目交付计划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交付计划表预留 6 条计划行。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.delivery_plan"/>
          <p:cNvGraphicFramePr>
            <a:graphicFrameLocks noGrp="1"/>
          </p:cNvGraphicFramePr>
          <p:nvPr/>
        </p:nvGraphicFramePr>
        <p:xfrm>
          <a:off x="566928" y="1325880"/>
          <a:ext cx="11064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阶段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计划开始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计划结束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交付物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启动与计划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2025-12-14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2025-12-15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项目计划与排期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开发联调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2025-12-16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2025-12-20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联调环境与接口清单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验收测试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2025-12-21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2025-12-24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测试报告与问题清单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进行中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上线准备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2025-12-24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2025-12-25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上线方案与回退预案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未开始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任务详情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任务详情</a:t>
            </a:r>
          </a:p>
        </p:txBody>
      </p:sp>
      <p:sp>
        <p:nvSpPr>
          <p:cNvPr id="5" name="static.subtitle.任务详情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阶段任务责任关系。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.task_details"/>
          <p:cNvGraphicFramePr>
            <a:graphicFrameLocks noGrp="1"/>
          </p:cNvGraphicFramePr>
          <p:nvPr/>
        </p:nvGraphicFramePr>
        <p:xfrm>
          <a:off x="566928" y="1234440"/>
          <a:ext cx="1106424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阶段名称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任务名称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任务状态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责任人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启动与计划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确认项目范围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张明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开发联调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接口联调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李强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开发联调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报表导出兼容性验证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进行中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王琳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验收测试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整理验收材料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进行中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赵宁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上线准备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编写上线回退预案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未开始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陈航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TOP 问题及风险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TOP 问题及风险</a:t>
            </a:r>
          </a:p>
        </p:txBody>
      </p:sp>
      <p:sp>
        <p:nvSpPr>
          <p:cNvPr id="5" name="static.subtitle.TOP 问题及风险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高优先级问题与风险跟踪。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.top_issues_risks"/>
          <p:cNvGraphicFramePr>
            <a:graphicFrameLocks noGrp="1"/>
          </p:cNvGraphicFramePr>
          <p:nvPr/>
        </p:nvGraphicFramePr>
        <p:xfrm>
          <a:off x="566928" y="1234440"/>
          <a:ext cx="11064240" cy="4937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123443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类型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等级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责任人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应对措施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12344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问题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报表导出在旧版 Office 中存在样式偏差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王琳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补充兼容性验证并输出修复版本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12344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风险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客户验收人员排期可能延后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张明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提前确认验收窗口并预留远程评审方案</a:t>
                      </a:r>
                    </a:p>
                  </a:txBody>
                  <a:tcPr marL="73152" marR="73152" marT="36576" marB="36576">
                    <a:solidFill>
                      <a:srgbClr val="FFF7ED"/>
                    </a:solidFill>
                  </a:tcPr>
                </a:tc>
              </a:tr>
              <a:tr h="123444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风险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上线窗口较短，回退演练时间不足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陈航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在上线前完成一次桌面演练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tic.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tic.decorative_bar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ic.title.当前进展"/>
          <p:cNvSpPr txBox="1"/>
          <p:nvPr/>
        </p:nvSpPr>
        <p:spPr>
          <a:xfrm>
            <a:off x="566928" y="384048"/>
            <a:ext cx="5303520" cy="43891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当前进展</a:t>
            </a:r>
          </a:p>
        </p:txBody>
      </p:sp>
      <p:sp>
        <p:nvSpPr>
          <p:cNvPr id="5" name="static.subtitle.当前进展"/>
          <p:cNvSpPr txBox="1"/>
          <p:nvPr/>
        </p:nvSpPr>
        <p:spPr>
          <a:xfrm>
            <a:off x="585216" y="877824"/>
            <a:ext cx="7680960" cy="25603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rial"/>
              </a:rPr>
              <a:t>本期完成、下期计划和当前阻塞。</a:t>
            </a:r>
          </a:p>
        </p:txBody>
      </p:sp>
      <p:sp>
        <p:nvSpPr>
          <p:cNvPr id="6" name="static.footer"/>
          <p:cNvSpPr txBox="1"/>
          <p:nvPr/>
        </p:nvSpPr>
        <p:spPr>
          <a:xfrm>
            <a:off x="585216" y="6473952"/>
            <a:ext cx="2468880" cy="164592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Project Progress Report</a:t>
            </a:r>
          </a:p>
        </p:txBody>
      </p:sp>
      <p:sp>
        <p:nvSpPr>
          <p:cNvPr id="7" name="static.decorative_bar"/>
          <p:cNvSpPr/>
          <p:nvPr/>
        </p:nvSpPr>
        <p:spPr>
          <a:xfrm>
            <a:off x="9784080" y="6547104"/>
            <a:ext cx="1737360" cy="3657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.current_progress_summary"/>
          <p:cNvSpPr txBox="1"/>
          <p:nvPr/>
        </p:nvSpPr>
        <p:spPr>
          <a:xfrm>
            <a:off x="749808" y="1234440"/>
            <a:ext cx="10698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none" anchor="ctr" lIns="137160" rIns="137160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rial"/>
              </a:rPr>
              <a:t>截至 2025-12-25，项目已完成计划内主要开发和联调工作，验收测试进入收尾阶段。当前没有阻断性问题，需重点跟踪 Office 兼容性和客户验收排期。</a:t>
            </a:r>
          </a:p>
        </p:txBody>
      </p:sp>
      <p:graphicFrame>
        <p:nvGraphicFramePr>
          <p:cNvPr id="10" name="table.current_progress"/>
          <p:cNvGraphicFramePr>
            <a:graphicFrameLocks noGrp="1"/>
          </p:cNvGraphicFramePr>
          <p:nvPr/>
        </p:nvGraphicFramePr>
        <p:xfrm>
          <a:off x="749808" y="2240280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类别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事项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状态</a:t>
                      </a:r>
                    </a:p>
                  </a:txBody>
                  <a:tcPr marL="73152" marR="73152" marT="36576" marB="36576">
                    <a:solidFill>
                      <a:srgbClr val="2563E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本期完成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完成核心接口联调和验收环境部署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本期完成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完成主要测试用例执行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完成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下期计划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完成上线方案、回退预案和客户验收签字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计划中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当前阻塞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无阻断项，需跟踪兼容性问题闭环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关注</a:t>
                      </a:r>
                    </a:p>
                  </a:txBody>
                  <a:tcPr marL="73152" marR="73152" marT="36576" marB="36576"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